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1695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 <Relationship Id="rId17" Type="http://schemas.openxmlformats.org/officeDocument/2006/relationships/slide" Target="slides/slide16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2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Shape 4"/>
          <p:cNvSpPr/>
          <p:nvPr/>
        </p:nvSpPr>
        <p:spPr>
          <a:xfrm>
            <a:off x="658368" y="713232"/>
            <a:ext cx="914400" cy="82296"/>
          </a:xfrm>
          <a:prstGeom prst="rect">
            <a:avLst/>
          </a:prstGeom>
          <a:solidFill>
            <a:srgbClr val="38BDF8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58368" y="960120"/>
            <a:ext cx="10241280" cy="6858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3400" b="1">
                <a:solidFill>
                  <a:srgbClr val="FFFFFF"/>
                </a:solidFill>
                <a:latin typeface="Aptos"/>
              </a:rPr>
              <a:t>Sistema AMR-FOD-Kitting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58368" y="1700784"/>
            <a:ext cx="9875520" cy="6858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500" b="1">
                <a:solidFill>
                  <a:srgbClr val="DCEBFF"/>
                </a:solidFill>
                <a:latin typeface="Aptos"/>
              </a:rPr>
              <a:t>Oferta de automatizacion para la linea HTP A320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852928"/>
            <a:ext cx="9326880" cy="7315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900">
                <a:solidFill>
                  <a:srgbClr val="FFFFFF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85800" y="3858768"/>
            <a:ext cx="9692640" cy="9601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500">
                <a:solidFill>
                  <a:srgbClr val="DCEBFF"/>
                </a:solidFill>
                <a:latin typeface="Aptos"/>
              </a:rPr>
              <a:t>Universidad Internacional de Valencia</a:t>
            </a:r>
          </a:p>
          <a:p>
            <a:pPr algn="l"/>
            <a:r>
              <a:rPr lang="es-ES" sz="1500">
                <a:solidFill>
                  <a:srgbClr val="DCEBFF"/>
                </a:solidFill>
                <a:latin typeface="Aptos"/>
              </a:rPr>
              <a:t>Profesor: Jose I. Iñiguez</a:t>
            </a:r>
          </a:p>
          <a:p>
            <a:pPr algn="l"/>
            <a:r>
              <a:rPr lang="es-ES" sz="1500">
                <a:solidFill>
                  <a:srgbClr val="DCEBFF"/>
                </a:solidFill>
                <a:latin typeface="Aptos"/>
              </a:rPr>
              <a:t>Autor: Jorge Luis Mayorga Taborda</a:t>
            </a:r>
          </a:p>
          <a:p>
            <a:pPr algn="l"/>
            <a:r>
              <a:rPr lang="es-ES" sz="1500">
                <a:solidFill>
                  <a:srgbClr val="DCEBFF"/>
                </a:solidFill>
                <a:latin typeface="Aptos"/>
              </a:rPr>
              <a:t>Entrega: 26 de mayo de 2026</a:t>
            </a:r>
          </a:p>
        </p:txBody>
      </p:sp>
      <p:sp>
        <p:nvSpPr>
          <p:cNvPr id="9" name="Shape 9"/>
          <p:cNvSpPr/>
          <p:nvPr/>
        </p:nvSpPr>
        <p:spPr>
          <a:xfrm>
            <a:off x="8823960" y="5166360"/>
            <a:ext cx="2286000" cy="694944"/>
          </a:xfrm>
          <a:prstGeom prst="round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10" name="Text 10"/>
          <p:cNvSpPr txBox="1"/>
          <p:nvPr/>
        </p:nvSpPr>
        <p:spPr>
          <a:xfrm>
            <a:off x="8942832" y="5330952"/>
            <a:ext cx="2048256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800" b="1">
                <a:solidFill>
                  <a:srgbClr val="FFFFFF"/>
                </a:solidFill>
                <a:latin typeface="Aptos"/>
              </a:rPr>
              <a:t>Lunabotics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Objetivo de la propuesta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Convertir el problema logistico de planta en una solucion AMR defendible tecnica y comercialmente.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Reducir desplazamientos improductivos de operarios y esperas por kits.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Aumentar trazabilidad de herramientas, consumibles y entregas.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Disminuir riesgo FOD mediante inspeccion preventiva y registro.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Validar el despliegue con simulacion en CoppeliaSim y piloto medible.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Presentacion de Lunabotics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Empresa ficticia que formula una oferta tecnica y comercial para Alestis Puerto Real.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Especializacion: robotica movil, integracion industrial y automatizacion intralogistica.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Alcance: diseno teorico, arquitectura, presupuesto, riesgos y plan de implantacion.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Criterio: no automatizar la fabricacion del HTP, sino los flujos auxiliares que la condicionan.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Entrega orientada a escalado progresivo y supervision humana.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Contexto industrial</a:t>
            </a:r>
          </a:p>
        </p:txBody>
      </p:sp>
      <p:sp>
        <p:nvSpPr>
          <p:cNvPr id="5" name="Shape 5"/>
          <p:cNvSpPr/>
          <p:nvPr/>
        </p:nvSpPr>
        <p:spPr>
          <a:xfrm>
            <a:off x="566928" y="1234440"/>
            <a:ext cx="5440680" cy="44805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6" name="Shape 6"/>
          <p:cNvSpPr/>
          <p:nvPr/>
        </p:nvSpPr>
        <p:spPr>
          <a:xfrm>
            <a:off x="6199632" y="1234440"/>
            <a:ext cx="5440680" cy="44805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868680" y="1517904"/>
            <a:ext cx="480060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600" b="1">
                <a:solidFill>
                  <a:srgbClr val="1F7A8C"/>
                </a:solidFill>
                <a:latin typeface="Aptos"/>
              </a:rPr>
              <a:t>HTP y seccion 19.1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10528" y="1517904"/>
            <a:ext cx="480060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600" b="1">
                <a:solidFill>
                  <a:srgbClr val="1F7A8C"/>
                </a:solidFill>
                <a:latin typeface="Aptos"/>
              </a:rPr>
              <a:t>Reto de planta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" y="1938528"/>
            <a:ext cx="4800600" cy="33832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HTP: estabilizador horizontal del A320.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Estructuras grandes, utiles especificos y control de configuracion.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Seccion 19.1: entorno de integracion y montaje con alta dependencia logistica.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537960" y="1938528"/>
            <a:ext cx="4800600" cy="33832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Produccion actual aproximada: 40 HTP/mes.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Objetivo futuro: 80 HTP/mes o mas.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La robotica movil debe apoyar el escalado sin prometer duplicacion automatica.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Informacion obtenida de la entrevista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Entrevista simulada a Carlos Perez, trabajador con mas de 10 anos de experiencia en Alestis Puerto Real.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Los operarios pierden tiempo buscando kits, consumibles y herramientas compartidas.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La trazabilidad fina no siempre queda ligada al momento exacto de entrega.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La gestion FOD exige disciplina, inspeccion y evidencia documentada.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La automatizacion aceptable debe convivir con operarios y estructuras aeronauticas.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4A261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Problemas detectados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Problemas elegidos por impacto operacional y relacion directa con robotica movil.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Desplazamientos internos repetitivos y de bajo valor anadido.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Esperas por falta de sincronizacion entre logistica y estacion de trabajo.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Riesgo FOD por restos, utiles olvidados o control visual insuficiente.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Trazabilidad incompleta de kits, herramientas retornadas y eventos de entrega.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Necesidad de escalar capacidad sin saturar pasillos ni equipos de soporte.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Requisitos, trazabilidad y KPIs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Cada requisito se vincula con una funcion verificable y una metrica de aceptacion.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Navegacion autonoma interior con zonas restringidas y parada segura.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Maniobrabilidad omnidireccional en estaciones con espacio limitado.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RFID/QR para confirmar kit, herramienta, estacion, hora y responsable.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KPIs: tiempo improductivo, entregas a tiempo, eventos FOD y disponibilidad AMR.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Escalabilidad de 1 a 7 y 17 robots sin redisenar la arquitectura.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Alternativas roboticas</a:t>
            </a:r>
          </a:p>
        </p:txBody>
      </p:sp>
      <p:sp>
        <p:nvSpPr>
          <p:cNvPr id="5" name="Shape 5"/>
          <p:cNvSpPr/>
          <p:nvPr/>
        </p:nvSpPr>
        <p:spPr>
          <a:xfrm>
            <a:off x="566928" y="1234440"/>
            <a:ext cx="5440680" cy="44805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6" name="Shape 6"/>
          <p:cNvSpPr/>
          <p:nvPr/>
        </p:nvSpPr>
        <p:spPr>
          <a:xfrm>
            <a:off x="6199632" y="1234440"/>
            <a:ext cx="5440680" cy="44805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868680" y="1517904"/>
            <a:ext cx="480060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600" b="1">
                <a:solidFill>
                  <a:srgbClr val="1F7A8C"/>
                </a:solidFill>
                <a:latin typeface="Aptos"/>
              </a:rPr>
              <a:t>Opciones descartadas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10528" y="1517904"/>
            <a:ext cx="480060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600" b="1">
                <a:solidFill>
                  <a:srgbClr val="1F7A8C"/>
                </a:solidFill>
                <a:latin typeface="Aptos"/>
              </a:rPr>
              <a:t>Opcion seleccionada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" y="1938528"/>
            <a:ext cx="4800600" cy="33832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AGV: robusto pero dependiente de rutas fijas.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Orugas: innecesarias en nave interior pavimentada.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Dron: riesgo operativo y baja utilidad con carga.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Robot con patas: coste y complejidad no justificados.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537960" y="1938528"/>
            <a:ext cx="4800600" cy="33832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AMR omnidireccional equivalente a KUKA YouBot/Omnirob en CoppeliaSim.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Movimiento lateral sin reorientar la carga.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Mayor adaptacion a cambios de estacion que un AGV.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Robot seleccionado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Plataforma AMR omnidireccional disponible o representable en CoppeliaSim.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Base mecanum/omnidireccional para maniobras precisas junto a utiles y estaciones.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Carga util moderada para kits, consumibles y herramientas, no fabricacion directa.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Integracion de bandejas, cajon seguro, lector RFID/QR y HMI.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Operacion supervisada, con escalado multi-robot cuando el piloto lo justifique.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Sensores y arquitectura</a:t>
            </a:r>
          </a:p>
        </p:txBody>
      </p:sp>
      <p:sp>
        <p:nvSpPr>
          <p:cNvPr id="5" name="Shape 5"/>
          <p:cNvSpPr/>
          <p:nvPr/>
        </p:nvSpPr>
        <p:spPr>
          <a:xfrm>
            <a:off x="594360" y="1417320"/>
            <a:ext cx="2057400" cy="28803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6" name="Text 6"/>
          <p:cNvSpPr txBox="1"/>
          <p:nvPr/>
        </p:nvSpPr>
        <p:spPr>
          <a:xfrm>
            <a:off x="749808" y="1682496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400" b="1">
                <a:solidFill>
                  <a:srgbClr val="1F7A8C"/>
                </a:solidFill>
                <a:latin typeface="Aptos"/>
              </a:rPr>
              <a:t>Percepcion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77240" y="2176272"/>
            <a:ext cx="1691640" cy="12344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LiDAR 2D/3D, RGB-D, QR/RFID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2697479" y="260604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800" b="1">
                <a:solidFill>
                  <a:srgbClr val="1F7A8C"/>
                </a:solidFill>
                <a:latin typeface="Aptos"/>
              </a:rPr>
              <a:t>-&gt;</a:t>
            </a:r>
          </a:p>
        </p:txBody>
      </p:sp>
      <p:sp>
        <p:nvSpPr>
          <p:cNvPr id="9" name="Shape 9"/>
          <p:cNvSpPr/>
          <p:nvPr/>
        </p:nvSpPr>
        <p:spPr>
          <a:xfrm>
            <a:off x="2834640" y="1417320"/>
            <a:ext cx="2057400" cy="2880360"/>
          </a:xfrm>
          <a:prstGeom prst="roundRect">
            <a:avLst/>
          </a:prstGeom>
          <a:solidFill>
            <a:srgbClr val="EAF7F8"/>
          </a:solidFill>
          <a:ln w="9525">
            <a:solidFill>
              <a:srgbClr val="CBD5E1"/>
            </a:solidFill>
          </a:ln>
        </p:spPr>
      </p:sp>
      <p:sp>
        <p:nvSpPr>
          <p:cNvPr id="10" name="Text 10"/>
          <p:cNvSpPr txBox="1"/>
          <p:nvPr/>
        </p:nvSpPr>
        <p:spPr>
          <a:xfrm>
            <a:off x="2990088" y="1682496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400" b="1">
                <a:solidFill>
                  <a:srgbClr val="1F7A8C"/>
                </a:solidFill>
                <a:latin typeface="Aptos"/>
              </a:rPr>
              <a:t>Localizacion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3017520" y="2176272"/>
            <a:ext cx="1691640" cy="12344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SLAM, odometria, IMU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4937760" y="260604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800" b="1">
                <a:solidFill>
                  <a:srgbClr val="1F7A8C"/>
                </a:solidFill>
                <a:latin typeface="Aptos"/>
              </a:rPr>
              <a:t>-&gt;</a:t>
            </a:r>
          </a:p>
        </p:txBody>
      </p:sp>
      <p:sp>
        <p:nvSpPr>
          <p:cNvPr id="13" name="Shape 13"/>
          <p:cNvSpPr/>
          <p:nvPr/>
        </p:nvSpPr>
        <p:spPr>
          <a:xfrm>
            <a:off x="5074920" y="1417320"/>
            <a:ext cx="2057400" cy="28803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14" name="Text 14"/>
          <p:cNvSpPr txBox="1"/>
          <p:nvPr/>
        </p:nvSpPr>
        <p:spPr>
          <a:xfrm>
            <a:off x="5230368" y="1682496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400" b="1">
                <a:solidFill>
                  <a:srgbClr val="1F7A8C"/>
                </a:solidFill>
                <a:latin typeface="Aptos"/>
              </a:rPr>
              <a:t>Misiones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5257800" y="2176272"/>
            <a:ext cx="1691640" cy="12344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colas, prioridades, trazabilidad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7178040" y="260604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800" b="1">
                <a:solidFill>
                  <a:srgbClr val="1F7A8C"/>
                </a:solidFill>
                <a:latin typeface="Aptos"/>
              </a:rPr>
              <a:t>-&gt;</a:t>
            </a:r>
          </a:p>
        </p:txBody>
      </p:sp>
      <p:sp>
        <p:nvSpPr>
          <p:cNvPr id="17" name="Shape 17"/>
          <p:cNvSpPr/>
          <p:nvPr/>
        </p:nvSpPr>
        <p:spPr>
          <a:xfrm>
            <a:off x="7315200" y="1417320"/>
            <a:ext cx="2057400" cy="2880360"/>
          </a:xfrm>
          <a:prstGeom prst="roundRect">
            <a:avLst/>
          </a:prstGeom>
          <a:solidFill>
            <a:srgbClr val="EAF7F8"/>
          </a:solidFill>
          <a:ln w="9525">
            <a:solidFill>
              <a:srgbClr val="CBD5E1"/>
            </a:solidFill>
          </a:ln>
        </p:spPr>
      </p:sp>
      <p:sp>
        <p:nvSpPr>
          <p:cNvPr id="18" name="Text 18"/>
          <p:cNvSpPr txBox="1"/>
          <p:nvPr/>
        </p:nvSpPr>
        <p:spPr>
          <a:xfrm>
            <a:off x="7470648" y="1682496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400" b="1">
                <a:solidFill>
                  <a:srgbClr val="1F7A8C"/>
                </a:solidFill>
                <a:latin typeface="Aptos"/>
              </a:rPr>
              <a:t>Control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7498079" y="2176272"/>
            <a:ext cx="1691640" cy="12344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base omnidireccional, seguridad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9418320" y="260604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800" b="1">
                <a:solidFill>
                  <a:srgbClr val="1F7A8C"/>
                </a:solidFill>
                <a:latin typeface="Aptos"/>
              </a:rPr>
              <a:t>-&gt;</a:t>
            </a:r>
          </a:p>
        </p:txBody>
      </p:sp>
      <p:sp>
        <p:nvSpPr>
          <p:cNvPr id="21" name="Shape 21"/>
          <p:cNvSpPr/>
          <p:nvPr/>
        </p:nvSpPr>
        <p:spPr>
          <a:xfrm>
            <a:off x="9555480" y="1417320"/>
            <a:ext cx="2057400" cy="28803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22" name="Text 22"/>
          <p:cNvSpPr txBox="1"/>
          <p:nvPr/>
        </p:nvSpPr>
        <p:spPr>
          <a:xfrm>
            <a:off x="9710928" y="1682496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400" b="1">
                <a:solidFill>
                  <a:srgbClr val="1F7A8C"/>
                </a:solidFill>
                <a:latin typeface="Aptos"/>
              </a:rPr>
              <a:t>Planta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9738359" y="2176272"/>
            <a:ext cx="1691640" cy="12344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MES/ERP, HMI, base de datos</a:t>
            </a:r>
          </a:p>
        </p:txBody>
      </p:sp>
      <p:sp>
        <p:nvSpPr>
          <p:cNvPr id="24" name="Shape 24"/>
          <p:cNvSpPr/>
          <p:nvPr/>
        </p:nvSpPr>
        <p:spPr>
          <a:xfrm>
            <a:off x="1005840" y="4828032"/>
            <a:ext cx="10149840" cy="71323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</p:sp>
      <p:sp>
        <p:nvSpPr>
          <p:cNvPr id="25" name="Text 25"/>
          <p:cNvSpPr txBox="1"/>
          <p:nvPr/>
        </p:nvSpPr>
        <p:spPr>
          <a:xfrm>
            <a:off x="1188720" y="5010912"/>
            <a:ext cx="973836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300">
                <a:solidFill>
                  <a:srgbClr val="475569"/>
                </a:solidFill>
                <a:latin typeface="Aptos"/>
              </a:rPr>
              <a:t>La arquitectura separa navegacion segura, supervision de misiones y registro verificable de entregas/FOD.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Flujo operativo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Secuencia diaria propuesta para misiones de kitting, entrega, inspeccion y retorno.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Planificacion de mision desde supervisor/MES.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Carga de kit o herramienta y lectura RFID/QR.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Navegacion autonoma hasta estacion asignada.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Entrega con confirmacion digital y registro de evento.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Inspeccion FOD si aplica y retorno de utiles usados o nueva mision.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Validacion en CoppeliaSim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La simulacion reduce riesgo antes de entrar en una planta aeronautica real.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Modelo de pasillos, estaciones HTP, zonas de espera y muelles de carga.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Escenarios: entrega nominal, obstaculo temporal, cruce con operario y zona restringida.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Metricas: exito de mision, distancia recorrida, esperas, paradas de seguridad y congestion.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Criterio de paso: piloto solo si el comportamiento simulado es estable y auditable.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Escenarios de despliegue</a:t>
            </a:r>
          </a:p>
        </p:txBody>
      </p:sp>
      <p:sp>
        <p:nvSpPr>
          <p:cNvPr id="5" name="Shape 5"/>
          <p:cNvSpPr/>
          <p:nvPr/>
        </p:nvSpPr>
        <p:spPr>
          <a:xfrm>
            <a:off x="566928" y="1234440"/>
            <a:ext cx="5440680" cy="44805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6" name="Shape 6"/>
          <p:cNvSpPr/>
          <p:nvPr/>
        </p:nvSpPr>
        <p:spPr>
          <a:xfrm>
            <a:off x="6199632" y="1234440"/>
            <a:ext cx="5440680" cy="44805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868680" y="1517904"/>
            <a:ext cx="480060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600" b="1">
                <a:solidFill>
                  <a:srgbClr val="1F7A8C"/>
                </a:solidFill>
                <a:latin typeface="Aptos"/>
              </a:rPr>
              <a:t>Piloto: 1 robot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10528" y="1517904"/>
            <a:ext cx="480060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600" b="1">
                <a:solidFill>
                  <a:srgbClr val="1F7A8C"/>
                </a:solidFill>
                <a:latin typeface="Aptos"/>
              </a:rPr>
              <a:t>Expansion: 7 y 17 robots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" y="1938528"/>
            <a:ext cx="4800600" cy="33832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Validar rutas, aceptacion operativa y registro de trazabilidad.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Coste CAPEX estimado: 206.304 EUR.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Exito: misiones sin incidentes y reduccion medible de esperas.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537960" y="1938528"/>
            <a:ext cx="4800600" cy="33832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7 robots: cobertura de varias estaciones y turnos.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17 robots: despliegue extendido con gestion de flota.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Escalado condicionado a KPIs, seguridad y disponibilidad.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Viabilidad y beneficios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Solucion realista: aporta capacidad indirecta, no promete duplicar produccion por si sola.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Beneficios: menos esperas, menos desplazamientos y mejor trazabilidad.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Seguridad: LiDAR, escaner laser, bumpers, emergencia y supervision.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Riesgos mitigados: saturacion de pasillos, rechazo operativo, falsas detecciones FOD e integracion MES.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Alineacion con el objetivo de pasar de 40 a 80 HTP/mes mediante soporte logistico robusto.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4A261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Presupuesto detallado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32688"/>
            <a:ext cx="1060704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Estimacion academica, no cotizacion real. Importes sin IVA.</a:t>
            </a:r>
          </a:p>
        </p:txBody>
      </p:sp>
      <p:sp>
        <p:nvSpPr>
          <p:cNvPr id="6" name="Shape 6"/>
          <p:cNvSpPr/>
          <p:nvPr/>
        </p:nvSpPr>
        <p:spPr>
          <a:xfrm>
            <a:off x="685800" y="1572768"/>
            <a:ext cx="11064240" cy="475488"/>
          </a:xfrm>
          <a:prstGeom prst="rect">
            <a:avLst/>
          </a:prstGeom>
          <a:solidFill>
            <a:srgbClr val="0F2742"/>
          </a:solidFill>
          <a:ln>
            <a:noFill/>
          </a:ln>
        </p:spPr>
      </p:sp>
      <p:sp>
        <p:nvSpPr>
          <p:cNvPr id="7" name="Text 7"/>
          <p:cNvSpPr txBox="1"/>
          <p:nvPr/>
        </p:nvSpPr>
        <p:spPr>
          <a:xfrm>
            <a:off x="758952" y="1691640"/>
            <a:ext cx="186537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 b="1">
                <a:solidFill>
                  <a:srgbClr val="FFFFFF"/>
                </a:solidFill>
                <a:latin typeface="Aptos"/>
              </a:rPr>
              <a:t>Escenario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2770632" y="1691640"/>
            <a:ext cx="2048255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 b="1">
                <a:solidFill>
                  <a:srgbClr val="FFFFFF"/>
                </a:solidFill>
                <a:latin typeface="Aptos"/>
              </a:rPr>
              <a:t>CAPEX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4965192" y="1691640"/>
            <a:ext cx="2139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 b="1">
                <a:solidFill>
                  <a:srgbClr val="FFFFFF"/>
                </a:solidFill>
                <a:latin typeface="Aptos"/>
              </a:rPr>
              <a:t>TCO 3 anos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251192" y="1691640"/>
            <a:ext cx="4425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 b="1">
                <a:solidFill>
                  <a:srgbClr val="FFFFFF"/>
                </a:solidFill>
                <a:latin typeface="Aptos"/>
              </a:rPr>
              <a:t>Uso previsto</a:t>
            </a:r>
          </a:p>
        </p:txBody>
      </p:sp>
      <p:sp>
        <p:nvSpPr>
          <p:cNvPr id="11" name="Shape 11"/>
          <p:cNvSpPr/>
          <p:nvPr/>
        </p:nvSpPr>
        <p:spPr>
          <a:xfrm>
            <a:off x="685800" y="2103120"/>
            <a:ext cx="110642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</p:sp>
      <p:sp>
        <p:nvSpPr>
          <p:cNvPr id="12" name="Text 12"/>
          <p:cNvSpPr txBox="1"/>
          <p:nvPr/>
        </p:nvSpPr>
        <p:spPr>
          <a:xfrm>
            <a:off x="758952" y="2231136"/>
            <a:ext cx="186537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1 robot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2770632" y="2231136"/>
            <a:ext cx="2048255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206.304 EUR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4965192" y="2231136"/>
            <a:ext cx="2139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237.704 EUR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7251192" y="2231136"/>
            <a:ext cx="4425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piloto controlado</a:t>
            </a:r>
          </a:p>
        </p:txBody>
      </p:sp>
      <p:sp>
        <p:nvSpPr>
          <p:cNvPr id="16" name="Shape 16"/>
          <p:cNvSpPr/>
          <p:nvPr/>
        </p:nvSpPr>
        <p:spPr>
          <a:xfrm>
            <a:off x="685800" y="2706624"/>
            <a:ext cx="11064240" cy="530352"/>
          </a:xfrm>
          <a:prstGeom prst="rect">
            <a:avLst/>
          </a:prstGeom>
          <a:solidFill>
            <a:srgbClr val="EAF7F8"/>
          </a:solidFill>
          <a:ln w="9525">
            <a:solidFill>
              <a:srgbClr val="CBD5E1"/>
            </a:solidFill>
          </a:ln>
        </p:spPr>
      </p:sp>
      <p:sp>
        <p:nvSpPr>
          <p:cNvPr id="17" name="Text 17"/>
          <p:cNvSpPr txBox="1"/>
          <p:nvPr/>
        </p:nvSpPr>
        <p:spPr>
          <a:xfrm>
            <a:off x="758952" y="2834640"/>
            <a:ext cx="186537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7 robots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2770632" y="2834640"/>
            <a:ext cx="2048255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974.848 EUR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4965192" y="2834640"/>
            <a:ext cx="2139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1.121.648 EUR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7251192" y="2834640"/>
            <a:ext cx="4425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expansion de linea</a:t>
            </a:r>
          </a:p>
        </p:txBody>
      </p:sp>
      <p:sp>
        <p:nvSpPr>
          <p:cNvPr id="21" name="Shape 21"/>
          <p:cNvSpPr/>
          <p:nvPr/>
        </p:nvSpPr>
        <p:spPr>
          <a:xfrm>
            <a:off x="685800" y="3310128"/>
            <a:ext cx="110642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</p:sp>
      <p:sp>
        <p:nvSpPr>
          <p:cNvPr id="22" name="Text 22"/>
          <p:cNvSpPr txBox="1"/>
          <p:nvPr/>
        </p:nvSpPr>
        <p:spPr>
          <a:xfrm>
            <a:off x="758952" y="3438144"/>
            <a:ext cx="186537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17 robots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2770632" y="3438144"/>
            <a:ext cx="2048255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2.253.888 EUR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4965192" y="3438144"/>
            <a:ext cx="2139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2.576.688 EUR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7251192" y="3438144"/>
            <a:ext cx="4425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despliegue extendido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68680" y="4005072"/>
            <a:ext cx="10332720" cy="107899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Partidas incluidas: robots, sensores, utiles de transporte, software, ingenieria, instalacion, formacion, mantenimiento, desplazamientos y margen comercial.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La decision recomendada es un piloto de 1 robot con metricas de exito antes de escalar a 7 y 17 unidades.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Conclusion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La propuesta cumple los tres bloques de la actividad: entrevista, oferta tecnica y oferta comercial.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La solucion AMR-FOD-Kitting ataca problemas reales de intralogistica aeronautica.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La eleccion omnidireccional es coherente con CoppeliaSim, seguridad y maniobrabilidad.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El presupuesto por escenarios permite decidir con piloto, expansion y despliegue extendido.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El resultado es viable, escalable y defendible dentro de Sistemas Roboticos Moviles.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nabotics">
  <a:themeElements>
    <a:clrScheme name="Lunabotics">
      <a:dk1>
        <a:srgbClr val="0F172A"/>
      </a:dk1>
      <a:lt1>
        <a:srgbClr val="FFFFFF"/>
      </a:lt1>
      <a:dk2>
        <a:srgbClr val="0F2742"/>
      </a:dk2>
      <a:lt2>
        <a:srgbClr val="F4F7FA"/>
      </a:lt2>
      <a:accent1>
        <a:srgbClr val="1F7A8C"/>
      </a:accent1>
      <a:accent2>
        <a:srgbClr val="38BDF8"/>
      </a:accent2>
      <a:accent3>
        <a:srgbClr val="2A9D8F"/>
      </a:accent3>
      <a:accent4>
        <a:srgbClr val="F4A261"/>
      </a:accent4>
      <a:accent5>
        <a:srgbClr val="B91C1C"/>
      </a:accent5>
      <a:accent6>
        <a:srgbClr val="475569"/>
      </a:accent6>
      <a:hlink>
        <a:srgbClr val="1F7A8C"/>
      </a:hlink>
      <a:folHlink>
        <a:srgbClr val="0F2742"/>
      </a:folHlink>
    </a:clrScheme>
    <a:fontScheme name="Lunabotics">
      <a:majorFont>
        <a:latin typeface="Aptos Display"/>
      </a:majorFont>
      <a:minorFont>
        <a:latin typeface="Aptos"/>
      </a:minorFont>
    </a:fontScheme>
    <a:fmtScheme name="Lunabotics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16</Slides>
  <Company>Lunabotics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Roboticos Moviles</dc:subject>
  <dc:creator>Jorge Luis Mayorga Taborda</dc:creator>
  <cp:keywords>AMR; FOD; HTP; A320; CoppeliaSim; robotica movil</cp:keywords>
  <dc:description>Presentacion editable de la oferta tecnica y comercial para Alestis Puerto Real.</dc:description>
  <dcterms:created xsi:type="dcterms:W3CDTF">2026-05-18T19:39:51Z</dcterms:created>
  <dcterms:modified xsi:type="dcterms:W3CDTF">2026-05-18T19:39:51Z</dcterms:modified>
</cp:coreProperties>
</file>