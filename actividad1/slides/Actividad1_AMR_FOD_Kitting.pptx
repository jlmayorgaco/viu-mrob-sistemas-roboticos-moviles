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695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58368" y="713232"/>
            <a:ext cx="914400" cy="82296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960120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3400" b="1">
                <a:solidFill>
                  <a:srgbClr val="FFFFFF"/>
                </a:solidFill>
                <a:latin typeface="Aptos"/>
              </a:rPr>
              <a:t>Sistema AMR-FOD-Kitting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700784"/>
            <a:ext cx="987552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500" b="1">
                <a:solidFill>
                  <a:srgbClr val="DCEBFF"/>
                </a:solidFill>
                <a:latin typeface="Aptos"/>
              </a:rPr>
              <a:t>Oferta de automatizacion para la linea HTP A320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52928"/>
            <a:ext cx="932688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900">
                <a:solidFill>
                  <a:srgbClr val="FFFFFF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858768"/>
            <a:ext cx="9692640" cy="9601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Universidad Internacional de Valencia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Profesor: Jose I. Iñiguez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Autor: Jorge Luis Mayorga Taborda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Entrega: 26 de mayo de 2026</a:t>
            </a:r>
          </a:p>
        </p:txBody>
      </p:sp>
      <p:sp>
        <p:nvSpPr>
          <p:cNvPr id="9" name="Shape 9"/>
          <p:cNvSpPr/>
          <p:nvPr/>
        </p:nvSpPr>
        <p:spPr>
          <a:xfrm>
            <a:off x="8823960" y="5166360"/>
            <a:ext cx="2286000" cy="694944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8942832" y="5330952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FFFFFF"/>
                </a:solidFill>
                <a:latin typeface="Aptos"/>
              </a:rPr>
              <a:t>Lunabotics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Objetivo de la propuesta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Convertir el problema logistico de planta en una solucion AMR defendible tecnica y comercialmente.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Reducir desplazamientos improductivos de operarios y esperas por kits.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Aumentar trazabilidad de herramientas, consumibles y entregas.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Disminuir riesgo FOD mediante inspeccion preventiva y registro.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Validar el despliegue con simulacion en CoppeliaSim y piloto medible.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Presentacion de Lunabotics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Empresa ficticia que formula una oferta tecnica y comercial para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Empresa joven de integracion de robotica movil industrial.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Capacidades: CoppeliaSim, AMR, LiDAR/RGB-D/RFID, HMI y datos de planta.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Experiencia de referencia: pilotos intralogisticos y celdas con bases omnidireccionales.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Enfoque comercial: piloto medible, expansion controlada y despliegue con KPIs validados.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Contexto industrial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HTP y seccion 19.1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Reto de planta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HTP: estabilizador horizontal del A320.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Estructuras grandes, utiles especificos y control de configuracion.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Seccion 19.1: entorno de integracion y montaje con alta dependencia logistica.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Produccion actual aproximada: 40 HTP/mes.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Objetivo futuro: 80 HTP/mes o mas.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robotica movil debe apoyar el escalado sin prometer duplicacion automatica.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Informacion obtenida de la entrevista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Entrevista simulada a Carlos Perez, trabajador con mas de 10 anos de experiencia en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Los operarios pierden tiempo buscando kits, consumibles y herramientas compartidas.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trazabilidad fina no siempre queda ligada al momento exacto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gestion FOD exige disciplina, inspeccion y evidencia documentada.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automatizacion aceptable debe convivir con operarios y estructuras aeronauticas.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Problemas detectados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Problemas elegidos por impacto operacional y relacion directa con robotica movil.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Desplazamientos internos repetitivos y de bajo valor anadido.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Esperas por falta de sincronizacion entre logistica y estacion de trabajo.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 FOD por restos, utiles olvidados o control visual insuficiente.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Trazabilidad incompleta de kits, herramientas retornadas y eventos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Necesidad de escalar capacidad sin saturar pasillos ni equipos de soporte.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Requisitos, trazabilidad y KPIs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Cada requisito se vincula con una funcion verificable y una metrica de aceptacion.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interior con zonas restringidas y parada segura.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Maniobrabilidad omnidireccional en estaciones con espacio limitado.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RFID/QR para confirmar kit, herramienta, estacion, hora y responsable.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KPIs: tiempo improductivo, entregas a tiempo, eventos FOD y disponibilidad AMR.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Escalabilidad de 1 a 7 y 17 robots sin redisenar la arquitectura.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Alternativas roboticas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Opciones descartadas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 seleccionada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AGV: robusto pero dependiente de rutas fijas.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Orugas: innecesarias en nave interior pavimentada.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Dron: riesgo operativo y baja utilidad con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Robot con patas: coste y complejidad no justificados.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AMR omnidireccional equivalente a KUKA YouBot/Omnirob en CoppeliaSim.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Ruedas mecanum/suecas para movimiento lateral sin cambiar orientacion.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Movimiento lateral sin reorientar la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Mayor adaptacion a cambios de estacion que un AGV.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Robot seleccionado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Plataforma AMR omnidireccional disponible o representable en CoppeliaSim.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Base mecanum/omnidireccional para maniobras precisas junto a utiles y estaciones.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util moderada para kits, consumibles y herramientas, no fabricacion directa.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Integracion de bandejas, cajon seguro, lector RFID/QR y HMI.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Operacion supervisada, con escalado multi-robot cuando el piloto lo justifique.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Sensores y arquitectura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74980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Percepcion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7724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LiDAR 2D/3D, RGB-D, QR/RFID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697479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9" name="Shape 9"/>
          <p:cNvSpPr/>
          <p:nvPr/>
        </p:nvSpPr>
        <p:spPr>
          <a:xfrm>
            <a:off x="283464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0" name="Text 10"/>
          <p:cNvSpPr txBox="1"/>
          <p:nvPr/>
        </p:nvSpPr>
        <p:spPr>
          <a:xfrm>
            <a:off x="299008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Localizacion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01752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SLAM, odometria, IMU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93776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3" name="Shape 13"/>
          <p:cNvSpPr/>
          <p:nvPr/>
        </p:nvSpPr>
        <p:spPr>
          <a:xfrm>
            <a:off x="507492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523036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Planificacion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525780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A*/Dijkstra, DWA, campos potenciales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17804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7" name="Shape 17"/>
          <p:cNvSpPr/>
          <p:nvPr/>
        </p:nvSpPr>
        <p:spPr>
          <a:xfrm>
            <a:off x="731520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8" name="Text 18"/>
          <p:cNvSpPr txBox="1"/>
          <p:nvPr/>
        </p:nvSpPr>
        <p:spPr>
          <a:xfrm>
            <a:off x="747064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Control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49807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base omnidireccional, seguridad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41832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21" name="Shape 21"/>
          <p:cNvSpPr/>
          <p:nvPr/>
        </p:nvSpPr>
        <p:spPr>
          <a:xfrm>
            <a:off x="955548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971092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Planta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973835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MES/ERP, HMI, base de datos</a:t>
            </a:r>
          </a:p>
        </p:txBody>
      </p:sp>
      <p:sp>
        <p:nvSpPr>
          <p:cNvPr id="24" name="Shape 24"/>
          <p:cNvSpPr/>
          <p:nvPr/>
        </p:nvSpPr>
        <p:spPr>
          <a:xfrm>
            <a:off x="1005840" y="4828032"/>
            <a:ext cx="10149840" cy="71323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5" name="Text 25"/>
          <p:cNvSpPr txBox="1"/>
          <p:nvPr/>
        </p:nvSpPr>
        <p:spPr>
          <a:xfrm>
            <a:off x="1188720" y="5010912"/>
            <a:ext cx="973836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300">
                <a:solidFill>
                  <a:srgbClr val="475569"/>
                </a:solidFill>
                <a:latin typeface="Aptos"/>
              </a:rPr>
              <a:t>La arquitectura separa navegacion segura, supervision de misiones y registro verificable de entregas/FOD.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Flujo operativo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Secuencia diaria propuesta para misiones de kitting, entrega, inspeccion y retorno.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Planificacion de mision desde supervisor/MES.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de kit o herramienta y lectura RFID/QR.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hasta estacion asignada.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Entrega con confirmacion digital y registro de evento.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Inspeccion FOD si aplica y retorno de utiles usados o nueva mision.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Validacion en CoppeliaSim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simulacion reduce riesgo antes de entrar en una planta aeronautica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Modelo de pasillos, estaciones HTP, zonas de espera y muelles de carga.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Escenarios: entrega nominal, obstaculo temporal, cruce con operario y zona restringida.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Metricas: exito de mision, distancia recorrida, esperas, paradas de seguridad y congestion.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Criterio de paso: piloto solo si el comportamiento simulado es estable y auditable.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Escenarios de despliegue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Piloto: 1 robot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Expansion: 7 y 17 robots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Validar rutas, aceptacion operativa y registro de trazabilidad.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Coste CAPEX estimado: 198.688 EUR.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Exito: misiones sin incidentes y reduccion medible de esperas.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7 robots: cobertura de varias estaciones y turnos.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17 robots: despliegue extendido con gestion de flota.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Escalado condicionado a KPIs, seguridad y disponibilidad.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Viabilidad y beneficios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Solucion realista: aporta capacidad indirecta, no promete duplicar produccion por si sola.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Beneficios: menos esperas, menos desplazamientos y mejor trazabilidad.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Seguridad: LiDAR, escaner laser, bumpers, emergencia y supervision.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Riesgos mitigados: saturacion de pasillos, rechazo operativo, falsas detecciones FOD e integracion 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Alineacion con el objetivo de pasar de 40 a 80 HTP/mes mediante soporte logistico robusto.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Presupuesto detallado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32688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Estimacion con referencias comerciales publicas; no cotizacion vinculante. Importes sin IVA.</a:t>
            </a:r>
          </a:p>
        </p:txBody>
      </p:sp>
      <p:sp>
        <p:nvSpPr>
          <p:cNvPr id="6" name="Shape 6"/>
          <p:cNvSpPr/>
          <p:nvPr/>
        </p:nvSpPr>
        <p:spPr>
          <a:xfrm>
            <a:off x="685800" y="1572768"/>
            <a:ext cx="11064240" cy="475488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758952" y="1691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Escenario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770632" y="1691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CAPEX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965192" y="1691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TCO 3 anos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251192" y="1691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Uso previsto</a:t>
            </a:r>
          </a:p>
        </p:txBody>
      </p:sp>
      <p:sp>
        <p:nvSpPr>
          <p:cNvPr id="11" name="Shape 11"/>
          <p:cNvSpPr/>
          <p:nvPr/>
        </p:nvSpPr>
        <p:spPr>
          <a:xfrm>
            <a:off x="685800" y="2103120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12" name="Text 12"/>
          <p:cNvSpPr txBox="1"/>
          <p:nvPr/>
        </p:nvSpPr>
        <p:spPr>
          <a:xfrm>
            <a:off x="758952" y="2231136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 robot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770632" y="2231136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198.688 EUR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965192" y="2231136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242.388 EUR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251192" y="2231136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piloto controlado</a:t>
            </a:r>
          </a:p>
        </p:txBody>
      </p:sp>
      <p:sp>
        <p:nvSpPr>
          <p:cNvPr id="16" name="Shape 16"/>
          <p:cNvSpPr/>
          <p:nvPr/>
        </p:nvSpPr>
        <p:spPr>
          <a:xfrm>
            <a:off x="685800" y="2706624"/>
            <a:ext cx="11064240" cy="530352"/>
          </a:xfrm>
          <a:prstGeom prst="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7" name="Text 17"/>
          <p:cNvSpPr txBox="1"/>
          <p:nvPr/>
        </p:nvSpPr>
        <p:spPr>
          <a:xfrm>
            <a:off x="758952" y="2834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7 robots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2770632" y="2834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904.736 EUR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65192" y="2834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1.075.636 EUR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251192" y="2834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expansion de linea</a:t>
            </a:r>
          </a:p>
        </p:txBody>
      </p:sp>
      <p:sp>
        <p:nvSpPr>
          <p:cNvPr id="21" name="Shape 21"/>
          <p:cNvSpPr/>
          <p:nvPr/>
        </p:nvSpPr>
        <p:spPr>
          <a:xfrm>
            <a:off x="685800" y="3310128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758952" y="3438144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17 robots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770632" y="3438144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2.051.616 EUR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4965192" y="3438144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2.436.516 EUR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251192" y="3438144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despliegue extendido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68680" y="4005072"/>
            <a:ext cx="10332720" cy="10789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Partidas incluidas: AMR-FOD-Kitting, software, ingenieria, CoppeliaSim, instalacion, formacion, mantenimiento, ciberseguridad y margen.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decision recomendada es un piloto de 1 robot con metricas de exito antes de escalar a 7 y 17 unidades.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Conclusion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propuesta cumple los tres bloques de la actividad: entrevista, oferta tecnica y oferta comercial.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solucion AMR-FOD-Kitting ataca problemas reales de intralogistica aeronautica.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eleccion omnidireccional es coherente con CoppeliaSim, seguridad y maniobrabilidad.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presupuesto por escenarios permite decidir con piloto, expansion y despliegue extendido.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resultado es viable, escalable y defendible dentro de Sistemas Roboticos Moviles.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0F172A"/>
      </a:dk1>
      <a:lt1>
        <a:srgbClr val="FFFFFF"/>
      </a:lt1>
      <a:dk2>
        <a:srgbClr val="0F2742"/>
      </a:dk2>
      <a:lt2>
        <a:srgbClr val="F4F7FA"/>
      </a:lt2>
      <a:accent1>
        <a:srgbClr val="1F7A8C"/>
      </a:accent1>
      <a:accent2>
        <a:srgbClr val="38BDF8"/>
      </a:accent2>
      <a:accent3>
        <a:srgbClr val="2A9D8F"/>
      </a:accent3>
      <a:accent4>
        <a:srgbClr val="F4A261"/>
      </a:accent4>
      <a:accent5>
        <a:srgbClr val="B91C1C"/>
      </a:accent5>
      <a:accent6>
        <a:srgbClr val="475569"/>
      </a:accent6>
      <a:hlink>
        <a:srgbClr val="1F7A8C"/>
      </a:hlink>
      <a:folHlink>
        <a:srgbClr val="0F27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editable de la oferta tecnica y comercial para Alestis Puerto Real.</dc:description>
  <dcterms:created xsi:type="dcterms:W3CDTF">2026-05-18T21:47:22Z</dcterms:created>
  <dcterms:modified xsi:type="dcterms:W3CDTF">2026-05-18T21:47:22Z</dcterms:modified>
</cp:coreProperties>
</file>