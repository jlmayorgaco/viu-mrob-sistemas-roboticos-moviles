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estis_htp_n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A23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LUNABOTICS • OFERTA TÉCNICA Y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Sistema
AMR-FOD-Kitting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4203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Automatización intralogística para HTP A320 y sección 19.1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416052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DB7E5"/>
                </a:solidFill>
                <a:latin typeface="Aptos"/>
              </a:rPr>
              <a:t>TESIS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498848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Medir un piloto AMR antes de escalar la flota.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120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Actividad 1 • Sistemas Robóticos Móviles
Profesor: José I. Iñiguez
Autor: Jorge Luis Mayorga Taborda
Entrega: 26 de mayo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5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>Mensaje ejecutivo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Necesidad, piloto y decisión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2/24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01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8–15 % del turno en logística auxiliar; hipótesis de entrevista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02 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1 AMR omnidireccional + sensores integrados + 237 k€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03 Decisión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Escalado 1 → 7 → 17 condicionado a KPIs y umbral económico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Alcance: el AMR estabiliza soporte logístico; fabricación, inspección certificada y decisiones de calidad quedan fuera del piloto.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3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Lunabotics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Integrador de robótica móvil industrial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3/24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Análisis de flujo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Misiones AMR y puntos de entrega/retorno.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Modelado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CoppeliaSim con YouBot/Omnirob como proxy holonómico.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Selección industrial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Plataforma, sensores, safety pack y HMI.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Integración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RFID/QR, registro de misiones y evidencia FOD.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Pilotos AMR antes de flota: integrar ROS 2, seguridad, HMI, datos y pruebas de planta.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1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Estabilizar el flujo que rodea al HTP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40 → 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HTP/mes: el AMR actúa sobre la palanca logística.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Menos esperas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Entregas trazadas en estación.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Registro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RFID/QR para cerrar cada entrega.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FOD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Captura RGB-D y revisión humana.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El robot coordina entregas y registro para liberar tiempo en la estación.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39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>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Límites normativos antes de operar en planta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5/24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ISO 3691-4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Velocidad, parada, zonas lentas y operación cerca de personas.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NAS 412 / FOD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Evidencia FOD revisable; certificación por calidad.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AS9100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Trazabilidad y cambios controlados.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Conjunto AMR + portakits + sensores.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Regla: la seguridad funcional tiene prioridad sobre navegación y productividad.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99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F4A261"/>
                </a:solidFill>
                <a:latin typeface="Aptos"/>
              </a:rPr>
              <a:t>Dolor operativo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Recorridos pequeños que frenan el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6/24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Estación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El operario abandona el puesto para buscar útiles.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Kits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Un kit incompleto bloquea trabajo sin ser gran parada.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Aptos"/>
              </a:rPr>
              <a:t>FOD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Exige inspección, disciplina y evidencia revisable.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Registro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La entrega debe quedar ligada a misión.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Supuesto a validar: logística auxiliar = 8–15 % del tiempo de turno afectado.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555999" cy="64008"/>
          </a:xfrm>
          <a:prstGeom prst="rect">
            <a:avLst/>
          </a:prstGeom>
          <a:solidFill>
            <a:srgbClr val="2DB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DB7E5"/>
                </a:solidFill>
                <a:latin typeface="Aptos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Flujo auxiliar en HTP A320 y sección 19.1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7/24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pic>
        <p:nvPicPr>
          <p:cNvPr id="11" name="Picture 10" descr="alestis_estacion_herramie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3840480" cy="216306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0" y="1325880"/>
            <a:ext cx="2514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490472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Kit validado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819655"/>
            <a:ext cx="2185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RFID–QR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325880"/>
            <a:ext cx="2514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1490472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Entrega HTP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1" y="1819655"/>
            <a:ext cx="2185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Punto trazado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651760"/>
            <a:ext cx="2514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816352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Registro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145536"/>
            <a:ext cx="2185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Misión cerrada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2651760"/>
            <a:ext cx="2514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1" y="2816352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Retorno FOD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145536"/>
            <a:ext cx="21854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Evidencia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Distancias estimadas: kit → estación 40 m • retorno útiles 25 m • ronda FOD 80 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999" cy="64008"/>
          </a:xfrm>
          <a:prstGeom prst="rect">
            <a:avLst/>
          </a:prstGeom>
          <a:solidFill>
            <a:srgbClr val="2DB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DB7E5"/>
                </a:solidFill>
                <a:latin typeface="Aptos"/>
              </a:rPr>
              <a:t>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Dónde entra el AMR y dónde no entra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8/24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Base logística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∼2 min carga + lectura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B7E5"/>
                </a:solidFill>
                <a:latin typeface="Aptos"/>
              </a:rPr>
              <a:t>Pasillo seguro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∼3 min ruta limitada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Estación HTP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∼1 min entrega + confirmación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Retorno / FOD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∼4–6 min retorno y evidencia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Fuera de alcance: montaje, mecanizado y manipulación directa del HTP.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1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>Entrevista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Hallazgos convertidos en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9/24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Kits, herramientas, retorno y registro.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B7E5"/>
                </a:solidFill>
                <a:latin typeface="Aptos"/>
              </a:rPr>
              <a:t>Pasillos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Base omnidireccional con SLAM y gestor de misiones.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FOD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Ronda RGB-D, evento trazado y revisión humana.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Escalado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Pasar de 1 a 7 solo si los KPIs lo justifican.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Prioridad de planta: menos vueltas y cada entrega registrada.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79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Criterios de aceptación conectados con el temario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10/24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≥ 95 %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Misiones completadas en piloto.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≥ 98 %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Registro completo por misión.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B7E5"/>
                </a:solidFill>
                <a:latin typeface="Aptos"/>
              </a:rPr>
              <a:t>≥ 90 %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Disponibilidad AMR en turno.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Apto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Contactos no previstos / incidentes con daño.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Medición: logs, RFID/QR, estado AMR, eventos safety y revisión FOD.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587999" cy="6400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A9D8F"/>
                </a:solidFill>
                <a:latin typeface="Aptos"/>
              </a:rPr>
              <a:t>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Matriz de decisión con criterios ponderados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AMR omnidireccional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4,20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AMR diferencial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3,90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AGV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3,15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Aptos"/>
              </a:rPr>
              <a:t>Dron / orugas / patas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≤ 1,85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El omni gana por maniobra en estación, el criterio de mayor peso.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Robot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Modelo elegido y opciones reales de compra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12/24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pic>
        <p:nvPicPr>
          <p:cNvPr id="11" name="Picture 10" descr="robotnik_rb_kai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61872"/>
            <a:ext cx="4572000" cy="3108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669280" y="1170432"/>
            <a:ext cx="53949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1335024"/>
            <a:ext cx="5065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Selección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1664207"/>
            <a:ext cx="50657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RB-KAIROS-class; base holonómica, ROS 2 y ∼250 kg.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2084832"/>
            <a:ext cx="53949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3872" y="2249424"/>
            <a:ext cx="5065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Alternativa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2578608"/>
            <a:ext cx="50657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AGILOX ODM para intralogística 300 kg.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2999232"/>
            <a:ext cx="53949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3163824"/>
            <a:ext cx="5065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Aptos"/>
              </a:rPr>
              <a:t>Descartado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3493008"/>
            <a:ext cx="50657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KUKA omniMove: sobredimensionado para HTP 19.1.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3913632"/>
            <a:ext cx="539496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4078224"/>
            <a:ext cx="50657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Simulación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3872" y="4407408"/>
            <a:ext cx="50657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YouBot/Omnirob como proxy mecanum en CoppeliaSim.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Solo base móvil + portakits; sin brazo manipulador ni manipulación directa del HTP.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603999" cy="6400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A9D8F"/>
                </a:solidFill>
                <a:latin typeface="Aptos"/>
              </a:rPr>
              <a:t>Dimensionamiento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El número de robots sale de misiones y ciclo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13/24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80 HTP/mes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20 días productivos → 4 HTP/día.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41 misiones/HTP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15 kits + 10 reposiciones + 8 retornos + 5 FOD + 3 consumibles.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189 misiones/día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164 base + 15 % margen.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7 robots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189 / 28 = 6,75 → 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Capacidad por robot: 8h × 60 × 0,70 / 12 ≈ 28 misiones/día.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111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Control por capas: navegar, actuar y dejar evidencia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Percepción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LiDAR, RGB-D, RFID/QR.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B7E5"/>
                </a:solidFill>
                <a:latin typeface="Aptos"/>
              </a:rPr>
              <a:t>Localización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SLAM, IMU y encoders.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Planificación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Global A*/Dijkstra; local TEB.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vx, vy, ω → ruedas mecanum.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Registro: robot_id, kit_id, origen, destino, ruta, RFID, QR, timestamps y evento_FOD.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19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Operación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Un ciclo cerrado: pedir, mover, confirmar, registrar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15/24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Planificar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HMI/MES lanza orden de entrega.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Validar kit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Carga, RFID/QR y destino.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DB7E5"/>
                </a:solidFill>
                <a:latin typeface="Aptos"/>
              </a:rPr>
              <a:t>Navegar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Ruta SLAM y obstáculos.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Cerrar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Entrega, FOD, retorno y BD.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Confirmación mínima en recepción, sin abandonar el puesto ni añadir tarea administrativa.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27999" cy="64008"/>
          </a:xfrm>
          <a:prstGeom prst="rect">
            <a:avLst/>
          </a:prstGeom>
          <a:solidFill>
            <a:srgbClr val="2DB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DB7E5"/>
                </a:solidFill>
                <a:latin typeface="Aptos"/>
              </a:rPr>
              <a:t>CoppeliaSim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Validación previa al piloto físico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16/24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pic>
        <p:nvPicPr>
          <p:cNvPr id="11" name="Picture 10" descr="s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2880360" cy="1874519"/>
          </a:xfrm>
          <a:prstGeom prst="rect">
            <a:avLst/>
          </a:prstGeom>
        </p:spPr>
      </p:pic>
      <p:pic>
        <p:nvPicPr>
          <p:cNvPr id="12" name="Picture 11" descr="s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234440"/>
            <a:ext cx="2880360" cy="1874519"/>
          </a:xfrm>
          <a:prstGeom prst="rect">
            <a:avLst/>
          </a:prstGeom>
        </p:spPr>
      </p:pic>
      <p:pic>
        <p:nvPicPr>
          <p:cNvPr id="13" name="Picture 12" descr="s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2880360" cy="187451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" y="3703320"/>
            <a:ext cx="251460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67911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Escena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18541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Nave, HTP, kitting y operarios.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703320"/>
            <a:ext cx="251460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0752" y="3867911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Proxy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0752" y="4197096"/>
            <a:ext cx="218541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YouBot mecanum; RB-KAIROS como referencia industrial.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3703320"/>
            <a:ext cx="251460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1" y="3867911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1" y="4197096"/>
            <a:ext cx="218541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Parada/esquiva ante operario y zonas marcadas.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3999" y="3703320"/>
            <a:ext cx="251460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1" y="3867911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Salida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1" y="4197096"/>
            <a:ext cx="218541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Error ≤ 0,25 m, cero contactos, rutas alternativas.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DB7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CoppeliaSim valida rutas y lógica; FAT/SAT valida carga real y seguridad.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635999" cy="6400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A9D8F"/>
                </a:solidFill>
                <a:latin typeface="Aptos"/>
              </a:rPr>
              <a:t>Despliegue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Tres fases con entregables y criterio de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17/24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1 piloto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S1–S12 • 237.444 €.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Hito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KPIs piloto.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7 expansión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M4–M12 • 1.100.252 €.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17 tentativo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Año 2 • 2.495.768 €.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Criterio 2: ≥ 1,1 HTP/mes de capacidad protegida o reducción ≥ 20 % de microesperas.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99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F4A261"/>
                </a:solidFill>
                <a:latin typeface="Aptos"/>
              </a:rPr>
              <a:t>Presupuesto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CAPEX y TCO por escenario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18/24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143000"/>
            <a:ext cx="25146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252728"/>
            <a:ext cx="2185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7A8C"/>
                </a:solidFill>
                <a:latin typeface="Aptos"/>
              </a:rPr>
              <a:t>237.444 €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645920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1 robot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1975104"/>
            <a:ext cx="21854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237.444 €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143000"/>
            <a:ext cx="25146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0752" y="1252728"/>
            <a:ext cx="2185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Aptos"/>
              </a:rPr>
              <a:t>1.100.252 €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1645920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7 robots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1975104"/>
            <a:ext cx="21854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1.100.252 €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9" y="1143000"/>
            <a:ext cx="25146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1" y="1252728"/>
            <a:ext cx="2185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D5BD0"/>
                </a:solidFill>
                <a:latin typeface="Aptos"/>
              </a:rPr>
              <a:t>2.495.768 €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1" y="1645920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17 robots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1" y="1975104"/>
            <a:ext cx="21854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2.495.768 €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3999" y="1143000"/>
            <a:ext cx="25146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1" y="1252728"/>
            <a:ext cx="2185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tos"/>
              </a:rPr>
              <a:t>284 k€ / 1,30 M€ / 2,95 M€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1" y="1645920"/>
            <a:ext cx="2185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TCO 3 años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1" y="1975104"/>
            <a:ext cx="21854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284 k€ / 1,30 M€ / 2,95 M€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77240" y="2423160"/>
          <a:ext cx="107442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3581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Partida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 robot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7 robots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17 robots*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Equipos: AMR + sensores + carga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78.500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549.500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1.334.500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Personal: ingeniería +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46.000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126.000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245.000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Personal: instalación +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20.000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60.000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135.000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Logística y medios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5.000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20.000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40.000</a:t>
                      </a:r>
                    </a:p>
                  </a:txBody>
                  <a:tcPr/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Contingencia + margen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41.144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190.652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432.468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Mapa rúbrica: personal, materiales, equipos y desplazamientos/logística quedan etiquetados.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651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Decisión por datos de piloto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19/24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18,4 €/h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CHC = 24.000 × 1,35 / 1.760.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Compra seguridad, aceptación, rutas y KPIs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7 robots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Solo si demuestra ≥ 1,25 HTP/mes protegido.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17 robots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Decisión estratégica: multi-zona o doble turno.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No se asume sustitución 1:1; se monetiza tiempo recuperado y continuidad de flujo.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59999" cy="6400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F4A261"/>
                </a:solidFill>
                <a:latin typeface="Aptos"/>
              </a:rPr>
              <a:t>Oferta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Entregables y condiciones de aceptación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20/24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Entregables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Mapa, configuración AMR, registro, FOD, CoppeliaSim y escalado.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Aceptación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0 contactos, ≥95 % misiones, ≥98 % registro, ≥90 % disponibilidad.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Usuarios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Formación y protocolo de parada entendidos.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91C1C"/>
                </a:solidFill>
                <a:latin typeface="Aptos"/>
              </a:rPr>
              <a:t>Pago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M0 30 % • M3 40 % • M5 20 % • M6 10 %.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Pago por hitos: evita pagar toda la fase sin validar entrega y KPIs.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67999" cy="6400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2A9D8F"/>
                </a:solidFill>
                <a:latin typeface="Aptos"/>
              </a:rPr>
              <a:t>Recomendación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Medir antes de escalar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21/24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7A8C"/>
                </a:solidFill>
                <a:latin typeface="Aptos"/>
              </a:rPr>
              <a:t>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Levantamiento de planta.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3444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39903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4A261"/>
                </a:solidFill>
                <a:latin typeface="Aptos"/>
              </a:rPr>
              <a:t>S2–S4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2821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Mapa, rutas, carga y SAT inicial.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tos"/>
              </a:rPr>
              <a:t>S5–S10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Operación piloto y captura de KPIs.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651760"/>
            <a:ext cx="49377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D5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816352"/>
            <a:ext cx="4608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5BD0"/>
                </a:solidFill>
                <a:latin typeface="Aptos"/>
              </a:rPr>
              <a:t>S11–S12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3145536"/>
            <a:ext cx="4608576" cy="48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02033"/>
                </a:solidFill>
                <a:latin typeface="Aptos"/>
              </a:rPr>
              <a:t>Revisión KPI y decisión.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1 robot primero. Escalar solo con datos.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75999" cy="6400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1F7A8C"/>
                </a:solidFill>
                <a:latin typeface="Aptos"/>
              </a:rPr>
              <a:t>AMDEC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Riesgos principales y mitigaciones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22/24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23444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Riesgo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Mitigación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RPN</a:t>
                      </a:r>
                    </a:p>
                  </a:txBody>
                  <a:tcPr>
                    <a:solidFill>
                      <a:srgbClr val="E8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Contacto con operario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Zonas lentas + E-stop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FOD generado por AMR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Portakits + ronda RGB-D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Pasillo/grúa bloquea ruta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Zonificación + TEB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RFID/WiFi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Doble lectura + 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54/60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Escalado prematuro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Gates con umbral medido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02033"/>
                          </a:solidFill>
                          <a:latin typeface="Aptos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77240" y="5532120"/>
            <a:ext cx="1074420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687568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2033"/>
                </a:solidFill>
                <a:latin typeface="Aptos"/>
              </a:rPr>
              <a:t>Riesgos aeronáuticos explícitos: AS9100/NAS 412, FOD del propio AMR y grúa puente.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971800"/>
            <a:ext cx="1219199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A2342"/>
                </a:solidFill>
                <a:latin typeface="Aptos"/>
              </a:rPr>
              <a:t>¡Muchas gracias!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6D5BD0"/>
                </a:solidFill>
                <a:latin typeface="Aptos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033"/>
                </a:solidFill>
                <a:latin typeface="Aptos"/>
              </a:rPr>
              <a:t>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25603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16173"/>
                </a:solidFill>
                <a:latin typeface="Aptos"/>
              </a:rPr>
              <a:t>24/24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56248"/>
            <a:ext cx="3291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0">
                <a:solidFill>
                  <a:srgbClr val="516173"/>
                </a:solidFill>
                <a:latin typeface="Aptos"/>
              </a:rPr>
              <a:t>Actividad 1 • Sistemas Robóticos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6556248"/>
            <a:ext cx="4389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40" b="0">
                <a:solidFill>
                  <a:srgbClr val="516173"/>
                </a:solidFill>
                <a:latin typeface="Aptos"/>
              </a:rPr>
              <a:t>Lunabotics • Alestis Puerto Real • HTP A320</a:t>
            </a:r>
          </a:p>
        </p:txBody>
      </p:sp>
      <p:sp>
        <p:nvSpPr>
          <p:cNvPr id="9" name="Oval 8"/>
          <p:cNvSpPr/>
          <p:nvPr/>
        </p:nvSpPr>
        <p:spPr>
          <a:xfrm>
            <a:off x="10991088" y="629107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91088" y="6391656"/>
            <a:ext cx="411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F7A8C"/>
                </a:solidFill>
                <a:latin typeface="Aptos"/>
              </a:rPr>
              <a:t>LB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1430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[1] ISO 3691-4, Driverless industrial trucks and their systems.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[2] SAE NAS 412, Foreign Object Damage / Foreign Object Debris Prevention.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[3] EN 9100 / AS9100D, sistemas de gestión de calidad aeroespacial.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[4] Coppelia Robotics, CoppeliaSim User Manual, 2026.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[5] Siegwart, Nourbakhsh y Scaramuzza, Introduction to Autonomous Mobile Robots.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[6] Robotnik Automation, RB-KAIROS Datasheet, 2024–2026.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[7] AGILOX ODM; MiR250 Specifications, benchmarks AMR.</a:t>
            </a:r>
          </a:p>
          <a:p>
            <a:pPr>
              <a:lnSpc>
                <a:spcPct val="105000"/>
              </a:lnSpc>
              <a:defRPr sz="1050">
                <a:solidFill>
                  <a:srgbClr val="102033"/>
                </a:solidFill>
                <a:latin typeface="Aptos"/>
              </a:defRPr>
            </a:pPr>
            <a:r>
              <a:t>[8] Intel RealSense D435i, Hokuyo UST-10LX y Zebra FX9600.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0644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16173"/>
                </a:solidFill>
                <a:latin typeface="Aptos"/>
              </a:rPr>
              <a:t>Referencias completas, enlaces y fechas de consulta: bibliografía del informe técnico.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