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033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0233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262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321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350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54380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4964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5256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55480" y="0"/>
            <a:ext cx="-1737360" cy="6858000"/>
          </a:xfrm>
          <a:prstGeom prst="line">
            <a:avLst/>
          </a:prstGeom>
          <a:noFill/>
          <a:ln w="7620">
            <a:solidFill>
              <a:srgbClr val="244761">
                <a:alpha val="8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402336"/>
            <a:ext cx="40233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OFERTA TÉCNICA Y COMERCIAL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" y="731520"/>
            <a:ext cx="493776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Sistema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AMR-FOD-Kitting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30352" y="1874520"/>
            <a:ext cx="51206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DCEB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Automatización intralogística para la línea HTP A320 y sección 19.1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2578608"/>
            <a:ext cx="420624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• Sistemas Robóticos Móviles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Universidad Internacional de Valencia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Profesor: Jose I. Iñiguez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Autor: Jorge Luis Mayorga Taborda</a:t>
            </a:r>
            <a:endParaRPr lang="en-US" sz="710" dirty="0"/>
          </a:p>
          <a:p>
            <a:pPr algn="l" indent="0" marL="0">
              <a:buNone/>
            </a:pPr>
            <a:r>
              <a:rPr lang="en-US" sz="710" dirty="0">
                <a:solidFill>
                  <a:srgbClr val="CFE1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Entrega: 26 de mayo de 2026</a:t>
            </a:r>
            <a:endParaRPr lang="en-US" sz="710" dirty="0"/>
          </a:p>
        </p:txBody>
      </p:sp>
      <p:sp>
        <p:nvSpPr>
          <p:cNvPr id="19" name="Shape 17"/>
          <p:cNvSpPr/>
          <p:nvPr/>
        </p:nvSpPr>
        <p:spPr>
          <a:xfrm>
            <a:off x="6675120" y="914400"/>
            <a:ext cx="2272284" cy="1472184"/>
          </a:xfrm>
          <a:prstGeom prst="roundRect">
            <a:avLst>
              <a:gd name="adj" fmla="val 4969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867144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31352" y="1122426"/>
            <a:ext cx="224028" cy="105613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43216" y="1266444"/>
            <a:ext cx="768096" cy="768096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3246" y="1506474"/>
            <a:ext cx="288036" cy="288036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47888" y="4224528"/>
            <a:ext cx="502920" cy="74980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84464" y="4489704"/>
            <a:ext cx="4114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Tesis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propuesta no robotiza el HTP: ordena el flujo que lo rodea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4114800" cy="11887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espera.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Más trazabilidad.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Menos riesgo FOD.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68096" y="2761488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 transporte, confirmación y evidencia.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68096" y="3090672"/>
            <a:ext cx="384048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invade montaje aeronáutico certificado.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37960" y="1143000"/>
            <a:ext cx="0" cy="4023360"/>
          </a:xfrm>
          <a:prstGeom prst="line">
            <a:avLst/>
          </a:prstGeom>
          <a:noFill/>
          <a:ln w="1524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132588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178040" y="170992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actuales aproximados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7178040" y="2816352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80+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HTP/mes como objetivo futuro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7178040" y="4315968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178040" y="4700016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promesas de fabricación robotizada directa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Problema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Las pérdidas aparecen como microesperas, no como grandes paradas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60120" y="1234440"/>
            <a:ext cx="4572000" cy="3383280"/>
          </a:xfrm>
          <a:prstGeom prst="roundRect">
            <a:avLst>
              <a:gd name="adj" fmla="val 2162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4069080"/>
            <a:ext cx="0" cy="-20574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2011680"/>
            <a:ext cx="219456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94760" y="2011680"/>
            <a:ext cx="0" cy="182880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94760" y="3840480"/>
            <a:ext cx="-1645920" cy="0"/>
          </a:xfrm>
          <a:prstGeom prst="line">
            <a:avLst/>
          </a:prstGeom>
          <a:noFill/>
          <a:ln w="13970">
            <a:solidFill>
              <a:srgbClr val="B91C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69080" y="1371600"/>
            <a:ext cx="1038758" cy="672998"/>
          </a:xfrm>
          <a:prstGeom prst="roundRect">
            <a:avLst>
              <a:gd name="adj" fmla="val 1087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56862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17643" y="1466698"/>
            <a:ext cx="102413" cy="482803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20210" y="1532534"/>
            <a:ext cx="351130" cy="35113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29938" y="1642262"/>
            <a:ext cx="131674" cy="13167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46520" y="1234440"/>
            <a:ext cx="118872" cy="38404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93408" y="1170432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 abandonan estación para buscar útiles o consumibles.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6446520" y="2075688"/>
            <a:ext cx="118872" cy="3840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93408" y="2011680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Kits incompletos bloquean trabajo sin quedar siempre visibles como parada.</a:t>
            </a:r>
            <a:endParaRPr lang="en-US" sz="840" dirty="0"/>
          </a:p>
        </p:txBody>
      </p:sp>
      <p:sp>
        <p:nvSpPr>
          <p:cNvPr id="22" name="Shape 20"/>
          <p:cNvSpPr/>
          <p:nvPr/>
        </p:nvSpPr>
        <p:spPr>
          <a:xfrm>
            <a:off x="6446520" y="2916936"/>
            <a:ext cx="118872" cy="38404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93408" y="2852928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exige inspección, disciplina y evidencia documentada.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6446520" y="3758184"/>
            <a:ext cx="118872" cy="38404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93408" y="3694176"/>
            <a:ext cx="384048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trazabilidad fina se pierde si la entrega no queda ligada a misión.</a:t>
            </a:r>
            <a:endParaRPr lang="en-US" sz="840" dirty="0"/>
          </a:p>
        </p:txBody>
      </p:sp>
      <p:sp>
        <p:nvSpPr>
          <p:cNvPr id="26" name="Text 24"/>
          <p:cNvSpPr/>
          <p:nvPr/>
        </p:nvSpPr>
        <p:spPr>
          <a:xfrm>
            <a:off x="1517904" y="4809744"/>
            <a:ext cx="2194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manual repetida</a:t>
            </a:r>
            <a:endParaRPr lang="en-US" sz="6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Flujo auxiliar en HTP A320 y sección 19.1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10744200" cy="4343400"/>
          </a:xfrm>
          <a:prstGeom prst="roundRect">
            <a:avLst>
              <a:gd name="adj" fmla="val 1684"/>
            </a:avLst>
          </a:prstGeom>
          <a:solidFill>
            <a:srgbClr val="EAF7FB"/>
          </a:solidFill>
          <a:ln w="12700">
            <a:solidFill>
              <a:srgbClr val="9DDD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7280" y="1508760"/>
            <a:ext cx="3931920" cy="7498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Estructura grande;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soporte logístico fino.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115568" y="2432304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no toca montaje certificado.</a:t>
            </a:r>
            <a:endParaRPr lang="en-US" sz="840" dirty="0"/>
          </a:p>
        </p:txBody>
      </p:sp>
      <p:sp>
        <p:nvSpPr>
          <p:cNvPr id="11" name="Text 9"/>
          <p:cNvSpPr/>
          <p:nvPr/>
        </p:nvSpPr>
        <p:spPr>
          <a:xfrm>
            <a:off x="1115568" y="2724912"/>
            <a:ext cx="38862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1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Estabiliza entregas, retornos, FOD y trazabilidad.</a:t>
            </a:r>
            <a:endParaRPr lang="en-US" sz="810" dirty="0"/>
          </a:p>
        </p:txBody>
      </p:sp>
      <p:sp>
        <p:nvSpPr>
          <p:cNvPr id="12" name="Shape 10"/>
          <p:cNvSpPr/>
          <p:nvPr/>
        </p:nvSpPr>
        <p:spPr>
          <a:xfrm>
            <a:off x="1005840" y="3246120"/>
            <a:ext cx="5029200" cy="1005840"/>
          </a:xfrm>
          <a:prstGeom prst="arc">
            <a:avLst/>
          </a:prstGeom>
          <a:noFill/>
          <a:ln w="1905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200000">
            <a:off x="2011680" y="2880360"/>
            <a:ext cx="1051560" cy="77724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58768" y="3163824"/>
            <a:ext cx="658368" cy="960120"/>
          </a:xfrm>
          <a:prstGeom prst="rect">
            <a:avLst/>
          </a:prstGeom>
          <a:solidFill>
            <a:srgbClr val="F3B37A"/>
          </a:solidFill>
          <a:ln w="12700">
            <a:solidFill>
              <a:srgbClr val="F3B3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86784" y="3547872"/>
            <a:ext cx="38404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1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19.1</a:t>
            </a:r>
            <a:endParaRPr lang="en-US" sz="610" dirty="0"/>
          </a:p>
        </p:txBody>
      </p:sp>
      <p:sp>
        <p:nvSpPr>
          <p:cNvPr id="16" name="Text 14"/>
          <p:cNvSpPr/>
          <p:nvPr/>
        </p:nvSpPr>
        <p:spPr>
          <a:xfrm>
            <a:off x="6126480" y="1691640"/>
            <a:ext cx="42062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-&gt; entrega -&gt; registro -&gt; retorno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236208" y="306324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3136392"/>
            <a:ext cx="1298448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 validado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726680" y="3255264"/>
            <a:ext cx="45720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229600" y="3063240"/>
            <a:ext cx="150876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2752" y="3136392"/>
            <a:ext cx="136245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Estacion HTP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trazada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9784080" y="3255264"/>
            <a:ext cx="438912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259568" y="306324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0" y="3136392"/>
            <a:ext cx="996696" cy="2286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+ FOD</a:t>
            </a:r>
            <a:endParaRPr lang="en-US" sz="720" dirty="0"/>
          </a:p>
          <a:p>
            <a:pPr algn="ctr" indent="0" marL="0">
              <a:buNone/>
            </a:pPr>
            <a:r>
              <a:rPr lang="en-US" sz="7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evidencia digital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6181344" y="4187952"/>
            <a:ext cx="29260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 clave para la propuesta</a:t>
            </a:r>
            <a:endParaRPr lang="en-US" sz="740" dirty="0"/>
          </a:p>
        </p:txBody>
      </p:sp>
      <p:sp>
        <p:nvSpPr>
          <p:cNvPr id="26" name="Text 24"/>
          <p:cNvSpPr/>
          <p:nvPr/>
        </p:nvSpPr>
        <p:spPr>
          <a:xfrm>
            <a:off x="6181344" y="4462272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sección 19.1 depende de kits, herramientas y disciplina FOD.</a:t>
            </a:r>
            <a:endParaRPr lang="en-US" sz="690" dirty="0"/>
          </a:p>
        </p:txBody>
      </p:sp>
      <p:sp>
        <p:nvSpPr>
          <p:cNvPr id="27" name="Text 25"/>
          <p:cNvSpPr/>
          <p:nvPr/>
        </p:nvSpPr>
        <p:spPr>
          <a:xfrm>
            <a:off x="6181344" y="4718304"/>
            <a:ext cx="457200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AMR reduce esperas y deja trazas; no fabrica el HTP.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Entrevista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conversación simulada a requisitos trazables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685800" y="1325880"/>
            <a:ext cx="1691640" cy="8412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ACTA TÉCNICA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Carlos Pérez</a:t>
            </a:r>
            <a:endParaRPr lang="en-US" sz="820" dirty="0"/>
          </a:p>
          <a:p>
            <a:pPr algn="l" indent="0" marL="0">
              <a:buNone/>
            </a:pPr>
            <a:r>
              <a:rPr lang="en-US" sz="8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+10 años de experiencia en Alestis Puerto Real.</a:t>
            </a:r>
            <a:endParaRPr lang="en-US" sz="820" dirty="0"/>
          </a:p>
        </p:txBody>
      </p:sp>
      <p:sp>
        <p:nvSpPr>
          <p:cNvPr id="9" name="Text 7"/>
          <p:cNvSpPr/>
          <p:nvPr/>
        </p:nvSpPr>
        <p:spPr>
          <a:xfrm>
            <a:off x="713232" y="2468880"/>
            <a:ext cx="196596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0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alcance correcto no es fabricar: es asegurar flujo, FOD y trazabilidad.</a:t>
            </a:r>
            <a:endParaRPr lang="en-US" sz="1750" dirty="0"/>
          </a:p>
        </p:txBody>
      </p:sp>
      <p:sp>
        <p:nvSpPr>
          <p:cNvPr id="10" name="Text 8"/>
          <p:cNvSpPr/>
          <p:nvPr/>
        </p:nvSpPr>
        <p:spPr>
          <a:xfrm>
            <a:off x="3017520" y="1170432"/>
            <a:ext cx="19202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HALLAZGO DE PLANTA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5897880" y="1170432"/>
            <a:ext cx="1371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8275320" y="1170432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DISENO AMR-FOD-KITTING</a:t>
            </a:r>
            <a:endParaRPr lang="en-US" sz="680" dirty="0"/>
          </a:p>
        </p:txBody>
      </p:sp>
      <p:sp>
        <p:nvSpPr>
          <p:cNvPr id="13" name="Shape 11"/>
          <p:cNvSpPr/>
          <p:nvPr/>
        </p:nvSpPr>
        <p:spPr>
          <a:xfrm>
            <a:off x="2907792" y="150876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63240" y="167335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3493008" y="160934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fabricar ni montar el HTP.</a:t>
            </a:r>
            <a:endParaRPr lang="en-US" sz="640" dirty="0"/>
          </a:p>
        </p:txBody>
      </p:sp>
      <p:sp>
        <p:nvSpPr>
          <p:cNvPr id="16" name="Text 14"/>
          <p:cNvSpPr/>
          <p:nvPr/>
        </p:nvSpPr>
        <p:spPr>
          <a:xfrm>
            <a:off x="5833872" y="160020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Automatizar solo flujo auxiliar certificado.</a:t>
            </a:r>
            <a:endParaRPr lang="en-US" sz="620" dirty="0"/>
          </a:p>
        </p:txBody>
      </p:sp>
      <p:sp>
        <p:nvSpPr>
          <p:cNvPr id="17" name="Text 15"/>
          <p:cNvSpPr/>
          <p:nvPr/>
        </p:nvSpPr>
        <p:spPr>
          <a:xfrm>
            <a:off x="8092440" y="160020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Kitting, retorno de útiles y entregas trazadas.</a:t>
            </a:r>
            <a:endParaRPr lang="en-US" sz="620" dirty="0"/>
          </a:p>
        </p:txBody>
      </p:sp>
      <p:sp>
        <p:nvSpPr>
          <p:cNvPr id="18" name="Shape 16"/>
          <p:cNvSpPr/>
          <p:nvPr/>
        </p:nvSpPr>
        <p:spPr>
          <a:xfrm>
            <a:off x="2907792" y="228600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063240" y="245059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620" dirty="0"/>
          </a:p>
        </p:txBody>
      </p:sp>
      <p:sp>
        <p:nvSpPr>
          <p:cNvPr id="20" name="Text 18"/>
          <p:cNvSpPr/>
          <p:nvPr/>
        </p:nvSpPr>
        <p:spPr>
          <a:xfrm>
            <a:off x="3493008" y="238658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Prioridades y pasillos cambian durante el turno.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5833872" y="237744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Evitar rutas rigidas y paradas manuales.</a:t>
            </a:r>
            <a:endParaRPr lang="en-US" sz="620" dirty="0"/>
          </a:p>
        </p:txBody>
      </p:sp>
      <p:sp>
        <p:nvSpPr>
          <p:cNvPr id="22" name="Text 20"/>
          <p:cNvSpPr/>
          <p:nvPr/>
        </p:nvSpPr>
        <p:spPr>
          <a:xfrm>
            <a:off x="8092440" y="237744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con SLAM y gestor de misiones.</a:t>
            </a:r>
            <a:endParaRPr lang="en-US" sz="620" dirty="0"/>
          </a:p>
        </p:txBody>
      </p:sp>
      <p:sp>
        <p:nvSpPr>
          <p:cNvPr id="23" name="Shape 21"/>
          <p:cNvSpPr/>
          <p:nvPr/>
        </p:nvSpPr>
        <p:spPr>
          <a:xfrm>
            <a:off x="2907792" y="306324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63240" y="322783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620" dirty="0"/>
          </a:p>
        </p:txBody>
      </p:sp>
      <p:sp>
        <p:nvSpPr>
          <p:cNvPr id="25" name="Text 23"/>
          <p:cNvSpPr/>
          <p:nvPr/>
        </p:nvSpPr>
        <p:spPr>
          <a:xfrm>
            <a:off x="3493008" y="316382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requiere evidencia revisable.</a:t>
            </a:r>
            <a:endParaRPr lang="en-US" sz="640" dirty="0"/>
          </a:p>
        </p:txBody>
      </p:sp>
      <p:sp>
        <p:nvSpPr>
          <p:cNvPr id="26" name="Text 24"/>
          <p:cNvSpPr/>
          <p:nvPr/>
        </p:nvSpPr>
        <p:spPr>
          <a:xfrm>
            <a:off x="5833872" y="315468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Registrar rondas, imágenes y excepciones.</a:t>
            </a:r>
            <a:endParaRPr lang="en-US" sz="620" dirty="0"/>
          </a:p>
        </p:txBody>
      </p:sp>
      <p:sp>
        <p:nvSpPr>
          <p:cNvPr id="27" name="Text 25"/>
          <p:cNvSpPr/>
          <p:nvPr/>
        </p:nvSpPr>
        <p:spPr>
          <a:xfrm>
            <a:off x="8092440" y="315468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RGB-D, RFID/QR y base de datos de eventos.</a:t>
            </a:r>
            <a:endParaRPr lang="en-US" sz="620" dirty="0"/>
          </a:p>
        </p:txBody>
      </p:sp>
      <p:sp>
        <p:nvSpPr>
          <p:cNvPr id="28" name="Shape 26"/>
          <p:cNvSpPr/>
          <p:nvPr/>
        </p:nvSpPr>
        <p:spPr>
          <a:xfrm>
            <a:off x="2907792" y="3840480"/>
            <a:ext cx="8321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3240" y="4005072"/>
            <a:ext cx="256032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620" dirty="0"/>
          </a:p>
        </p:txBody>
      </p:sp>
      <p:sp>
        <p:nvSpPr>
          <p:cNvPr id="30" name="Text 28"/>
          <p:cNvSpPr/>
          <p:nvPr/>
        </p:nvSpPr>
        <p:spPr>
          <a:xfrm>
            <a:off x="3493008" y="3941064"/>
            <a:ext cx="214884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expansión debe depender de datos del piloto.</a:t>
            </a:r>
            <a:endParaRPr lang="en-US" sz="640" dirty="0"/>
          </a:p>
        </p:txBody>
      </p:sp>
      <p:sp>
        <p:nvSpPr>
          <p:cNvPr id="31" name="Text 29"/>
          <p:cNvSpPr/>
          <p:nvPr/>
        </p:nvSpPr>
        <p:spPr>
          <a:xfrm>
            <a:off x="5833872" y="3931920"/>
            <a:ext cx="187452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seguridad, entrega y disponibilidad.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8092440" y="3931920"/>
            <a:ext cx="274320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antes de pasar de 1 a 7 y 17 robots.</a:t>
            </a:r>
            <a:endParaRPr lang="en-US" sz="6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Requisitos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Criterios de aceptación conectados con el temario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04672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 completadas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78892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8892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completo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480060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0060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 AMR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68122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12280" y="1755648"/>
            <a:ext cx="1508760" cy="411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incidentes con daño</a:t>
            </a:r>
            <a:endParaRPr lang="en-US" sz="650" dirty="0"/>
          </a:p>
        </p:txBody>
      </p:sp>
      <p:sp>
        <p:nvSpPr>
          <p:cNvPr id="16" name="Shape 14"/>
          <p:cNvSpPr/>
          <p:nvPr/>
        </p:nvSpPr>
        <p:spPr>
          <a:xfrm>
            <a:off x="777240" y="2670048"/>
            <a:ext cx="9966960" cy="0"/>
          </a:xfrm>
          <a:prstGeom prst="line">
            <a:avLst/>
          </a:prstGeom>
          <a:noFill/>
          <a:ln w="12700">
            <a:solidFill>
              <a:srgbClr val="D6DE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Locomocion</a:t>
            </a:r>
            <a:endParaRPr lang="en-US" sz="840" dirty="0"/>
          </a:p>
        </p:txBody>
      </p:sp>
      <p:sp>
        <p:nvSpPr>
          <p:cNvPr id="18" name="Text 16"/>
          <p:cNvSpPr/>
          <p:nvPr/>
        </p:nvSpPr>
        <p:spPr>
          <a:xfrm>
            <a:off x="86868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mecanum/sueca con movimiento lateral</a:t>
            </a:r>
            <a:endParaRPr lang="en-US" sz="730" dirty="0"/>
          </a:p>
        </p:txBody>
      </p:sp>
      <p:sp>
        <p:nvSpPr>
          <p:cNvPr id="19" name="Text 17"/>
          <p:cNvSpPr/>
          <p:nvPr/>
        </p:nvSpPr>
        <p:spPr>
          <a:xfrm>
            <a:off x="329184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840" dirty="0"/>
          </a:p>
        </p:txBody>
      </p:sp>
      <p:sp>
        <p:nvSpPr>
          <p:cNvPr id="20" name="Text 18"/>
          <p:cNvSpPr/>
          <p:nvPr/>
        </p:nvSpPr>
        <p:spPr>
          <a:xfrm>
            <a:off x="329184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RFID-QR y seguridad separada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571500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Navegacion</a:t>
            </a:r>
            <a:endParaRPr lang="en-US" sz="840" dirty="0"/>
          </a:p>
        </p:txBody>
      </p:sp>
      <p:sp>
        <p:nvSpPr>
          <p:cNvPr id="22" name="Text 20"/>
          <p:cNvSpPr/>
          <p:nvPr/>
        </p:nvSpPr>
        <p:spPr>
          <a:xfrm>
            <a:off x="571500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A* Dijkstra y evitacion local</a:t>
            </a:r>
            <a:endParaRPr lang="en-US" sz="730" dirty="0"/>
          </a:p>
        </p:txBody>
      </p:sp>
      <p:sp>
        <p:nvSpPr>
          <p:cNvPr id="23" name="Text 21"/>
          <p:cNvSpPr/>
          <p:nvPr/>
        </p:nvSpPr>
        <p:spPr>
          <a:xfrm>
            <a:off x="8138160" y="3246120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840" dirty="0"/>
          </a:p>
        </p:txBody>
      </p:sp>
      <p:sp>
        <p:nvSpPr>
          <p:cNvPr id="24" name="Text 22"/>
          <p:cNvSpPr/>
          <p:nvPr/>
        </p:nvSpPr>
        <p:spPr>
          <a:xfrm>
            <a:off x="8138160" y="3675888"/>
            <a:ext cx="201168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3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motores electricos limites de velocidad y E-stop</a:t>
            </a:r>
            <a:endParaRPr lang="en-US" sz="7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Alternativas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Por que AMR omnidireccional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234440"/>
            <a:ext cx="292608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Seleccionado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41248" y="1700784"/>
            <a:ext cx="320040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omnidireccional representable en CoppeliaSim</a:t>
            </a:r>
            <a:endParaRPr lang="en-US" sz="840" dirty="0"/>
          </a:p>
        </p:txBody>
      </p:sp>
      <p:sp>
        <p:nvSpPr>
          <p:cNvPr id="10" name="Shape 8"/>
          <p:cNvSpPr/>
          <p:nvPr/>
        </p:nvSpPr>
        <p:spPr>
          <a:xfrm>
            <a:off x="1261872" y="2606040"/>
            <a:ext cx="1623060" cy="1051560"/>
          </a:xfrm>
          <a:prstGeom prst="roundRect">
            <a:avLst>
              <a:gd name="adj" fmla="val 6957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99032" y="2754630"/>
            <a:ext cx="160020" cy="7543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87752" y="2754630"/>
            <a:ext cx="160020" cy="75438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10512" y="2857500"/>
            <a:ext cx="548640" cy="548640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81962" y="3028950"/>
            <a:ext cx="205740" cy="205740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069080"/>
            <a:ext cx="3291840" cy="5029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6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Movimiento lateral sin reorientar carga; mejor cerca de útiles, estaciones y operarios.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5669280" y="1417320"/>
            <a:ext cx="10972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25312" y="1298448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AGV: fiable, pero rigido si cambian rutas.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5669280" y="2075688"/>
            <a:ext cx="109728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25312" y="1956816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Dron: baja carga y riesgo en interior industrial.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5669280" y="2734056"/>
            <a:ext cx="109728" cy="10972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25312" y="2615184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Orugas: innecesarias sobre pavimento regular.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5669280" y="3392424"/>
            <a:ext cx="109728" cy="109728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25312" y="3273552"/>
            <a:ext cx="448056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Patas: coste y complejidad sin ventaja operativa clara.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AMR omnidireccional objetivo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914400" y="1417320"/>
            <a:ext cx="2402129" cy="1556309"/>
          </a:xfrm>
          <a:prstGeom prst="roundRect">
            <a:avLst>
              <a:gd name="adj" fmla="val 4700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7397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76702" y="1637233"/>
            <a:ext cx="236830" cy="1116482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26387" y="1789481"/>
            <a:ext cx="811987" cy="811987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80133" y="2043227"/>
            <a:ext cx="304495" cy="304495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2788920" y="1078992"/>
            <a:ext cx="7315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13258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E-stop + bumpers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2880360" y="3429000"/>
            <a:ext cx="1280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IMU + encoders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3657600" cy="3200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niveles, una decisión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46520" y="1920240"/>
            <a:ext cx="128016" cy="12801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1792224"/>
            <a:ext cx="4206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Simulacion: YouBot/Omnirob o base mecanum equivalente.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446520" y="2606040"/>
            <a:ext cx="128016" cy="128016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20840" y="2478024"/>
            <a:ext cx="4206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Benchmark: MiR250 y LD-250 solo para coste AMR 250 kg.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46520" y="3291840"/>
            <a:ext cx="128016" cy="128016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0840" y="3163824"/>
            <a:ext cx="4206240" cy="3291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Implantacion: plataforma holonomica 200-300 kg con portakits.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Arquitectura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 por capas: navegar, actuar y dejar evidencia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68580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8F7FA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Percepcion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79552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LiDAR RGB-D RFID</a:t>
            </a:r>
            <a:endParaRPr lang="en-US" sz="580" dirty="0"/>
          </a:p>
        </p:txBody>
      </p:sp>
      <p:sp>
        <p:nvSpPr>
          <p:cNvPr id="11" name="Shape 9"/>
          <p:cNvSpPr/>
          <p:nvPr/>
        </p:nvSpPr>
        <p:spPr>
          <a:xfrm>
            <a:off x="223113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3464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4FF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2608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Localizacion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294436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IMU encoders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437997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98348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FF3E5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492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Planificacion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509320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Dijkstra DWA</a:t>
            </a:r>
            <a:endParaRPr lang="en-US" sz="580" dirty="0"/>
          </a:p>
        </p:txBody>
      </p:sp>
      <p:sp>
        <p:nvSpPr>
          <p:cNvPr id="19" name="Shape 17"/>
          <p:cNvSpPr/>
          <p:nvPr/>
        </p:nvSpPr>
        <p:spPr>
          <a:xfrm>
            <a:off x="652881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3232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EAF7F1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24204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vx vy w ruedas</a:t>
            </a:r>
            <a:endParaRPr lang="en-US" sz="580" dirty="0"/>
          </a:p>
        </p:txBody>
      </p:sp>
      <p:sp>
        <p:nvSpPr>
          <p:cNvPr id="23" name="Shape 21"/>
          <p:cNvSpPr/>
          <p:nvPr/>
        </p:nvSpPr>
        <p:spPr>
          <a:xfrm>
            <a:off x="8677656" y="2048256"/>
            <a:ext cx="347472" cy="0"/>
          </a:xfrm>
          <a:prstGeom prst="line">
            <a:avLst/>
          </a:prstGeom>
          <a:noFill/>
          <a:ln w="16510">
            <a:solidFill>
              <a:srgbClr val="D6DEE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281160" y="1691640"/>
            <a:ext cx="1508760" cy="713232"/>
          </a:xfrm>
          <a:prstGeom prst="roundRect">
            <a:avLst>
              <a:gd name="adj" fmla="val 10256"/>
            </a:avLst>
          </a:prstGeom>
          <a:solidFill>
            <a:srgbClr val="F0EDFF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72600" y="1847088"/>
            <a:ext cx="13258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Integracion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9390888" y="208483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HMI BD MES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685800" y="3218688"/>
            <a:ext cx="10332720" cy="0"/>
          </a:xfrm>
          <a:prstGeom prst="line">
            <a:avLst/>
          </a:prstGeom>
          <a:noFill/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3456432"/>
            <a:ext cx="6949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Interrupcion de seguridad: escaner, bumper o E-stop detienen cualquier misión</a:t>
            </a:r>
            <a:endParaRPr lang="en-US" sz="720" dirty="0"/>
          </a:p>
        </p:txBody>
      </p:sp>
      <p:sp>
        <p:nvSpPr>
          <p:cNvPr id="29" name="Text 27"/>
          <p:cNvSpPr/>
          <p:nvPr/>
        </p:nvSpPr>
        <p:spPr>
          <a:xfrm>
            <a:off x="749808" y="4114800"/>
            <a:ext cx="201168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registro minimo por misión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749808" y="4462272"/>
            <a:ext cx="29260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Robot, kit, origen, destino y estación.</a:t>
            </a:r>
            <a:endParaRPr lang="en-US" sz="710" dirty="0"/>
          </a:p>
        </p:txBody>
      </p:sp>
      <p:sp>
        <p:nvSpPr>
          <p:cNvPr id="31" name="Text 29"/>
          <p:cNvSpPr/>
          <p:nvPr/>
        </p:nvSpPr>
        <p:spPr>
          <a:xfrm>
            <a:off x="3886200" y="4462272"/>
            <a:ext cx="24688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 prevista y ruta ejecutada.</a:t>
            </a:r>
            <a:endParaRPr lang="en-US" sz="710" dirty="0"/>
          </a:p>
        </p:txBody>
      </p:sp>
      <p:sp>
        <p:nvSpPr>
          <p:cNvPr id="32" name="Text 30"/>
          <p:cNvSpPr/>
          <p:nvPr/>
        </p:nvSpPr>
        <p:spPr>
          <a:xfrm>
            <a:off x="6492240" y="4462272"/>
            <a:ext cx="384048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RFID/QR, seguridad, confirmación e incidencia FOD.</a:t>
            </a:r>
            <a:endParaRPr lang="en-US" sz="71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Operacion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ciclo cerrado: pedir, mover, confirmar, registrar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183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>
            <a:off x="68580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119786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77440" y="342900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059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550" dirty="0"/>
          </a:p>
        </p:txBody>
      </p:sp>
      <p:sp>
        <p:nvSpPr>
          <p:cNvPr id="14" name="Text 12"/>
          <p:cNvSpPr/>
          <p:nvPr/>
        </p:nvSpPr>
        <p:spPr>
          <a:xfrm>
            <a:off x="219456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carga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70662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86200" y="2926080"/>
            <a:ext cx="292608" cy="292608"/>
          </a:xfrm>
          <a:prstGeom prst="ellipse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935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550" dirty="0"/>
          </a:p>
        </p:txBody>
      </p:sp>
      <p:sp>
        <p:nvSpPr>
          <p:cNvPr id="18" name="Text 16"/>
          <p:cNvSpPr/>
          <p:nvPr/>
        </p:nvSpPr>
        <p:spPr>
          <a:xfrm>
            <a:off x="370332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421538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394960" y="3429000"/>
            <a:ext cx="292608" cy="292608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6811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550" dirty="0"/>
          </a:p>
        </p:txBody>
      </p:sp>
      <p:sp>
        <p:nvSpPr>
          <p:cNvPr id="22" name="Text 20"/>
          <p:cNvSpPr/>
          <p:nvPr/>
        </p:nvSpPr>
        <p:spPr>
          <a:xfrm>
            <a:off x="521208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572414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903720" y="2926080"/>
            <a:ext cx="292608" cy="292608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7687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550" dirty="0"/>
          </a:p>
        </p:txBody>
      </p:sp>
      <p:sp>
        <p:nvSpPr>
          <p:cNvPr id="26" name="Text 24"/>
          <p:cNvSpPr/>
          <p:nvPr/>
        </p:nvSpPr>
        <p:spPr>
          <a:xfrm>
            <a:off x="672084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7232904" y="3072384"/>
            <a:ext cx="749808" cy="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412480" y="3429000"/>
            <a:ext cx="292608" cy="292608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349300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8229600" y="399592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8741664" y="3575304"/>
            <a:ext cx="749808" cy="-50292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921240" y="2926080"/>
            <a:ext cx="292608" cy="29260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94392" y="2990088"/>
            <a:ext cx="146304" cy="91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550" dirty="0"/>
          </a:p>
        </p:txBody>
      </p:sp>
      <p:sp>
        <p:nvSpPr>
          <p:cNvPr id="34" name="Text 32"/>
          <p:cNvSpPr/>
          <p:nvPr/>
        </p:nvSpPr>
        <p:spPr>
          <a:xfrm>
            <a:off x="9738360" y="3493008"/>
            <a:ext cx="658368" cy="12801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</a:t>
            </a:r>
            <a:endParaRPr lang="en-US" sz="650" dirty="0"/>
          </a:p>
        </p:txBody>
      </p:sp>
      <p:sp>
        <p:nvSpPr>
          <p:cNvPr id="35" name="Text 33"/>
          <p:cNvSpPr/>
          <p:nvPr/>
        </p:nvSpPr>
        <p:spPr>
          <a:xfrm>
            <a:off x="2286000" y="5047488"/>
            <a:ext cx="27432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misión termina con evidencia: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4892040" y="5047488"/>
            <a:ext cx="4937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 confirmada + ruta registrada + excepcion documentada.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CoppeliaSim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simulación reduce riesgo antes del piloto físico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4663440" cy="3108960"/>
          </a:xfrm>
          <a:prstGeom prst="roundRect">
            <a:avLst>
              <a:gd name="adj" fmla="val 2353"/>
            </a:avLst>
          </a:prstGeom>
          <a:solidFill>
            <a:srgbClr val="EEF5F8"/>
          </a:solidFill>
          <a:ln w="12700">
            <a:solidFill>
              <a:srgbClr val="E2EA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960" y="1554480"/>
            <a:ext cx="973836" cy="630936"/>
          </a:xfrm>
          <a:prstGeom prst="roundRect">
            <a:avLst>
              <a:gd name="adj" fmla="val 11594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34256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47488" y="1643634"/>
            <a:ext cx="96012" cy="452628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1705356"/>
            <a:ext cx="329184" cy="329184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014" y="1808226"/>
            <a:ext cx="123444" cy="123444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5880" y="3886200"/>
            <a:ext cx="3291840" cy="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7720" y="3886200"/>
            <a:ext cx="0" cy="-1828800"/>
          </a:xfrm>
          <a:prstGeom prst="line">
            <a:avLst/>
          </a:prstGeom>
          <a:noFill/>
          <a:ln w="1524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389888"/>
            <a:ext cx="374904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cuatro pruebas antes de planta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46520" y="1993392"/>
            <a:ext cx="100584" cy="10058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0840" y="1874520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 + fusion: llegada nominal a estación HTP.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6446520" y="2560320"/>
            <a:ext cx="100584" cy="10058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441448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A* / Dijkstra: ruta alterna con pasillo bloqueado.</a:t>
            </a:r>
            <a:endParaRPr lang="en-US" sz="770" dirty="0"/>
          </a:p>
        </p:txBody>
      </p:sp>
      <p:sp>
        <p:nvSpPr>
          <p:cNvPr id="21" name="Shape 19"/>
          <p:cNvSpPr/>
          <p:nvPr/>
        </p:nvSpPr>
        <p:spPr>
          <a:xfrm>
            <a:off x="6446520" y="3127248"/>
            <a:ext cx="100584" cy="10058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0840" y="3008376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DWA / campos: cruce con operario y parada segura.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6446520" y="3694176"/>
            <a:ext cx="100584" cy="10058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20840" y="3575304"/>
            <a:ext cx="4206240" cy="25603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7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RGB-D: ronda FOD con captura de evidencia.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6446520" y="4663440"/>
            <a:ext cx="237744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minimo antes de planta:</a:t>
            </a:r>
            <a:endParaRPr lang="en-US" sz="720" dirty="0"/>
          </a:p>
        </p:txBody>
      </p:sp>
      <p:sp>
        <p:nvSpPr>
          <p:cNvPr id="26" name="Text 24"/>
          <p:cNvSpPr/>
          <p:nvPr/>
        </p:nvSpPr>
        <p:spPr>
          <a:xfrm>
            <a:off x="6446520" y="4956048"/>
            <a:ext cx="34747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95 % misiones entregan; cero contactos.</a:t>
            </a:r>
            <a:endParaRPr lang="en-US" sz="670" dirty="0"/>
          </a:p>
        </p:txBody>
      </p:sp>
      <p:sp>
        <p:nvSpPr>
          <p:cNvPr id="27" name="Text 25"/>
          <p:cNvSpPr/>
          <p:nvPr/>
        </p:nvSpPr>
        <p:spPr>
          <a:xfrm>
            <a:off x="6446520" y="5193792"/>
            <a:ext cx="35661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misiones cerradas y bateria validada.</a:t>
            </a:r>
            <a:endParaRPr lang="en-US" sz="6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Despliegue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Tres fases con entregables y criterio de paso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64592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Piloto controlado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103327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198.688 € CAPEX</a:t>
            </a:r>
            <a:endParaRPr lang="en-US" sz="830" dirty="0"/>
          </a:p>
        </p:txBody>
      </p:sp>
      <p:sp>
        <p:nvSpPr>
          <p:cNvPr id="12" name="Text 10"/>
          <p:cNvSpPr/>
          <p:nvPr/>
        </p:nvSpPr>
        <p:spPr>
          <a:xfrm>
            <a:off x="103327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Zona acotada y 1-2 estaciones.</a:t>
            </a:r>
            <a:endParaRPr lang="en-US" sz="640" dirty="0"/>
          </a:p>
        </p:txBody>
      </p:sp>
      <p:sp>
        <p:nvSpPr>
          <p:cNvPr id="13" name="Text 11"/>
          <p:cNvSpPr/>
          <p:nvPr/>
        </p:nvSpPr>
        <p:spPr>
          <a:xfrm>
            <a:off x="103327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RFID-QR y ronda FOD.</a:t>
            </a:r>
            <a:endParaRPr lang="en-US" sz="640" dirty="0"/>
          </a:p>
        </p:txBody>
      </p:sp>
      <p:sp>
        <p:nvSpPr>
          <p:cNvPr id="14" name="Text 12"/>
          <p:cNvSpPr/>
          <p:nvPr/>
        </p:nvSpPr>
        <p:spPr>
          <a:xfrm>
            <a:off x="103327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aceptación y falsas alarmas.</a:t>
            </a:r>
            <a:endParaRPr lang="en-US" sz="620" dirty="0"/>
          </a:p>
        </p:txBody>
      </p:sp>
      <p:sp>
        <p:nvSpPr>
          <p:cNvPr id="15" name="Text 13"/>
          <p:cNvSpPr/>
          <p:nvPr/>
        </p:nvSpPr>
        <p:spPr>
          <a:xfrm>
            <a:off x="103327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95 % misiones; 98 % trazas.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4068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Expansion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82803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904.736 € CAPEX</a:t>
            </a:r>
            <a:endParaRPr lang="en-US" sz="830" dirty="0"/>
          </a:p>
        </p:txBody>
      </p:sp>
      <p:sp>
        <p:nvSpPr>
          <p:cNvPr id="20" name="Text 18"/>
          <p:cNvSpPr/>
          <p:nvPr/>
        </p:nvSpPr>
        <p:spPr>
          <a:xfrm>
            <a:off x="482803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Varias estaciones y gestor de flota.</a:t>
            </a:r>
            <a:endParaRPr lang="en-US" sz="640" dirty="0"/>
          </a:p>
        </p:txBody>
      </p:sp>
      <p:sp>
        <p:nvSpPr>
          <p:cNvPr id="21" name="Text 19"/>
          <p:cNvSpPr/>
          <p:nvPr/>
        </p:nvSpPr>
        <p:spPr>
          <a:xfrm>
            <a:off x="482803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Retorno de útiles y tablero de incidencias.</a:t>
            </a:r>
            <a:endParaRPr lang="en-US" sz="640" dirty="0"/>
          </a:p>
        </p:txBody>
      </p:sp>
      <p:sp>
        <p:nvSpPr>
          <p:cNvPr id="22" name="Text 20"/>
          <p:cNvSpPr/>
          <p:nvPr/>
        </p:nvSpPr>
        <p:spPr>
          <a:xfrm>
            <a:off x="482803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pasillos y baterias.</a:t>
            </a:r>
            <a:endParaRPr lang="en-US" sz="620" dirty="0"/>
          </a:p>
        </p:txBody>
      </p:sp>
      <p:sp>
        <p:nvSpPr>
          <p:cNvPr id="23" name="Text 21"/>
          <p:cNvSpPr/>
          <p:nvPr/>
        </p:nvSpPr>
        <p:spPr>
          <a:xfrm>
            <a:off x="482803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disponibilidad &gt;= 90 %.</a:t>
            </a:r>
            <a:endParaRPr lang="en-US" sz="620" dirty="0"/>
          </a:p>
        </p:txBody>
      </p:sp>
      <p:sp>
        <p:nvSpPr>
          <p:cNvPr id="24" name="Shape 22"/>
          <p:cNvSpPr/>
          <p:nvPr/>
        </p:nvSpPr>
        <p:spPr>
          <a:xfrm>
            <a:off x="8366760" y="1234440"/>
            <a:ext cx="3337560" cy="41605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1572768"/>
            <a:ext cx="502920" cy="34747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235440" y="1664208"/>
            <a:ext cx="205740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Cobertura extendida</a:t>
            </a:r>
            <a:endParaRPr lang="en-US" sz="820" dirty="0"/>
          </a:p>
        </p:txBody>
      </p:sp>
      <p:sp>
        <p:nvSpPr>
          <p:cNvPr id="27" name="Text 25"/>
          <p:cNvSpPr/>
          <p:nvPr/>
        </p:nvSpPr>
        <p:spPr>
          <a:xfrm>
            <a:off x="8622792" y="2212848"/>
            <a:ext cx="16916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3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2.051.616 € CAPEX</a:t>
            </a:r>
            <a:endParaRPr lang="en-US" sz="830" dirty="0"/>
          </a:p>
        </p:txBody>
      </p:sp>
      <p:sp>
        <p:nvSpPr>
          <p:cNvPr id="28" name="Text 26"/>
          <p:cNvSpPr/>
          <p:nvPr/>
        </p:nvSpPr>
        <p:spPr>
          <a:xfrm>
            <a:off x="8622792" y="2788920"/>
            <a:ext cx="260604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Flujo auxiliar amplio e integración.</a:t>
            </a:r>
            <a:endParaRPr lang="en-US" sz="640" dirty="0"/>
          </a:p>
        </p:txBody>
      </p:sp>
      <p:sp>
        <p:nvSpPr>
          <p:cNvPr id="29" name="Text 27"/>
          <p:cNvSpPr/>
          <p:nvPr/>
        </p:nvSpPr>
        <p:spPr>
          <a:xfrm>
            <a:off x="8622792" y="306324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KPIs por turno y reservas de flota.</a:t>
            </a:r>
            <a:endParaRPr lang="en-US" sz="640" dirty="0"/>
          </a:p>
        </p:txBody>
      </p:sp>
      <p:sp>
        <p:nvSpPr>
          <p:cNvPr id="30" name="Text 28"/>
          <p:cNvSpPr/>
          <p:nvPr/>
        </p:nvSpPr>
        <p:spPr>
          <a:xfrm>
            <a:off x="8622792" y="3794760"/>
            <a:ext cx="26517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Riesgo: comprar antes de medir.</a:t>
            </a:r>
            <a:endParaRPr lang="en-US" sz="620" dirty="0"/>
          </a:p>
        </p:txBody>
      </p:sp>
      <p:sp>
        <p:nvSpPr>
          <p:cNvPr id="31" name="Text 29"/>
          <p:cNvSpPr/>
          <p:nvPr/>
        </p:nvSpPr>
        <p:spPr>
          <a:xfrm>
            <a:off x="8622792" y="4224528"/>
            <a:ext cx="260604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Pasa: beneficio cerca de VAN cero.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914400" y="5577840"/>
            <a:ext cx="36576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Regla comercial: no se escala por intuicion.</a:t>
            </a:r>
            <a:endParaRPr lang="en-US" sz="710" dirty="0"/>
          </a:p>
        </p:txBody>
      </p:sp>
      <p:sp>
        <p:nvSpPr>
          <p:cNvPr id="33" name="Text 31"/>
          <p:cNvSpPr/>
          <p:nvPr/>
        </p:nvSpPr>
        <p:spPr>
          <a:xfrm>
            <a:off x="4663440" y="5577840"/>
            <a:ext cx="53949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1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escala con trazas, seguridad, disponibilidad y uso real de flota.</a:t>
            </a:r>
            <a:endParaRPr lang="en-US" sz="7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Presupuesto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Partidas por escenario, sin caja negra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777240" y="1042416"/>
            <a:ext cx="2011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CAPEX estimado sin IVA</a:t>
            </a:r>
            <a:endParaRPr lang="en-US" sz="640" dirty="0"/>
          </a:p>
        </p:txBody>
      </p:sp>
      <p:sp>
        <p:nvSpPr>
          <p:cNvPr id="9" name="Text 7"/>
          <p:cNvSpPr/>
          <p:nvPr/>
        </p:nvSpPr>
        <p:spPr>
          <a:xfrm>
            <a:off x="77724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198.688 €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80467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1" name="Text 9"/>
          <p:cNvSpPr/>
          <p:nvPr/>
        </p:nvSpPr>
        <p:spPr>
          <a:xfrm>
            <a:off x="402336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904.736 €</a:t>
            </a:r>
            <a:endParaRPr lang="en-US" sz="1380" dirty="0"/>
          </a:p>
        </p:txBody>
      </p:sp>
      <p:sp>
        <p:nvSpPr>
          <p:cNvPr id="12" name="Text 10"/>
          <p:cNvSpPr/>
          <p:nvPr/>
        </p:nvSpPr>
        <p:spPr>
          <a:xfrm>
            <a:off x="405079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3" name="Text 11"/>
          <p:cNvSpPr/>
          <p:nvPr/>
        </p:nvSpPr>
        <p:spPr>
          <a:xfrm>
            <a:off x="7269480" y="1353312"/>
            <a:ext cx="2057400" cy="274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2.051.616 €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296912" y="1700784"/>
            <a:ext cx="1005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15" name="Shape 13"/>
          <p:cNvSpPr/>
          <p:nvPr/>
        </p:nvSpPr>
        <p:spPr>
          <a:xfrm>
            <a:off x="777240" y="2148840"/>
            <a:ext cx="10652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D6DE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41832" y="2331720"/>
            <a:ext cx="2286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Partida</a:t>
            </a:r>
            <a:endParaRPr lang="en-US" sz="63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8229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7699248" y="233172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630" dirty="0"/>
          </a:p>
        </p:txBody>
      </p:sp>
      <p:sp>
        <p:nvSpPr>
          <p:cNvPr id="19" name="Text 17"/>
          <p:cNvSpPr/>
          <p:nvPr/>
        </p:nvSpPr>
        <p:spPr>
          <a:xfrm>
            <a:off x="10149840" y="2331720"/>
            <a:ext cx="9144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630" dirty="0"/>
          </a:p>
        </p:txBody>
      </p:sp>
      <p:sp>
        <p:nvSpPr>
          <p:cNvPr id="20" name="Shape 18"/>
          <p:cNvSpPr/>
          <p:nvPr/>
        </p:nvSpPr>
        <p:spPr>
          <a:xfrm>
            <a:off x="941832" y="272491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78992" y="269748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AMR + sensores + portakits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5212080" y="269748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69.800</a:t>
            </a:r>
            <a:endParaRPr lang="en-US" sz="580" dirty="0"/>
          </a:p>
        </p:txBody>
      </p:sp>
      <p:sp>
        <p:nvSpPr>
          <p:cNvPr id="23" name="Text 21"/>
          <p:cNvSpPr/>
          <p:nvPr/>
        </p:nvSpPr>
        <p:spPr>
          <a:xfrm>
            <a:off x="7388352" y="269748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488.600</a:t>
            </a:r>
            <a:endParaRPr lang="en-US" sz="580" dirty="0"/>
          </a:p>
        </p:txBody>
      </p:sp>
      <p:sp>
        <p:nvSpPr>
          <p:cNvPr id="24" name="Text 22"/>
          <p:cNvSpPr/>
          <p:nvPr/>
        </p:nvSpPr>
        <p:spPr>
          <a:xfrm>
            <a:off x="9802368" y="269748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1.186.600</a:t>
            </a:r>
            <a:endParaRPr lang="en-US" sz="580" dirty="0"/>
          </a:p>
        </p:txBody>
      </p:sp>
      <p:sp>
        <p:nvSpPr>
          <p:cNvPr id="25" name="Shape 23"/>
          <p:cNvSpPr/>
          <p:nvPr/>
        </p:nvSpPr>
        <p:spPr>
          <a:xfrm>
            <a:off x="941832" y="300837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8992" y="298094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Software flota + trazabilidad</a:t>
            </a:r>
            <a:endParaRPr lang="en-US" sz="580" dirty="0"/>
          </a:p>
        </p:txBody>
      </p:sp>
      <p:sp>
        <p:nvSpPr>
          <p:cNvPr id="27" name="Text 25"/>
          <p:cNvSpPr/>
          <p:nvPr/>
        </p:nvSpPr>
        <p:spPr>
          <a:xfrm>
            <a:off x="5212080" y="298094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22.000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7388352" y="298094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58.000</a:t>
            </a:r>
            <a:endParaRPr lang="en-US" sz="580" dirty="0"/>
          </a:p>
        </p:txBody>
      </p:sp>
      <p:sp>
        <p:nvSpPr>
          <p:cNvPr id="29" name="Text 27"/>
          <p:cNvSpPr/>
          <p:nvPr/>
        </p:nvSpPr>
        <p:spPr>
          <a:xfrm>
            <a:off x="9802368" y="298094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105.000</a:t>
            </a:r>
            <a:endParaRPr lang="en-US" sz="580" dirty="0"/>
          </a:p>
        </p:txBody>
      </p:sp>
      <p:sp>
        <p:nvSpPr>
          <p:cNvPr id="30" name="Shape 28"/>
          <p:cNvSpPr/>
          <p:nvPr/>
        </p:nvSpPr>
        <p:spPr>
          <a:xfrm>
            <a:off x="941832" y="3291840"/>
            <a:ext cx="54864" cy="54864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78992" y="326440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Ingenieria + CoppeliaSim</a:t>
            </a:r>
            <a:endParaRPr lang="en-US" sz="580" dirty="0"/>
          </a:p>
        </p:txBody>
      </p:sp>
      <p:sp>
        <p:nvSpPr>
          <p:cNvPr id="32" name="Text 30"/>
          <p:cNvSpPr/>
          <p:nvPr/>
        </p:nvSpPr>
        <p:spPr>
          <a:xfrm>
            <a:off x="5212080" y="326440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42.000</a:t>
            </a:r>
            <a:endParaRPr lang="en-US" sz="580" dirty="0"/>
          </a:p>
        </p:txBody>
      </p:sp>
      <p:sp>
        <p:nvSpPr>
          <p:cNvPr id="33" name="Text 31"/>
          <p:cNvSpPr/>
          <p:nvPr/>
        </p:nvSpPr>
        <p:spPr>
          <a:xfrm>
            <a:off x="7388352" y="326440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112.000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9802368" y="326440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215.000</a:t>
            </a:r>
            <a:endParaRPr lang="en-US" sz="580" dirty="0"/>
          </a:p>
        </p:txBody>
      </p:sp>
      <p:sp>
        <p:nvSpPr>
          <p:cNvPr id="35" name="Shape 33"/>
          <p:cNvSpPr/>
          <p:nvPr/>
        </p:nvSpPr>
        <p:spPr>
          <a:xfrm>
            <a:off x="941832" y="3575304"/>
            <a:ext cx="54864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78992" y="3547872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Instalacion + mapeo + SAT</a:t>
            </a:r>
            <a:endParaRPr lang="en-US" sz="580" dirty="0"/>
          </a:p>
        </p:txBody>
      </p:sp>
      <p:sp>
        <p:nvSpPr>
          <p:cNvPr id="37" name="Text 35"/>
          <p:cNvSpPr/>
          <p:nvPr/>
        </p:nvSpPr>
        <p:spPr>
          <a:xfrm>
            <a:off x="5212080" y="3547872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18.000</a:t>
            </a:r>
            <a:endParaRPr lang="en-US" sz="580" dirty="0"/>
          </a:p>
        </p:txBody>
      </p:sp>
      <p:sp>
        <p:nvSpPr>
          <p:cNvPr id="38" name="Text 36"/>
          <p:cNvSpPr/>
          <p:nvPr/>
        </p:nvSpPr>
        <p:spPr>
          <a:xfrm>
            <a:off x="7388352" y="3547872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52.000</a:t>
            </a:r>
            <a:endParaRPr lang="en-US" sz="580" dirty="0"/>
          </a:p>
        </p:txBody>
      </p:sp>
      <p:sp>
        <p:nvSpPr>
          <p:cNvPr id="39" name="Text 37"/>
          <p:cNvSpPr/>
          <p:nvPr/>
        </p:nvSpPr>
        <p:spPr>
          <a:xfrm>
            <a:off x="9802368" y="3547872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120.000</a:t>
            </a:r>
            <a:endParaRPr lang="en-US" sz="580" dirty="0"/>
          </a:p>
        </p:txBody>
      </p:sp>
      <p:sp>
        <p:nvSpPr>
          <p:cNvPr id="40" name="Shape 38"/>
          <p:cNvSpPr/>
          <p:nvPr/>
        </p:nvSpPr>
        <p:spPr>
          <a:xfrm>
            <a:off x="941832" y="3858768"/>
            <a:ext cx="54864" cy="54864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78992" y="3831336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 + cambio operativo</a:t>
            </a:r>
            <a:endParaRPr lang="en-US" sz="580" dirty="0"/>
          </a:p>
        </p:txBody>
      </p:sp>
      <p:sp>
        <p:nvSpPr>
          <p:cNvPr id="42" name="Text 40"/>
          <p:cNvSpPr/>
          <p:nvPr/>
        </p:nvSpPr>
        <p:spPr>
          <a:xfrm>
            <a:off x="5212080" y="3831336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8.500</a:t>
            </a:r>
            <a:endParaRPr lang="en-US" sz="580" dirty="0"/>
          </a:p>
        </p:txBody>
      </p:sp>
      <p:sp>
        <p:nvSpPr>
          <p:cNvPr id="43" name="Text 41"/>
          <p:cNvSpPr/>
          <p:nvPr/>
        </p:nvSpPr>
        <p:spPr>
          <a:xfrm>
            <a:off x="7388352" y="3831336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24.000</a:t>
            </a:r>
            <a:endParaRPr lang="en-US" sz="580" dirty="0"/>
          </a:p>
        </p:txBody>
      </p:sp>
      <p:sp>
        <p:nvSpPr>
          <p:cNvPr id="44" name="Text 42"/>
          <p:cNvSpPr/>
          <p:nvPr/>
        </p:nvSpPr>
        <p:spPr>
          <a:xfrm>
            <a:off x="9802368" y="3831336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42.000</a:t>
            </a:r>
            <a:endParaRPr lang="en-US" sz="580" dirty="0"/>
          </a:p>
        </p:txBody>
      </p:sp>
      <p:sp>
        <p:nvSpPr>
          <p:cNvPr id="45" name="Shape 43"/>
          <p:cNvSpPr/>
          <p:nvPr/>
        </p:nvSpPr>
        <p:spPr>
          <a:xfrm>
            <a:off x="941832" y="4142232"/>
            <a:ext cx="54864" cy="54864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78992" y="4114800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Mantenimiento año 1</a:t>
            </a:r>
            <a:endParaRPr lang="en-US" sz="580" dirty="0"/>
          </a:p>
        </p:txBody>
      </p:sp>
      <p:sp>
        <p:nvSpPr>
          <p:cNvPr id="47" name="Text 45"/>
          <p:cNvSpPr/>
          <p:nvPr/>
        </p:nvSpPr>
        <p:spPr>
          <a:xfrm>
            <a:off x="5212080" y="4114800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5.600</a:t>
            </a:r>
            <a:endParaRPr lang="en-US" sz="580" dirty="0"/>
          </a:p>
        </p:txBody>
      </p:sp>
      <p:sp>
        <p:nvSpPr>
          <p:cNvPr id="48" name="Text 46"/>
          <p:cNvSpPr/>
          <p:nvPr/>
        </p:nvSpPr>
        <p:spPr>
          <a:xfrm>
            <a:off x="7388352" y="4114800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39.200</a:t>
            </a:r>
            <a:endParaRPr lang="en-US" sz="580" dirty="0"/>
          </a:p>
        </p:txBody>
      </p:sp>
      <p:sp>
        <p:nvSpPr>
          <p:cNvPr id="49" name="Text 47"/>
          <p:cNvSpPr/>
          <p:nvPr/>
        </p:nvSpPr>
        <p:spPr>
          <a:xfrm>
            <a:off x="9802368" y="4114800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95.200</a:t>
            </a:r>
            <a:endParaRPr lang="en-US" sz="580" dirty="0"/>
          </a:p>
        </p:txBody>
      </p:sp>
      <p:sp>
        <p:nvSpPr>
          <p:cNvPr id="50" name="Shape 48"/>
          <p:cNvSpPr/>
          <p:nvPr/>
        </p:nvSpPr>
        <p:spPr>
          <a:xfrm>
            <a:off x="941832" y="4425696"/>
            <a:ext cx="54864" cy="54864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078992" y="4398264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Logistica + ciber + docs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5212080" y="4398264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11.500</a:t>
            </a:r>
            <a:endParaRPr lang="en-US" sz="580" dirty="0"/>
          </a:p>
        </p:txBody>
      </p:sp>
      <p:sp>
        <p:nvSpPr>
          <p:cNvPr id="53" name="Text 51"/>
          <p:cNvSpPr/>
          <p:nvPr/>
        </p:nvSpPr>
        <p:spPr>
          <a:xfrm>
            <a:off x="7388352" y="4398264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34.000</a:t>
            </a:r>
            <a:endParaRPr lang="en-US" sz="580" dirty="0"/>
          </a:p>
        </p:txBody>
      </p:sp>
      <p:sp>
        <p:nvSpPr>
          <p:cNvPr id="54" name="Text 52"/>
          <p:cNvSpPr/>
          <p:nvPr/>
        </p:nvSpPr>
        <p:spPr>
          <a:xfrm>
            <a:off x="9802368" y="4398264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68.000</a:t>
            </a:r>
            <a:endParaRPr lang="en-US" sz="580" dirty="0"/>
          </a:p>
        </p:txBody>
      </p:sp>
      <p:sp>
        <p:nvSpPr>
          <p:cNvPr id="55" name="Shape 53"/>
          <p:cNvSpPr/>
          <p:nvPr/>
        </p:nvSpPr>
        <p:spPr>
          <a:xfrm>
            <a:off x="941832" y="4709160"/>
            <a:ext cx="54864" cy="548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78992" y="4681728"/>
            <a:ext cx="32918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b="1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Contingencia + margen 12 %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5212080" y="4681728"/>
            <a:ext cx="10972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21.288</a:t>
            </a:r>
            <a:endParaRPr lang="en-US" sz="580" dirty="0"/>
          </a:p>
        </p:txBody>
      </p:sp>
      <p:sp>
        <p:nvSpPr>
          <p:cNvPr id="58" name="Text 56"/>
          <p:cNvSpPr/>
          <p:nvPr/>
        </p:nvSpPr>
        <p:spPr>
          <a:xfrm>
            <a:off x="7388352" y="4681728"/>
            <a:ext cx="11887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96.936</a:t>
            </a:r>
            <a:endParaRPr lang="en-US" sz="580" dirty="0"/>
          </a:p>
        </p:txBody>
      </p:sp>
      <p:sp>
        <p:nvSpPr>
          <p:cNvPr id="59" name="Text 57"/>
          <p:cNvSpPr/>
          <p:nvPr/>
        </p:nvSpPr>
        <p:spPr>
          <a:xfrm>
            <a:off x="9802368" y="4681728"/>
            <a:ext cx="128016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r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219.816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804672" y="5532120"/>
            <a:ext cx="65836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Referencias publicas: MiR250, LD-250, Hokuyo, Intel RealSense y Zebra.</a:t>
            </a:r>
            <a:endParaRPr lang="en-US" sz="640" dirty="0"/>
          </a:p>
        </p:txBody>
      </p:sp>
      <p:sp>
        <p:nvSpPr>
          <p:cNvPr id="61" name="Text 59"/>
          <p:cNvSpPr/>
          <p:nvPr/>
        </p:nvSpPr>
        <p:spPr>
          <a:xfrm>
            <a:off x="7498080" y="5532120"/>
            <a:ext cx="21031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4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cotizacion vinculante.</a:t>
            </a:r>
            <a:endParaRPr lang="en-US" sz="6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ROI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Tiempo recuperado frente a umbral financiero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14/16</a:t>
            </a:r>
            <a:endParaRPr lang="en-US" sz="620" dirty="0"/>
          </a:p>
        </p:txBody>
      </p:sp>
      <p:sp>
        <p:nvSpPr>
          <p:cNvPr id="8" name="Shape 6"/>
          <p:cNvSpPr/>
          <p:nvPr/>
        </p:nvSpPr>
        <p:spPr>
          <a:xfrm>
            <a:off x="777240" y="1170432"/>
            <a:ext cx="3429000" cy="4297680"/>
          </a:xfrm>
          <a:prstGeom prst="roundRect">
            <a:avLst>
              <a:gd name="adj" fmla="val 2133"/>
            </a:avLst>
          </a:prstGeom>
          <a:solidFill>
            <a:srgbClr val="EAF7F6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353312"/>
            <a:ext cx="2011680" cy="47548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Supuesto 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calculo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9264" y="2103120"/>
            <a:ext cx="256032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Salario guia: 20.000-28.000 €/año.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969264" y="2395728"/>
            <a:ext cx="21945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Caso central: 24.000 €.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69264" y="2688336"/>
            <a:ext cx="265176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 empresa 1,35; 1.760 h/año.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960120" y="3246120"/>
            <a:ext cx="2103120" cy="31089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18,4 €/h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552" y="3913632"/>
            <a:ext cx="2560320" cy="29260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7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monetiza tiempo improductivo; no reducción de plantilla.</a:t>
            </a:r>
            <a:endParaRPr lang="en-US" sz="670" dirty="0"/>
          </a:p>
        </p:txBody>
      </p:sp>
      <p:sp>
        <p:nvSpPr>
          <p:cNvPr id="15" name="Text 13"/>
          <p:cNvSpPr/>
          <p:nvPr/>
        </p:nvSpPr>
        <p:spPr>
          <a:xfrm>
            <a:off x="4617720" y="1298448"/>
            <a:ext cx="4023360" cy="20116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Beneficio anual: recuperado vs VAN cero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17720" y="1627632"/>
            <a:ext cx="146304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horas recuperadas</a:t>
            </a:r>
            <a:endParaRPr lang="en-US" sz="570" dirty="0"/>
          </a:p>
        </p:txBody>
      </p:sp>
      <p:sp>
        <p:nvSpPr>
          <p:cNvPr id="17" name="Text 15"/>
          <p:cNvSpPr/>
          <p:nvPr/>
        </p:nvSpPr>
        <p:spPr>
          <a:xfrm>
            <a:off x="6446520" y="1627632"/>
            <a:ext cx="13716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70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umbral VAN cero</a:t>
            </a:r>
            <a:endParaRPr lang="en-US" sz="570" dirty="0"/>
          </a:p>
        </p:txBody>
      </p:sp>
      <p:sp>
        <p:nvSpPr>
          <p:cNvPr id="18" name="Text 16"/>
          <p:cNvSpPr/>
          <p:nvPr/>
        </p:nvSpPr>
        <p:spPr>
          <a:xfrm>
            <a:off x="4617720" y="224028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robot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5532120" y="224028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825 h/año</a:t>
            </a:r>
            <a:endParaRPr lang="en-US" sz="580" dirty="0"/>
          </a:p>
        </p:txBody>
      </p:sp>
      <p:sp>
        <p:nvSpPr>
          <p:cNvPr id="20" name="Shape 18"/>
          <p:cNvSpPr/>
          <p:nvPr/>
        </p:nvSpPr>
        <p:spPr>
          <a:xfrm>
            <a:off x="6812280" y="2194560"/>
            <a:ext cx="29260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12280" y="2404872"/>
            <a:ext cx="1060704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50608" y="214884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15.180 €</a:t>
            </a:r>
            <a:endParaRPr lang="en-US" sz="550" dirty="0"/>
          </a:p>
        </p:txBody>
      </p:sp>
      <p:sp>
        <p:nvSpPr>
          <p:cNvPr id="23" name="Text 21"/>
          <p:cNvSpPr/>
          <p:nvPr/>
        </p:nvSpPr>
        <p:spPr>
          <a:xfrm>
            <a:off x="7918704" y="235915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62.829 €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4617720" y="320040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robots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532120" y="320040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5.940 h/año</a:t>
            </a:r>
            <a:endParaRPr lang="en-US" sz="580" dirty="0"/>
          </a:p>
        </p:txBody>
      </p:sp>
      <p:sp>
        <p:nvSpPr>
          <p:cNvPr id="26" name="Shape 24"/>
          <p:cNvSpPr/>
          <p:nvPr/>
        </p:nvSpPr>
        <p:spPr>
          <a:xfrm>
            <a:off x="6812280" y="3154680"/>
            <a:ext cx="1847088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2280" y="3364992"/>
            <a:ext cx="288036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05088" y="310896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109.296 €</a:t>
            </a:r>
            <a:endParaRPr lang="en-US" sz="550" dirty="0"/>
          </a:p>
        </p:txBody>
      </p:sp>
      <p:sp>
        <p:nvSpPr>
          <p:cNvPr id="29" name="Text 27"/>
          <p:cNvSpPr/>
          <p:nvPr/>
        </p:nvSpPr>
        <p:spPr>
          <a:xfrm>
            <a:off x="9738360" y="331927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316.429 €</a:t>
            </a:r>
            <a:endParaRPr lang="en-US" sz="550" dirty="0"/>
          </a:p>
        </p:txBody>
      </p:sp>
      <p:sp>
        <p:nvSpPr>
          <p:cNvPr id="30" name="Text 28"/>
          <p:cNvSpPr/>
          <p:nvPr/>
        </p:nvSpPr>
        <p:spPr>
          <a:xfrm>
            <a:off x="4617720" y="4160520"/>
            <a:ext cx="914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robots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532120" y="4160520"/>
            <a:ext cx="10515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14.000 h/año</a:t>
            </a:r>
            <a:endParaRPr lang="en-US" sz="580" dirty="0"/>
          </a:p>
        </p:txBody>
      </p:sp>
      <p:sp>
        <p:nvSpPr>
          <p:cNvPr id="32" name="Shape 30"/>
          <p:cNvSpPr/>
          <p:nvPr/>
        </p:nvSpPr>
        <p:spPr>
          <a:xfrm>
            <a:off x="6812280" y="4114800"/>
            <a:ext cx="3063240" cy="109728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12280" y="4325112"/>
            <a:ext cx="4160520" cy="109728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921240" y="4069080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257.600 €</a:t>
            </a:r>
            <a:endParaRPr lang="en-US" sz="550" dirty="0"/>
          </a:p>
        </p:txBody>
      </p:sp>
      <p:sp>
        <p:nvSpPr>
          <p:cNvPr id="35" name="Text 33"/>
          <p:cNvSpPr/>
          <p:nvPr/>
        </p:nvSpPr>
        <p:spPr>
          <a:xfrm>
            <a:off x="11018520" y="4279392"/>
            <a:ext cx="86868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5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714.125 €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4617720" y="5230368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Lectura: con solo horas recuperadas el VAN central sigue exigente.</a:t>
            </a:r>
            <a:endParaRPr lang="en-US" sz="630" dirty="0"/>
          </a:p>
        </p:txBody>
      </p:sp>
      <p:sp>
        <p:nvSpPr>
          <p:cNvPr id="37" name="Text 35"/>
          <p:cNvSpPr/>
          <p:nvPr/>
        </p:nvSpPr>
        <p:spPr>
          <a:xfrm>
            <a:off x="4617720" y="5468112"/>
            <a:ext cx="585216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 o 17 robots requieren menos esperas, continuidad de flujo y menor riesgo FOD.</a:t>
            </a:r>
            <a:endParaRPr lang="en-US" sz="630" dirty="0"/>
          </a:p>
        </p:txBody>
      </p:sp>
      <p:sp>
        <p:nvSpPr>
          <p:cNvPr id="38" name="Text 36"/>
          <p:cNvSpPr/>
          <p:nvPr/>
        </p:nvSpPr>
        <p:spPr>
          <a:xfrm>
            <a:off x="4617720" y="5705856"/>
            <a:ext cx="48463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decisión final debe usar datos reales hacia 80 HTP/mes.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Oferta comercial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Entregables y condiciones de aceptación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04672" y="1234440"/>
            <a:ext cx="30175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128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Entregables de la fase piloto</a:t>
            </a:r>
            <a:endParaRPr lang="en-US" sz="1280" dirty="0"/>
          </a:p>
        </p:txBody>
      </p:sp>
      <p:sp>
        <p:nvSpPr>
          <p:cNvPr id="9" name="Shape 7"/>
          <p:cNvSpPr/>
          <p:nvPr/>
        </p:nvSpPr>
        <p:spPr>
          <a:xfrm>
            <a:off x="868680" y="1920240"/>
            <a:ext cx="73152" cy="73152"/>
          </a:xfrm>
          <a:prstGeom prst="rect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0704" y="183794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operativo</a:t>
            </a:r>
            <a:endParaRPr lang="en-US" sz="660" dirty="0"/>
          </a:p>
        </p:txBody>
      </p:sp>
      <p:sp>
        <p:nvSpPr>
          <p:cNvPr id="11" name="Text 9"/>
          <p:cNvSpPr/>
          <p:nvPr/>
        </p:nvSpPr>
        <p:spPr>
          <a:xfrm>
            <a:off x="1060704" y="205740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rutas, zonas lentas, carga y entrega</a:t>
            </a:r>
            <a:endParaRPr lang="en-US" sz="580" dirty="0"/>
          </a:p>
        </p:txBody>
      </p:sp>
      <p:sp>
        <p:nvSpPr>
          <p:cNvPr id="12" name="Shape 10"/>
          <p:cNvSpPr/>
          <p:nvPr/>
        </p:nvSpPr>
        <p:spPr>
          <a:xfrm>
            <a:off x="868680" y="2395728"/>
            <a:ext cx="73152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313432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Configuracion AMR</a:t>
            </a:r>
            <a:endParaRPr lang="en-US" sz="660" dirty="0"/>
          </a:p>
        </p:txBody>
      </p:sp>
      <p:sp>
        <p:nvSpPr>
          <p:cNvPr id="14" name="Text 12"/>
          <p:cNvSpPr/>
          <p:nvPr/>
        </p:nvSpPr>
        <p:spPr>
          <a:xfrm>
            <a:off x="1060704" y="2532888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misiones, prioridades y reglas de bateria</a:t>
            </a:r>
            <a:endParaRPr lang="en-US" sz="580" dirty="0"/>
          </a:p>
        </p:txBody>
      </p:sp>
      <p:sp>
        <p:nvSpPr>
          <p:cNvPr id="15" name="Shape 13"/>
          <p:cNvSpPr/>
          <p:nvPr/>
        </p:nvSpPr>
        <p:spPr>
          <a:xfrm>
            <a:off x="868680" y="2871216"/>
            <a:ext cx="73152" cy="73152"/>
          </a:xfrm>
          <a:prstGeom prst="rect">
            <a:avLst/>
          </a:prstGeom>
          <a:solidFill>
            <a:srgbClr val="6D5BD0"/>
          </a:solidFill>
          <a:ln w="12700">
            <a:solidFill>
              <a:srgbClr val="6D5BD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0704" y="2788920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60" dirty="0"/>
          </a:p>
        </p:txBody>
      </p:sp>
      <p:sp>
        <p:nvSpPr>
          <p:cNvPr id="17" name="Text 15"/>
          <p:cNvSpPr/>
          <p:nvPr/>
        </p:nvSpPr>
        <p:spPr>
          <a:xfrm>
            <a:off x="1060704" y="3008376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BD, RFID-QR, HMI y excepciones</a:t>
            </a:r>
            <a:endParaRPr lang="en-US" sz="580" dirty="0"/>
          </a:p>
        </p:txBody>
      </p:sp>
      <p:sp>
        <p:nvSpPr>
          <p:cNvPr id="18" name="Shape 16"/>
          <p:cNvSpPr/>
          <p:nvPr/>
        </p:nvSpPr>
        <p:spPr>
          <a:xfrm>
            <a:off x="868680" y="3346704"/>
            <a:ext cx="73152" cy="7315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" y="3264408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 preventivo</a:t>
            </a:r>
            <a:endParaRPr lang="en-US" sz="660" dirty="0"/>
          </a:p>
        </p:txBody>
      </p:sp>
      <p:sp>
        <p:nvSpPr>
          <p:cNvPr id="20" name="Text 18"/>
          <p:cNvSpPr/>
          <p:nvPr/>
        </p:nvSpPr>
        <p:spPr>
          <a:xfrm>
            <a:off x="1060704" y="3483864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rondas con imagen y validación humana</a:t>
            </a:r>
            <a:endParaRPr lang="en-US" sz="580" dirty="0"/>
          </a:p>
        </p:txBody>
      </p:sp>
      <p:sp>
        <p:nvSpPr>
          <p:cNvPr id="21" name="Shape 19"/>
          <p:cNvSpPr/>
          <p:nvPr/>
        </p:nvSpPr>
        <p:spPr>
          <a:xfrm>
            <a:off x="868680" y="3822192"/>
            <a:ext cx="73152" cy="73152"/>
          </a:xfrm>
          <a:prstGeom prst="rect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04" y="3739896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Validacion CoppeliaSim</a:t>
            </a:r>
            <a:endParaRPr lang="en-US" sz="660" dirty="0"/>
          </a:p>
        </p:txBody>
      </p:sp>
      <p:sp>
        <p:nvSpPr>
          <p:cNvPr id="23" name="Text 21"/>
          <p:cNvSpPr/>
          <p:nvPr/>
        </p:nvSpPr>
        <p:spPr>
          <a:xfrm>
            <a:off x="1060704" y="3959352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SLAM, ruta bloqueada, cruce y FOD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868680" y="4297680"/>
            <a:ext cx="73152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4215384"/>
            <a:ext cx="205740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6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Formacion</a:t>
            </a:r>
            <a:endParaRPr lang="en-US" sz="660" dirty="0"/>
          </a:p>
        </p:txBody>
      </p:sp>
      <p:sp>
        <p:nvSpPr>
          <p:cNvPr id="26" name="Text 24"/>
          <p:cNvSpPr/>
          <p:nvPr/>
        </p:nvSpPr>
        <p:spPr>
          <a:xfrm>
            <a:off x="1060704" y="4434840"/>
            <a:ext cx="51206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8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operarios, supervisores y mantenimiento</a:t>
            </a:r>
            <a:endParaRPr lang="en-US" sz="580" dirty="0"/>
          </a:p>
        </p:txBody>
      </p:sp>
      <p:sp>
        <p:nvSpPr>
          <p:cNvPr id="27" name="Shape 25"/>
          <p:cNvSpPr/>
          <p:nvPr/>
        </p:nvSpPr>
        <p:spPr>
          <a:xfrm>
            <a:off x="7315200" y="1234440"/>
            <a:ext cx="4160520" cy="4343400"/>
          </a:xfrm>
          <a:prstGeom prst="roundRect">
            <a:avLst>
              <a:gd name="adj" fmla="val 1758"/>
            </a:avLst>
          </a:prstGeom>
          <a:solidFill>
            <a:srgbClr val="FFF7EF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71232" y="1572768"/>
            <a:ext cx="1828800" cy="1828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Gate de aceptación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07808" y="2148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Seguridad</a:t>
            </a:r>
            <a:endParaRPr lang="en-US" sz="600" dirty="0"/>
          </a:p>
        </p:txBody>
      </p:sp>
      <p:sp>
        <p:nvSpPr>
          <p:cNvPr id="30" name="Text 28"/>
          <p:cNvSpPr/>
          <p:nvPr/>
        </p:nvSpPr>
        <p:spPr>
          <a:xfrm>
            <a:off x="8942832" y="2148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contactos o incidentes con daño</a:t>
            </a:r>
            <a:endParaRPr lang="en-US" sz="590" dirty="0"/>
          </a:p>
        </p:txBody>
      </p:sp>
      <p:sp>
        <p:nvSpPr>
          <p:cNvPr id="31" name="Shape 29"/>
          <p:cNvSpPr/>
          <p:nvPr/>
        </p:nvSpPr>
        <p:spPr>
          <a:xfrm>
            <a:off x="7571232" y="2404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07808" y="26060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Misiones</a:t>
            </a:r>
            <a:endParaRPr lang="en-US" sz="600" dirty="0"/>
          </a:p>
        </p:txBody>
      </p:sp>
      <p:sp>
        <p:nvSpPr>
          <p:cNvPr id="33" name="Text 31"/>
          <p:cNvSpPr/>
          <p:nvPr/>
        </p:nvSpPr>
        <p:spPr>
          <a:xfrm>
            <a:off x="8942832" y="26060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95 % completadas</a:t>
            </a:r>
            <a:endParaRPr lang="en-US" sz="590" dirty="0"/>
          </a:p>
        </p:txBody>
      </p:sp>
      <p:sp>
        <p:nvSpPr>
          <p:cNvPr id="34" name="Shape 32"/>
          <p:cNvSpPr/>
          <p:nvPr/>
        </p:nvSpPr>
        <p:spPr>
          <a:xfrm>
            <a:off x="7571232" y="28620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07808" y="30632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Trazabilidad</a:t>
            </a:r>
            <a:endParaRPr lang="en-US" sz="600" dirty="0"/>
          </a:p>
        </p:txBody>
      </p:sp>
      <p:sp>
        <p:nvSpPr>
          <p:cNvPr id="36" name="Text 34"/>
          <p:cNvSpPr/>
          <p:nvPr/>
        </p:nvSpPr>
        <p:spPr>
          <a:xfrm>
            <a:off x="8942832" y="30632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98 % con registro completo</a:t>
            </a:r>
            <a:endParaRPr lang="en-US" sz="590" dirty="0"/>
          </a:p>
        </p:txBody>
      </p:sp>
      <p:sp>
        <p:nvSpPr>
          <p:cNvPr id="37" name="Shape 35"/>
          <p:cNvSpPr/>
          <p:nvPr/>
        </p:nvSpPr>
        <p:spPr>
          <a:xfrm>
            <a:off x="7571232" y="33192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607808" y="35204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Disponibilidad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8942832" y="35204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&gt;= 90 % en turno piloto</a:t>
            </a:r>
            <a:endParaRPr lang="en-US" sz="590" dirty="0"/>
          </a:p>
        </p:txBody>
      </p:sp>
      <p:sp>
        <p:nvSpPr>
          <p:cNvPr id="40" name="Shape 38"/>
          <p:cNvSpPr/>
          <p:nvPr/>
        </p:nvSpPr>
        <p:spPr>
          <a:xfrm>
            <a:off x="7571232" y="37764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607808" y="39776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FOD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8942832" y="39776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100 % eventos revisables</a:t>
            </a:r>
            <a:endParaRPr lang="en-US" sz="590" dirty="0"/>
          </a:p>
        </p:txBody>
      </p:sp>
      <p:sp>
        <p:nvSpPr>
          <p:cNvPr id="43" name="Shape 41"/>
          <p:cNvSpPr/>
          <p:nvPr/>
        </p:nvSpPr>
        <p:spPr>
          <a:xfrm>
            <a:off x="7571232" y="42336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607808" y="4434840"/>
            <a:ext cx="114300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DB7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Escalado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942832" y="4434840"/>
            <a:ext cx="1874520" cy="14630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59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con VAN y datos de flujo</a:t>
            </a:r>
            <a:endParaRPr lang="en-US" sz="590" dirty="0"/>
          </a:p>
        </p:txBody>
      </p:sp>
      <p:sp>
        <p:nvSpPr>
          <p:cNvPr id="46" name="Shape 44"/>
          <p:cNvSpPr/>
          <p:nvPr/>
        </p:nvSpPr>
        <p:spPr>
          <a:xfrm>
            <a:off x="7571232" y="4690872"/>
            <a:ext cx="3429000" cy="0"/>
          </a:xfrm>
          <a:prstGeom prst="line">
            <a:avLst/>
          </a:prstGeom>
          <a:noFill/>
          <a:ln w="7620">
            <a:solidFill>
              <a:srgbClr val="D6DE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1232" y="5047488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Exclusion explicita: no se certifica montaje HTP.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7571232" y="5266944"/>
            <a:ext cx="338328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B91C1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Tampoco sustituye inspección aeronautica obligatoria.</a:t>
            </a:r>
            <a:endParaRPr lang="en-US" sz="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19456"/>
            <a:ext cx="5303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7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Cierre</a:t>
            </a:r>
            <a:endParaRPr lang="en-US" sz="670" dirty="0"/>
          </a:p>
        </p:txBody>
      </p:sp>
      <p:sp>
        <p:nvSpPr>
          <p:cNvPr id="4" name="Text 2"/>
          <p:cNvSpPr/>
          <p:nvPr/>
        </p:nvSpPr>
        <p:spPr>
          <a:xfrm>
            <a:off x="502920" y="429768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Recomendacion: medir antes de escalar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6528816"/>
            <a:ext cx="4389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Actividad 1  •  Sistemas Robóticos Móviles</a:t>
            </a:r>
            <a:endParaRPr lang="en-US" sz="620" dirty="0"/>
          </a:p>
        </p:txBody>
      </p:sp>
      <p:sp>
        <p:nvSpPr>
          <p:cNvPr id="6" name="Text 4"/>
          <p:cNvSpPr/>
          <p:nvPr/>
        </p:nvSpPr>
        <p:spPr>
          <a:xfrm>
            <a:off x="7635240" y="6528816"/>
            <a:ext cx="3977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Lunabotics  •  Alestis Puerto Real  •  HTP A320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11384280" y="201168"/>
            <a:ext cx="3200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5D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16/16</a:t>
            </a:r>
            <a:endParaRPr lang="en-US" sz="620" dirty="0"/>
          </a:p>
        </p:txBody>
      </p:sp>
      <p:sp>
        <p:nvSpPr>
          <p:cNvPr id="8" name="Text 6"/>
          <p:cNvSpPr/>
          <p:nvPr/>
        </p:nvSpPr>
        <p:spPr>
          <a:xfrm>
            <a:off x="822960" y="1325880"/>
            <a:ext cx="347472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7A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robot primero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68680" y="1975104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Validar rutas, seguridad y entregas.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2286000"/>
            <a:ext cx="301752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1B243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Medir trazabilidad, FOD y aceptación.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596896"/>
            <a:ext cx="2194560" cy="21945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020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Escalar solo con datos.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583680" y="1828800"/>
            <a:ext cx="1493215" cy="967435"/>
          </a:xfrm>
          <a:prstGeom prst="roundRect">
            <a:avLst>
              <a:gd name="adj" fmla="val 7561"/>
            </a:avLst>
          </a:prstGeom>
          <a:solidFill>
            <a:srgbClr val="E9F5FA"/>
          </a:solidFill>
          <a:ln w="12700">
            <a:solidFill>
              <a:srgbClr val="1020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09867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03490" y="1965503"/>
            <a:ext cx="147218" cy="694030"/>
          </a:xfrm>
          <a:prstGeom prst="rect">
            <a:avLst/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8429" y="2060143"/>
            <a:ext cx="504749" cy="504749"/>
          </a:xfrm>
          <a:prstGeom prst="ellipse">
            <a:avLst/>
          </a:prstGeom>
          <a:solidFill>
            <a:srgbClr val="BDEAF6"/>
          </a:solidFill>
          <a:ln w="13970">
            <a:solidFill>
              <a:srgbClr val="2DB7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46163" y="2217877"/>
            <a:ext cx="189281" cy="189281"/>
          </a:xfrm>
          <a:prstGeom prst="ellipse">
            <a:avLst/>
          </a:prstGeom>
          <a:solidFill>
            <a:srgbClr val="2DB7E5"/>
          </a:solidFill>
          <a:ln w="12700">
            <a:solidFill>
              <a:srgbClr val="2DB7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2240280"/>
            <a:ext cx="1325880" cy="0"/>
          </a:xfrm>
          <a:prstGeom prst="line">
            <a:avLst/>
          </a:prstGeom>
          <a:noFill/>
          <a:ln w="16510">
            <a:solidFill>
              <a:srgbClr val="2DB7E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784080" y="2011680"/>
            <a:ext cx="502920" cy="71323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1080000">
            <a:off x="10104120" y="1691640"/>
            <a:ext cx="868680" cy="594360"/>
          </a:xfrm>
          <a:prstGeom prst="triangle">
            <a:avLst/>
          </a:prstGeom>
          <a:solidFill>
            <a:srgbClr val="6FB7C6"/>
          </a:solidFill>
          <a:ln w="12700">
            <a:solidFill>
              <a:srgbClr val="6FB7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257800"/>
            <a:ext cx="146304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1F7A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rutas verificadas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370332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F4A2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tocar montaje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649224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2A9D8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costes por partida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9144000" y="5257800"/>
            <a:ext cx="1645920" cy="16459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6D5B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temario aplicado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Lunabotics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lastModifiedBy>Jorge Luis Mayorga Taborda</cp:lastModifiedBy>
  <cp:revision>1</cp:revision>
  <dcterms:created xsi:type="dcterms:W3CDTF">2026-05-19T15:12:15Z</dcterms:created>
  <dcterms:modified xsi:type="dcterms:W3CDTF">2026-05-19T15:12:15Z</dcterms:modified>
</cp:coreProperties>
</file>