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2628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3212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-1737360" cy="6858000"/>
          </a:xfrm>
          <a:prstGeom prst="line">
            <a:avLst/>
          </a:prstGeom>
          <a:noFill/>
          <a:ln w="7620">
            <a:solidFill>
              <a:srgbClr val="244761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2336"/>
            <a:ext cx="4023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OFERTA TÉCNICA Y COMERCIAL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02920" y="731520"/>
            <a:ext cx="493776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AMR-FOD-Kitting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0352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intralogística para la línea HTP A320 y sección 19.1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578608"/>
            <a:ext cx="42062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CFE1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• Sistemas Robóticos Móviles</a:t>
            </a:r>
            <a:endParaRPr lang="en-US" sz="710" dirty="0"/>
          </a:p>
          <a:p>
            <a:pPr algn="l" indent="0" marL="0">
              <a:buNone/>
            </a:pPr>
            <a:r>
              <a:rPr lang="en-US" sz="710" dirty="0">
                <a:solidFill>
                  <a:srgbClr val="CFE1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Internacional de Valencia</a:t>
            </a:r>
            <a:endParaRPr lang="en-US" sz="710" dirty="0"/>
          </a:p>
          <a:p>
            <a:pPr algn="l" indent="0" marL="0">
              <a:buNone/>
            </a:pPr>
            <a:r>
              <a:rPr lang="en-US" sz="710" dirty="0">
                <a:solidFill>
                  <a:srgbClr val="CFE1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Profesor: Jose I. Iñiguez</a:t>
            </a:r>
            <a:endParaRPr lang="en-US" sz="710" dirty="0"/>
          </a:p>
          <a:p>
            <a:pPr algn="l" indent="0" marL="0">
              <a:buNone/>
            </a:pPr>
            <a:r>
              <a:rPr lang="en-US" sz="710" dirty="0">
                <a:solidFill>
                  <a:srgbClr val="CFE1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Autor: Jorge Luis Mayorga Taborda</a:t>
            </a:r>
            <a:endParaRPr lang="en-US" sz="710" dirty="0"/>
          </a:p>
          <a:p>
            <a:pPr algn="l" indent="0" marL="0">
              <a:buNone/>
            </a:pPr>
            <a:r>
              <a:rPr lang="en-US" sz="710" dirty="0">
                <a:solidFill>
                  <a:srgbClr val="CFE1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Entrega: 26 de mayo de 2026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675120" y="914400"/>
            <a:ext cx="2272284" cy="1472184"/>
          </a:xfrm>
          <a:prstGeom prst="roundRect">
            <a:avLst>
              <a:gd name="adj" fmla="val 4969"/>
            </a:avLst>
          </a:prstGeom>
          <a:solidFill>
            <a:srgbClr val="E9F5FA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67144" y="1122426"/>
            <a:ext cx="224028" cy="1056132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2" y="1122426"/>
            <a:ext cx="224028" cy="1056132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3216" y="1266444"/>
            <a:ext cx="768096" cy="768096"/>
          </a:xfrm>
          <a:prstGeom prst="ellipse">
            <a:avLst/>
          </a:prstGeom>
          <a:solidFill>
            <a:srgbClr val="BDEAF6"/>
          </a:solidFill>
          <a:ln w="13970">
            <a:solidFill>
              <a:srgbClr val="2DB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3246" y="1506474"/>
            <a:ext cx="288036" cy="288036"/>
          </a:xfrm>
          <a:prstGeom prst="ellipse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4224528"/>
            <a:ext cx="502920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4489704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Tesis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robotiza el HTP; se estabiliza el flujo que lo rodea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41148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espera.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trazabilidad.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riesgo FOD.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 transporte, confirmación y evidencia.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toca montaje aeronáutico certificado.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37960" y="1143000"/>
            <a:ext cx="0" cy="4023360"/>
          </a:xfrm>
          <a:prstGeom prst="line">
            <a:avLst/>
          </a:prstGeom>
          <a:noFill/>
          <a:ln w="1524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1709928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HTP/mes actuales aproximados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178040" y="2816352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80+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78040" y="3200400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HTP/mes como objetivo futuro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178040" y="4315968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78040" y="4700016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promesas de fabricación robotizada directa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pérdidas aparecen como microesperas, no como grandes paradas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960120" y="123444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EEF5F8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4069080"/>
            <a:ext cx="0" cy="-2057400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2011680"/>
            <a:ext cx="2194560" cy="0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011680"/>
            <a:ext cx="0" cy="1828800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3840480"/>
            <a:ext cx="-1645920" cy="0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1371600"/>
            <a:ext cx="1038758" cy="672998"/>
          </a:xfrm>
          <a:prstGeom prst="roundRect">
            <a:avLst>
              <a:gd name="adj" fmla="val 10870"/>
            </a:avLst>
          </a:prstGeom>
          <a:solidFill>
            <a:srgbClr val="E9F5FA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6862" y="1466698"/>
            <a:ext cx="102413" cy="482803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7643" y="1466698"/>
            <a:ext cx="102413" cy="482803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0210" y="1532534"/>
            <a:ext cx="351130" cy="351130"/>
          </a:xfrm>
          <a:prstGeom prst="ellipse">
            <a:avLst/>
          </a:prstGeom>
          <a:solidFill>
            <a:srgbClr val="BDEAF6"/>
          </a:solidFill>
          <a:ln w="13970">
            <a:solidFill>
              <a:srgbClr val="2DB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9938" y="1642262"/>
            <a:ext cx="131674" cy="131674"/>
          </a:xfrm>
          <a:prstGeom prst="ellipse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234440"/>
            <a:ext cx="11887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170432"/>
            <a:ext cx="3840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Operarios abandonan estación para buscar útiles o consumibles.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446520" y="2075688"/>
            <a:ext cx="118872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2011680"/>
            <a:ext cx="3840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Kits incompletos bloquean trabajo sin quedar siempre visibles como parada.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446520" y="2916936"/>
            <a:ext cx="118872" cy="3840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2852928"/>
            <a:ext cx="3840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FOD exige inspección, disciplina y evidencia documentada.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446520" y="3758184"/>
            <a:ext cx="118872" cy="38404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3694176"/>
            <a:ext cx="3840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trazabilidad fina se pierde si la entrega no queda ligada a misión.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517904" y="4809744"/>
            <a:ext cx="2194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manual repetida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auxiliar en HTP A320 y sección 19.1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0744200" cy="4343400"/>
          </a:xfrm>
          <a:prstGeom prst="roundRect">
            <a:avLst>
              <a:gd name="adj" fmla="val 1684"/>
            </a:avLst>
          </a:prstGeom>
          <a:solidFill>
            <a:srgbClr val="EAF7FB"/>
          </a:solidFill>
          <a:ln w="12700">
            <a:solidFill>
              <a:srgbClr val="9DD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08760"/>
            <a:ext cx="393192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grande;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soporte logístico fino.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3886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AMR no toca montaje certificado.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115568" y="2724912"/>
            <a:ext cx="3886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Estabiliza entregas, retornos, FOD y trazabilidad.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1005840" y="3246120"/>
            <a:ext cx="5029200" cy="1005840"/>
          </a:xfrm>
          <a:prstGeom prst="arc">
            <a:avLst/>
          </a:prstGeom>
          <a:noFill/>
          <a:ln w="19050">
            <a:solidFill>
              <a:srgbClr val="1020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2011680" y="2880360"/>
            <a:ext cx="1051560" cy="777240"/>
          </a:xfrm>
          <a:prstGeom prst="triangle">
            <a:avLst/>
          </a:prstGeom>
          <a:solidFill>
            <a:srgbClr val="6FB7C6"/>
          </a:solidFill>
          <a:ln w="12700">
            <a:solidFill>
              <a:srgbClr val="6FB7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3163824"/>
            <a:ext cx="658368" cy="960120"/>
          </a:xfrm>
          <a:prstGeom prst="rect">
            <a:avLst/>
          </a:prstGeom>
          <a:solidFill>
            <a:srgbClr val="F3B37A"/>
          </a:solidFill>
          <a:ln w="12700">
            <a:solidFill>
              <a:srgbClr val="F3B3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3547872"/>
            <a:ext cx="38404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19.1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 -&gt; entrega -&gt; registro -&gt; retorno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36208" y="306324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136392"/>
            <a:ext cx="129844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 validado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RFID/QR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7726680" y="3255264"/>
            <a:ext cx="457200" cy="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0632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3136392"/>
            <a:ext cx="136245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 HTP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trazada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784080" y="3255264"/>
            <a:ext cx="438912" cy="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59568" y="306324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0" y="3136392"/>
            <a:ext cx="9966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+ FOD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digital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181344" y="4187952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clave de planta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6181344" y="4462272"/>
            <a:ext cx="4572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sección 19.1 depende de kits, herramientas y disciplina FOD.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6181344" y="4718304"/>
            <a:ext cx="4572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AMR reduce esperas y deja trazas; no fabrica el HTP.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conversación simulada a requisitos trazables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69164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ACTA TÉCNICA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Carlos Pérez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 años de experiencia en Alestis Puerto Real.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13232" y="2468880"/>
            <a:ext cx="19659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alcance correcto no es fabricar: es asegurar flujo, FOD y trazabilidad.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017520" y="1170432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DE PLANTA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897880" y="1170432"/>
            <a:ext cx="1371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8275320" y="1170432"/>
            <a:ext cx="2194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DISENO AMR-FOD-KITTING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2907792" y="150876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673352"/>
            <a:ext cx="256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3493008" y="1609344"/>
            <a:ext cx="2148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fabricar ni montar el HTP.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5833872" y="1600200"/>
            <a:ext cx="18745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Automatizar solo flujo auxiliar certificado.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092440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Kitting, retorno de útiles y entregas trazadas.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907792" y="228600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450592"/>
            <a:ext cx="256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3493008" y="2386584"/>
            <a:ext cx="2148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Prioridades y pasillos cambian durante el turno.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5833872" y="2377440"/>
            <a:ext cx="18745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rutas rigidas y paradas manuales.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8092440" y="2377440"/>
            <a:ext cx="27432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AMR omnidireccional con SLAM y gestor de misiones.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2907792" y="306324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3227832"/>
            <a:ext cx="256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3493008" y="3163824"/>
            <a:ext cx="2148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FOD requiere evidencia revisable.</a:t>
            </a:r>
            <a:endParaRPr lang="en-US" sz="640" dirty="0"/>
          </a:p>
        </p:txBody>
      </p:sp>
      <p:sp>
        <p:nvSpPr>
          <p:cNvPr id="26" name="Text 24"/>
          <p:cNvSpPr/>
          <p:nvPr/>
        </p:nvSpPr>
        <p:spPr>
          <a:xfrm>
            <a:off x="5833872" y="3154680"/>
            <a:ext cx="18745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rondas, imágenes y excepciones.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8092440" y="3154680"/>
            <a:ext cx="27432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RGB-D, RFID/QR y base de datos de eventos.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907792" y="384048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4005072"/>
            <a:ext cx="256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3493008" y="3941064"/>
            <a:ext cx="2148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expansión debe depender de datos del piloto.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5833872" y="3931920"/>
            <a:ext cx="18745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seguridad, entrega y disponibilidad.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8092440" y="3931920"/>
            <a:ext cx="27432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 antes de pasar de 1 a 7 y 17 robots.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de aceptación conectados con el temario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804672" y="1371600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95 %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misiones completadas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788920" y="1371600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98 %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88920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completo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90 %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 AMR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812280" y="1371600"/>
            <a:ext cx="1234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12280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incidentes con daño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77240" y="2670048"/>
            <a:ext cx="996696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Locomocion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86868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mecanum/sueca con movimiento lateral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29184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Percepcion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329184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RGB-D RFID-QR y seguridad separada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571500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Navegacion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71500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A* Dijkstra y evitacion local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813816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13816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motores electricos limites de velocidad y E-stop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Alternativas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decisión, no seleccion por intuicion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24688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PUNTUACION PONDERADA SOBRE 5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77240" y="1298448"/>
            <a:ext cx="11430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4,25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331720" y="1261872"/>
            <a:ext cx="33832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AMR omnidireccional</a:t>
            </a:r>
            <a:endParaRPr lang="en-US" sz="870" dirty="0"/>
          </a:p>
          <a:p>
            <a:pPr algn="l" indent="0" marL="0">
              <a:buNone/>
            </a:pPr>
            <a:r>
              <a:rPr lang="en-US" sz="87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RB-KAIROS/AGILOX-class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46634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por maniobra en estación y representabilidad en CoppeliaSim; no por ser la opcion mas barata.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822960" y="2633472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AMR omnidireccional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3493008" y="2670048"/>
            <a:ext cx="3749040" cy="12801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2670048"/>
            <a:ext cx="3520440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2624328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4,25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822960" y="3054096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AMR diferencial MiR/Omron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3493008" y="3090672"/>
            <a:ext cx="3749040" cy="12801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3090672"/>
            <a:ext cx="3200400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3044952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3,85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822960" y="3474720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AGV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3493008" y="3511296"/>
            <a:ext cx="3749040" cy="12801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008" y="3511296"/>
            <a:ext cx="2542032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46557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3,05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822960" y="3895344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con patas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3493008" y="3931920"/>
            <a:ext cx="3749040" cy="12801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3931920"/>
            <a:ext cx="1517904" cy="128016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3886200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1,85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822960" y="4315968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dron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3493008" y="4352544"/>
            <a:ext cx="3749040" cy="12801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93008" y="4352544"/>
            <a:ext cx="1444752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4306824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1,75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822960" y="4736592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orugas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3493008" y="4773168"/>
            <a:ext cx="3749040" cy="12801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93008" y="4773168"/>
            <a:ext cx="1188720" cy="128016"/>
          </a:xfrm>
          <a:prstGeom prst="rect">
            <a:avLst/>
          </a:prstGeom>
          <a:solidFill>
            <a:srgbClr val="5D6B7A"/>
          </a:solidFill>
          <a:ln w="12700">
            <a:solidFill>
              <a:srgbClr val="5D6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4727448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1,45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836676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con peso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12480" y="1773936"/>
            <a:ext cx="109728" cy="1097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1719072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25 % maniobra en estación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8412480" y="2377440"/>
            <a:ext cx="109728" cy="10972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41080" y="2322576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20 % seguridad con operarios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8412480" y="2980944"/>
            <a:ext cx="109728" cy="10972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2926080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15 % trazabilidad e integración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8412480" y="3584448"/>
            <a:ext cx="109728" cy="10972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41080" y="3529584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15 % madurez comercial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8412480" y="418795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4133088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15 % coste/riesgo de integración</a:t>
            </a:r>
            <a:endParaRPr lang="en-US" sz="7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elegido y opciones reales de compra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2402129" cy="1556309"/>
          </a:xfrm>
          <a:prstGeom prst="roundRect">
            <a:avLst>
              <a:gd name="adj" fmla="val 4700"/>
            </a:avLst>
          </a:prstGeom>
          <a:solidFill>
            <a:srgbClr val="E9F5FA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7397" y="1637233"/>
            <a:ext cx="236830" cy="1116482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6702" y="1637233"/>
            <a:ext cx="236830" cy="1116482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6387" y="1789481"/>
            <a:ext cx="811987" cy="811987"/>
          </a:xfrm>
          <a:prstGeom prst="ellipse">
            <a:avLst/>
          </a:prstGeom>
          <a:solidFill>
            <a:srgbClr val="BDEAF6"/>
          </a:solidFill>
          <a:ln w="13970">
            <a:solidFill>
              <a:srgbClr val="2DB7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0133" y="2043227"/>
            <a:ext cx="304495" cy="304495"/>
          </a:xfrm>
          <a:prstGeom prst="ellipse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078992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788920" y="1078992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RGB-D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E-stop + bumpers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880360" y="3429000"/>
            <a:ext cx="1280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IMU + encoders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shortlist defendible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187452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746504"/>
            <a:ext cx="4480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Recomendado: RB-KAIROS-class: 250 kg, 1,5 m/s, ROS 2, omni.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46520" y="2441448"/>
            <a:ext cx="128016" cy="12801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313432"/>
            <a:ext cx="4480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Alternativa: AGILOX ODM: 300 kg, 1,4 m/s, intralogística.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46520" y="300837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880360"/>
            <a:ext cx="4480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Benchmark: MiR250 y LD-250 solo para coste/carga AMR 250 kg.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46520" y="3575304"/>
            <a:ext cx="128016" cy="12801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447288"/>
            <a:ext cx="4480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Descartado: KUKA omniMove: XXL y caro para kits.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19088" y="4498848"/>
            <a:ext cx="46634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licitacion exige base holonomica, safety pack, portakits, vx/vy/w, trazabilidad y pruebas FAT/SAT.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por capas: navegar, actuar y dejar evidencia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8F7FA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47088"/>
            <a:ext cx="1325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95528" y="208483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RGB-D RFID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2231136" y="2048256"/>
            <a:ext cx="347472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6916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847088"/>
            <a:ext cx="1325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Localizacion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944368" y="208483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IMU encoders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4379976" y="2048256"/>
            <a:ext cx="347472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83480" y="16916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3E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847088"/>
            <a:ext cx="1325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93208" y="208483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Dijkstra DWA</a:t>
            </a:r>
            <a:endParaRPr lang="en-US" sz="580" dirty="0"/>
          </a:p>
        </p:txBody>
      </p:sp>
      <p:sp>
        <p:nvSpPr>
          <p:cNvPr id="19" name="Shape 17"/>
          <p:cNvSpPr/>
          <p:nvPr/>
        </p:nvSpPr>
        <p:spPr>
          <a:xfrm>
            <a:off x="6528816" y="2048256"/>
            <a:ext cx="347472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0" y="16916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AF7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847088"/>
            <a:ext cx="1325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42048" y="208483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vx vy w ruedas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8677656" y="2048256"/>
            <a:ext cx="347472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81160" y="16916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0ED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1847088"/>
            <a:ext cx="1325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390888" y="208483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HMI BD MES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685800" y="3218688"/>
            <a:ext cx="1033272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56432"/>
            <a:ext cx="6949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Interrupcion de seguridad: escaner, bumper o E-stop detienen cualquier misión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49808" y="411480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minimo por misión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49808" y="4462272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Robot, kit, origen, destino y estación.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388620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prevista y ruta ejecutada.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6492240" y="4462272"/>
            <a:ext cx="3840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RFID/QR, seguridad, confirmación e incidencia FOD.</a:t>
            </a:r>
            <a:endParaRPr lang="en-US" sz="7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ciclo cerrado: pedir, mover, confirmar, registrar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292608" cy="29260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99008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685800" y="349300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197864" y="3072384"/>
            <a:ext cx="749808" cy="50292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77440" y="34290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349300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2194560" y="399592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06624" y="3575304"/>
            <a:ext cx="749808" cy="-50292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86200" y="2926080"/>
            <a:ext cx="292608" cy="29260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9352" y="299008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703320" y="349300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215384" y="3072384"/>
            <a:ext cx="749808" cy="50292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94960" y="3429000"/>
            <a:ext cx="292608" cy="292608"/>
          </a:xfrm>
          <a:prstGeom prst="ellipse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349300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5212080" y="399592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724144" y="3575304"/>
            <a:ext cx="749808" cy="-50292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03720" y="292608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99008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6720840" y="349300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232904" y="3072384"/>
            <a:ext cx="749808" cy="50292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12480" y="3429000"/>
            <a:ext cx="292608" cy="29260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49300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8229600" y="399592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741664" y="3575304"/>
            <a:ext cx="749808" cy="-50292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21240" y="292608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94392" y="2990088"/>
            <a:ext cx="1463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9738360" y="3493008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286000" y="5047488"/>
            <a:ext cx="2743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 evidencia: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5047488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confirmada + ruta registrada + excepcion documentada.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CoppeliaSim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simulación reduce riesgo antes del piloto físico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EF5F8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554480"/>
            <a:ext cx="973836" cy="630936"/>
          </a:xfrm>
          <a:prstGeom prst="roundRect">
            <a:avLst>
              <a:gd name="adj" fmla="val 11594"/>
            </a:avLst>
          </a:prstGeom>
          <a:solidFill>
            <a:srgbClr val="E9F5FA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643634"/>
            <a:ext cx="96012" cy="452628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47488" y="1643634"/>
            <a:ext cx="96012" cy="452628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1705356"/>
            <a:ext cx="329184" cy="329184"/>
          </a:xfrm>
          <a:prstGeom prst="ellipse">
            <a:avLst/>
          </a:prstGeom>
          <a:solidFill>
            <a:srgbClr val="BDEAF6"/>
          </a:solidFill>
          <a:ln w="13970">
            <a:solidFill>
              <a:srgbClr val="2DB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4014" y="1808226"/>
            <a:ext cx="123444" cy="123444"/>
          </a:xfrm>
          <a:prstGeom prst="ellipse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3886200"/>
            <a:ext cx="3291840" cy="0"/>
          </a:xfrm>
          <a:prstGeom prst="line">
            <a:avLst/>
          </a:prstGeom>
          <a:noFill/>
          <a:ln w="15240">
            <a:solidFill>
              <a:srgbClr val="6D5B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3886200"/>
            <a:ext cx="0" cy="-1828800"/>
          </a:xfrm>
          <a:prstGeom prst="line">
            <a:avLst/>
          </a:prstGeom>
          <a:noFill/>
          <a:ln w="15240">
            <a:solidFill>
              <a:srgbClr val="6D5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pruebas antes de planta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1993392"/>
            <a:ext cx="100584" cy="10058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874520"/>
            <a:ext cx="4206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+ fusion: llegada nominal a estación HTP.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446520" y="2560320"/>
            <a:ext cx="100584" cy="100584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441448"/>
            <a:ext cx="4206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/ Dijkstra: ruta alterna con pasillo bloqueado.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446520" y="3127248"/>
            <a:ext cx="100584" cy="1005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008376"/>
            <a:ext cx="4206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DWA / campos: cruce con operario y parada segura.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446520" y="3694176"/>
            <a:ext cx="100584" cy="1005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575304"/>
            <a:ext cx="4206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RGB-D: ronda FOD con captura de evidencia.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6446520" y="4663440"/>
            <a:ext cx="2377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minimo antes de planta: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446520" y="4956048"/>
            <a:ext cx="3474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95 % misiones entregan; cero contactos.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6446520" y="5193792"/>
            <a:ext cx="3566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100 % misiones cerradas y bateria validada.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fases con entregables y criterio de paso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502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66420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controlado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033272" y="2212848"/>
            <a:ext cx="1691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219.856 € CAPEX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103327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acotada y 1-2 estaciones.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1033272" y="306324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Rutas, RFID-QR y ronda FOD.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1033272" y="379476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aceptación y falsas alarmas.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1033272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Pasa: 95 % misiones; 98 % trazas.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4572000" y="12344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72768"/>
            <a:ext cx="502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166420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828032" y="2212848"/>
            <a:ext cx="1691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1.018.752 € CAPEX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82803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estaciones y gestor de flota.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4828032" y="306324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de útiles y tablero de incidencias.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4828032" y="379476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pasillos y baterias.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4828032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Pasa: disponibilidad &gt;= 90 %.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8366760" y="12344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572768"/>
            <a:ext cx="502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5440" y="166420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extendida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622792" y="2212848"/>
            <a:ext cx="1691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2.310.896 € CAPEX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862279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auxiliar amplio e integración.</a:t>
            </a:r>
            <a:endParaRPr lang="en-US" sz="640" dirty="0"/>
          </a:p>
        </p:txBody>
      </p:sp>
      <p:sp>
        <p:nvSpPr>
          <p:cNvPr id="29" name="Text 27"/>
          <p:cNvSpPr/>
          <p:nvPr/>
        </p:nvSpPr>
        <p:spPr>
          <a:xfrm>
            <a:off x="8622792" y="306324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 por turno y reservas de flota.</a:t>
            </a:r>
            <a:endParaRPr lang="en-US" sz="640" dirty="0"/>
          </a:p>
        </p:txBody>
      </p:sp>
      <p:sp>
        <p:nvSpPr>
          <p:cNvPr id="30" name="Text 28"/>
          <p:cNvSpPr/>
          <p:nvPr/>
        </p:nvSpPr>
        <p:spPr>
          <a:xfrm>
            <a:off x="8622792" y="379476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comprar antes de medir.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8622792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Pasa: beneficio cerca de VAN cero.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914400" y="5577840"/>
            <a:ext cx="3657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comercial: no se escala por intuicion.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4663440" y="5577840"/>
            <a:ext cx="5394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escala con trazas, seguridad, disponibilidad y uso real de flota.</a:t>
            </a:r>
            <a:endParaRPr lang="en-US" sz="7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Partidas por escenario, sin caja negra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777240" y="1042416"/>
            <a:ext cx="2011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CAPEX estimado sin IVA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777240" y="1353312"/>
            <a:ext cx="2057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219.856 €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804672" y="1700784"/>
            <a:ext cx="1005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robot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4023360" y="1353312"/>
            <a:ext cx="2057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1.018.752 €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4050792" y="1700784"/>
            <a:ext cx="1005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robots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7269480" y="1353312"/>
            <a:ext cx="2057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2.310.896 €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7296912" y="1700784"/>
            <a:ext cx="1005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robots</a:t>
            </a:r>
            <a:endParaRPr lang="en-US" sz="630" dirty="0"/>
          </a:p>
        </p:txBody>
      </p:sp>
      <p:sp>
        <p:nvSpPr>
          <p:cNvPr id="15" name="Shape 13"/>
          <p:cNvSpPr/>
          <p:nvPr/>
        </p:nvSpPr>
        <p:spPr>
          <a:xfrm>
            <a:off x="777240" y="2148840"/>
            <a:ext cx="10652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331720"/>
            <a:ext cx="2286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Partida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5486400" y="2331720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robot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7699248" y="2331720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robots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10149840" y="2331720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robots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941832" y="2724912"/>
            <a:ext cx="54864" cy="5486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2697480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AMR omni + sensores + portakits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5212080" y="2697480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78.500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7388352" y="2697480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549.500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9802368" y="2697480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1.334.500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941832" y="3008376"/>
            <a:ext cx="54864" cy="5486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2980944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flota + trazabilidad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5212080" y="2980944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24.000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7388352" y="2980944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65.000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9802368" y="2980944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120.000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941832" y="3291840"/>
            <a:ext cx="54864" cy="54864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3264408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Ingenieria + CoppeliaSim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5212080" y="3264408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46.000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7388352" y="3264408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126.000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9802368" y="3264408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245.000</a:t>
            </a:r>
            <a:endParaRPr lang="en-US" sz="580" dirty="0"/>
          </a:p>
        </p:txBody>
      </p:sp>
      <p:sp>
        <p:nvSpPr>
          <p:cNvPr id="35" name="Shape 33"/>
          <p:cNvSpPr/>
          <p:nvPr/>
        </p:nvSpPr>
        <p:spPr>
          <a:xfrm>
            <a:off x="941832" y="3575304"/>
            <a:ext cx="54864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3547872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 + mapeo + SAT</a:t>
            </a:r>
            <a:endParaRPr lang="en-US" sz="580" dirty="0"/>
          </a:p>
        </p:txBody>
      </p:sp>
      <p:sp>
        <p:nvSpPr>
          <p:cNvPr id="37" name="Text 35"/>
          <p:cNvSpPr/>
          <p:nvPr/>
        </p:nvSpPr>
        <p:spPr>
          <a:xfrm>
            <a:off x="5212080" y="3547872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20.000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7388352" y="3547872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60.000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9802368" y="354787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135.000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941832" y="3858768"/>
            <a:ext cx="54864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" y="3831336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Formacion + cambio operativo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5212080" y="3831336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9.500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7388352" y="3831336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27.000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9802368" y="3831336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46.000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941832" y="4142232"/>
            <a:ext cx="54864" cy="5486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4114800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año 1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5212080" y="4114800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6.300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7388352" y="4114800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44.100</a:t>
            </a:r>
            <a:endParaRPr lang="en-US" sz="580" dirty="0"/>
          </a:p>
        </p:txBody>
      </p:sp>
      <p:sp>
        <p:nvSpPr>
          <p:cNvPr id="49" name="Text 47"/>
          <p:cNvSpPr/>
          <p:nvPr/>
        </p:nvSpPr>
        <p:spPr>
          <a:xfrm>
            <a:off x="9802368" y="4114800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106.800</a:t>
            </a:r>
            <a:endParaRPr lang="en-US" sz="580" dirty="0"/>
          </a:p>
        </p:txBody>
      </p:sp>
      <p:sp>
        <p:nvSpPr>
          <p:cNvPr id="50" name="Shape 48"/>
          <p:cNvSpPr/>
          <p:nvPr/>
        </p:nvSpPr>
        <p:spPr>
          <a:xfrm>
            <a:off x="941832" y="4425696"/>
            <a:ext cx="54864" cy="5486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8992" y="4398264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Logistica + ciber + docs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5212080" y="4398264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12.000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>
            <a:off x="7388352" y="4398264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38.000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9802368" y="4398264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76.000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941832" y="4709160"/>
            <a:ext cx="54864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8992" y="4681728"/>
            <a:ext cx="3291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Contingencia + margen 12 %</a:t>
            </a:r>
            <a:endParaRPr lang="en-US" sz="580" dirty="0"/>
          </a:p>
        </p:txBody>
      </p:sp>
      <p:sp>
        <p:nvSpPr>
          <p:cNvPr id="57" name="Text 55"/>
          <p:cNvSpPr/>
          <p:nvPr/>
        </p:nvSpPr>
        <p:spPr>
          <a:xfrm>
            <a:off x="5212080" y="4681728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23.556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7388352" y="4681728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109.152</a:t>
            </a:r>
            <a:endParaRPr lang="en-US" sz="580" dirty="0"/>
          </a:p>
        </p:txBody>
      </p:sp>
      <p:sp>
        <p:nvSpPr>
          <p:cNvPr id="59" name="Text 57"/>
          <p:cNvSpPr/>
          <p:nvPr/>
        </p:nvSpPr>
        <p:spPr>
          <a:xfrm>
            <a:off x="9802368" y="4681728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247.596</a:t>
            </a:r>
            <a:endParaRPr lang="en-US" sz="580" dirty="0"/>
          </a:p>
        </p:txBody>
      </p:sp>
      <p:sp>
        <p:nvSpPr>
          <p:cNvPr id="60" name="Text 58"/>
          <p:cNvSpPr/>
          <p:nvPr/>
        </p:nvSpPr>
        <p:spPr>
          <a:xfrm>
            <a:off x="804672" y="5532120"/>
            <a:ext cx="6583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publicas: RB-KAIROS/AGILOX, MiR250/LD-250, Hokuyo, Intel, Zebra y SICK.</a:t>
            </a:r>
            <a:endParaRPr lang="en-US" sz="640" dirty="0"/>
          </a:p>
        </p:txBody>
      </p:sp>
      <p:sp>
        <p:nvSpPr>
          <p:cNvPr id="61" name="Text 59"/>
          <p:cNvSpPr/>
          <p:nvPr/>
        </p:nvSpPr>
        <p:spPr>
          <a:xfrm>
            <a:off x="7498080" y="5532120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cotizacion vinculante.</a:t>
            </a:r>
            <a:endParaRPr lang="en-US" sz="6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Tiempo recuperado frente a umbral financiero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14/16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777240" y="1170432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EAF7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 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Salario guia: 20.000-28.000 €/año.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69264" y="2395728"/>
            <a:ext cx="2194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central: 24.000 €.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69264" y="2688336"/>
            <a:ext cx="2651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 empresa 1,35; 1.760 h/año.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60120" y="3246120"/>
            <a:ext cx="21031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18,4 €/h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552" y="3913632"/>
            <a:ext cx="2560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monetiza tiempo improductivo; no reducción de plantilla.</a:t>
            </a:r>
            <a:endParaRPr lang="en-US" sz="670" dirty="0"/>
          </a:p>
        </p:txBody>
      </p:sp>
      <p:sp>
        <p:nvSpPr>
          <p:cNvPr id="15" name="Text 13"/>
          <p:cNvSpPr/>
          <p:nvPr/>
        </p:nvSpPr>
        <p:spPr>
          <a:xfrm>
            <a:off x="4617720" y="1298448"/>
            <a:ext cx="4023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 anual: recuperado vs VAN cero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17720" y="1627632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recuperadas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6446520" y="1627632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 VAN cero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4617720" y="224028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robot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532120" y="2240280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825 h/año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6812280" y="2194560"/>
            <a:ext cx="292608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404872"/>
            <a:ext cx="1060704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2148840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15.180 €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7918704" y="2359152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80.260 €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4617720" y="320040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robots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532120" y="3200400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5.940 h/año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6812280" y="3154680"/>
            <a:ext cx="1847088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364992"/>
            <a:ext cx="30175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3108960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109.296 €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9875520" y="3319272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359.263 €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4617720" y="416052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robots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532120" y="4160520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14.000 h/año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6812280" y="4114800"/>
            <a:ext cx="3063240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4325112"/>
            <a:ext cx="43891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4069080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257.600 €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11247120" y="4279392"/>
            <a:ext cx="868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814.017 €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4617720" y="5230368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financiera: las horas recuperadas no venden por si solas 7 o 17 robots.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4617720" y="5468112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ampliacion exige datos de espera, continuidad de flujo y riesgo FOD.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4617720" y="570585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final debe usar datos reales hacia 80 HTP/mes.</a:t>
            </a:r>
            <a:endParaRPr lang="en-US" sz="6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comercial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Entregables y condiciones de aceptación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3017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de la fase piloto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73152" cy="731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837944"/>
            <a:ext cx="2057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operativo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1060704" y="2057400"/>
            <a:ext cx="5120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rutas, zonas lentas, carga y entrega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868680" y="2395728"/>
            <a:ext cx="73152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313432"/>
            <a:ext cx="2057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Configuracion AMR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1060704" y="2532888"/>
            <a:ext cx="5120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misiones, prioridades y reglas de bateria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868680" y="2871216"/>
            <a:ext cx="73152" cy="7315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788920"/>
            <a:ext cx="2057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1060704" y="3008376"/>
            <a:ext cx="5120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BD, RFID-QR, HMI y excepciones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868680" y="3346704"/>
            <a:ext cx="73152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264408"/>
            <a:ext cx="2057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FOD preventivo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1060704" y="3483864"/>
            <a:ext cx="5120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rondas con imagen y validación humana</a:t>
            </a:r>
            <a:endParaRPr lang="en-US" sz="580" dirty="0"/>
          </a:p>
        </p:txBody>
      </p:sp>
      <p:sp>
        <p:nvSpPr>
          <p:cNvPr id="21" name="Shape 19"/>
          <p:cNvSpPr/>
          <p:nvPr/>
        </p:nvSpPr>
        <p:spPr>
          <a:xfrm>
            <a:off x="868680" y="3822192"/>
            <a:ext cx="73152" cy="73152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739896"/>
            <a:ext cx="2057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 CoppeliaSim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060704" y="3959352"/>
            <a:ext cx="5120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SLAM, ruta bloqueada, cruce y FOD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868680" y="4297680"/>
            <a:ext cx="7315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4215384"/>
            <a:ext cx="2057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Formacion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060704" y="4434840"/>
            <a:ext cx="5120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operarios, supervisores y mantenimiento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7315200" y="1234440"/>
            <a:ext cx="4160520" cy="4343400"/>
          </a:xfrm>
          <a:prstGeom prst="roundRect">
            <a:avLst>
              <a:gd name="adj" fmla="val 1758"/>
            </a:avLst>
          </a:prstGeom>
          <a:solidFill>
            <a:srgbClr val="FFF7E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de aceptación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07808" y="21488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942832" y="2148840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contactos o incidentes con daño</a:t>
            </a:r>
            <a:endParaRPr lang="en-US" sz="590" dirty="0"/>
          </a:p>
        </p:txBody>
      </p:sp>
      <p:sp>
        <p:nvSpPr>
          <p:cNvPr id="31" name="Shape 29"/>
          <p:cNvSpPr/>
          <p:nvPr/>
        </p:nvSpPr>
        <p:spPr>
          <a:xfrm>
            <a:off x="7571232" y="2404872"/>
            <a:ext cx="342900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26060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Misiones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942832" y="2606040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95 % completadas</a:t>
            </a:r>
            <a:endParaRPr lang="en-US" sz="590" dirty="0"/>
          </a:p>
        </p:txBody>
      </p:sp>
      <p:sp>
        <p:nvSpPr>
          <p:cNvPr id="34" name="Shape 32"/>
          <p:cNvSpPr/>
          <p:nvPr/>
        </p:nvSpPr>
        <p:spPr>
          <a:xfrm>
            <a:off x="7571232" y="2862072"/>
            <a:ext cx="342900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07808" y="30632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942832" y="3063240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98 % con registro completo</a:t>
            </a:r>
            <a:endParaRPr lang="en-US" sz="590" dirty="0"/>
          </a:p>
        </p:txBody>
      </p:sp>
      <p:sp>
        <p:nvSpPr>
          <p:cNvPr id="37" name="Shape 35"/>
          <p:cNvSpPr/>
          <p:nvPr/>
        </p:nvSpPr>
        <p:spPr>
          <a:xfrm>
            <a:off x="7571232" y="3319272"/>
            <a:ext cx="342900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07808" y="35204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942832" y="3520440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 90 % en turno piloto</a:t>
            </a:r>
            <a:endParaRPr lang="en-US" sz="590" dirty="0"/>
          </a:p>
        </p:txBody>
      </p:sp>
      <p:sp>
        <p:nvSpPr>
          <p:cNvPr id="40" name="Shape 38"/>
          <p:cNvSpPr/>
          <p:nvPr/>
        </p:nvSpPr>
        <p:spPr>
          <a:xfrm>
            <a:off x="7571232" y="3776472"/>
            <a:ext cx="342900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07808" y="39776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FOD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942832" y="3977640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100 % eventos revisables</a:t>
            </a:r>
            <a:endParaRPr lang="en-US" sz="590" dirty="0"/>
          </a:p>
        </p:txBody>
      </p:sp>
      <p:sp>
        <p:nvSpPr>
          <p:cNvPr id="43" name="Shape 41"/>
          <p:cNvSpPr/>
          <p:nvPr/>
        </p:nvSpPr>
        <p:spPr>
          <a:xfrm>
            <a:off x="7571232" y="4233672"/>
            <a:ext cx="342900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44348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Escalado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942832" y="4434840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con VAN y datos de flujo</a:t>
            </a:r>
            <a:endParaRPr lang="en-US" sz="590" dirty="0"/>
          </a:p>
        </p:txBody>
      </p:sp>
      <p:sp>
        <p:nvSpPr>
          <p:cNvPr id="46" name="Shape 44"/>
          <p:cNvSpPr/>
          <p:nvPr/>
        </p:nvSpPr>
        <p:spPr>
          <a:xfrm>
            <a:off x="7571232" y="4690872"/>
            <a:ext cx="342900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5047488"/>
            <a:ext cx="3383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Exclusion explicita: no se certifica montaje HTP.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7571232" y="5266944"/>
            <a:ext cx="3383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Tampoco sustituye inspección aeronautica obligatoria.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670" dirty="0"/>
          </a:p>
        </p:txBody>
      </p:sp>
      <p:sp>
        <p:nvSpPr>
          <p:cNvPr id="4" name="Text 2"/>
          <p:cNvSpPr/>
          <p:nvPr/>
        </p:nvSpPr>
        <p:spPr>
          <a:xfrm>
            <a:off x="502920" y="429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Recomendacion: medir antes de escalar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  •  Sistemas Robóticos Móviles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7635240" y="65288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Lunabotics  •  Alestis Puerto Real  •  HTP A320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1384280" y="201168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16/16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3474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robot primero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rutas, seguridad y entregas.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0175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trazabilidad, FOD y aceptación.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596896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Escalar solo con datos.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1493215" cy="967435"/>
          </a:xfrm>
          <a:prstGeom prst="roundRect">
            <a:avLst>
              <a:gd name="adj" fmla="val 7561"/>
            </a:avLst>
          </a:prstGeom>
          <a:solidFill>
            <a:srgbClr val="E9F5FA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9867" y="1965503"/>
            <a:ext cx="147218" cy="694030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3490" y="1965503"/>
            <a:ext cx="147218" cy="694030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8429" y="2060143"/>
            <a:ext cx="504749" cy="504749"/>
          </a:xfrm>
          <a:prstGeom prst="ellipse">
            <a:avLst/>
          </a:prstGeom>
          <a:solidFill>
            <a:srgbClr val="BDEAF6"/>
          </a:solidFill>
          <a:ln w="13970">
            <a:solidFill>
              <a:srgbClr val="2DB7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6163" y="2217877"/>
            <a:ext cx="189281" cy="189281"/>
          </a:xfrm>
          <a:prstGeom prst="ellipse">
            <a:avLst/>
          </a:prstGeom>
          <a:solidFill>
            <a:srgbClr val="2DB7E5"/>
          </a:solidFill>
          <a:ln w="12700">
            <a:solidFill>
              <a:srgbClr val="2DB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240280"/>
            <a:ext cx="1325880" cy="0"/>
          </a:xfrm>
          <a:prstGeom prst="line">
            <a:avLst/>
          </a:prstGeom>
          <a:noFill/>
          <a:ln w="1651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84080" y="2011680"/>
            <a:ext cx="502920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">
            <a:off x="10104120" y="1691640"/>
            <a:ext cx="868680" cy="594360"/>
          </a:xfrm>
          <a:prstGeom prst="triangle">
            <a:avLst/>
          </a:prstGeom>
          <a:solidFill>
            <a:srgbClr val="6FB7C6"/>
          </a:solidFill>
          <a:ln w="12700">
            <a:solidFill>
              <a:srgbClr val="6FB7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57800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verificadas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3703320" y="5257800"/>
            <a:ext cx="1645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tocar montaje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492240" y="5257800"/>
            <a:ext cx="1645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costes por partida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9144000" y="5257800"/>
            <a:ext cx="1645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temario aplicado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Lunabotics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1 - Sistema AMR-FOD-Kitting</dc:title>
  <dc:subject>Sistemas Robóticos Móviles</dc:subject>
  <dc:creator>Jorge Luis Mayorga Taborda</dc:creator>
  <cp:lastModifiedBy>Jorge Luis Mayorga Taborda</cp:lastModifiedBy>
  <cp:revision>1</cp:revision>
  <dcterms:created xsi:type="dcterms:W3CDTF">2026-05-20T14:23:45Z</dcterms:created>
  <dcterms:modified xsi:type="dcterms:W3CDTF">2026-05-20T14:23:45Z</dcterms:modified>
</cp:coreProperties>
</file>