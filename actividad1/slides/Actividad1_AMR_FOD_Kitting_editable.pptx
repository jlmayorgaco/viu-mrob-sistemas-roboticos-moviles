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262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554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02336"/>
            <a:ext cx="40233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OFERTA TÉCNICA Y COMERCIAL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" y="731520"/>
            <a:ext cx="493776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AMR-FOD-Kitting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035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intralogística para la línea HTP A320 y sección 19.1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42062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• Sistemas Robóticos Móviles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2272284" cy="1472184"/>
          </a:xfrm>
          <a:prstGeom prst="roundRect">
            <a:avLst>
              <a:gd name="adj" fmla="val 4969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67144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1352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266444"/>
            <a:ext cx="768096" cy="768096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3246" y="1506474"/>
            <a:ext cx="288036" cy="288036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4224528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4489704"/>
            <a:ext cx="411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propuesta no robotiza el HTP: ordena el flujo que lo rodea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41148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espera.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trazabilidad.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riesgo FOD.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816352"/>
            <a:ext cx="4297680" cy="6217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solución AMR-FOD-Kitting automatiza transporte, confirmación y evidencia; no invade procesos certificados de montaje aeronáutico.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37960" y="1143000"/>
            <a:ext cx="0" cy="4023360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78040" y="132588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178040" y="170992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actuales aproximados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7178040" y="2816352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80+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3200400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como objetivo futuro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7178040" y="4315968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178040" y="4700016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promesas de fabricación robotizada directa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pérdidas aparecen como microesperas, no como grandes paradas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60120" y="123444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4069080"/>
            <a:ext cx="0" cy="-20574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2011680"/>
            <a:ext cx="219456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011680"/>
            <a:ext cx="0" cy="18288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3840480"/>
            <a:ext cx="-164592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371600"/>
            <a:ext cx="1038758" cy="672998"/>
          </a:xfrm>
          <a:prstGeom prst="roundRect">
            <a:avLst>
              <a:gd name="adj" fmla="val 1087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6862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7643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0210" y="1532534"/>
            <a:ext cx="351130" cy="35113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9938" y="1642262"/>
            <a:ext cx="131674" cy="13167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234440"/>
            <a:ext cx="11887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1170432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 abandonan estación para buscar útiles o consumibles.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446520" y="2075688"/>
            <a:ext cx="118872" cy="3840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Kits incompletos bloquean trabajo sin quedar siempre visibles como parada.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6446520" y="2916936"/>
            <a:ext cx="118872" cy="3840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852928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exige inspección, disciplina y evidencia documentada.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446520" y="3758184"/>
            <a:ext cx="118872" cy="38404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694176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trazabilidad fina se pierde si la entrega no queda ligada a misión.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1517904" y="4809744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manual repetida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auxiliar en HTP A320 y sección 19.1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0744200" cy="4343400"/>
          </a:xfrm>
          <a:prstGeom prst="roundRect">
            <a:avLst>
              <a:gd name="adj" fmla="val 1684"/>
            </a:avLst>
          </a:prstGeom>
          <a:solidFill>
            <a:srgbClr val="EAF7FB"/>
          </a:solidFill>
          <a:ln w="12700">
            <a:solidFill>
              <a:srgbClr val="9DD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08760"/>
            <a:ext cx="39319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grande;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soporte logístico fino.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15568" y="2487168"/>
            <a:ext cx="388620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no toca montaje certificado: estabiliza entregas, retorno de útiles, FOD y trazabilidad alrededor de la estación.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005840" y="3246120"/>
            <a:ext cx="5029200" cy="1005840"/>
          </a:xfrm>
          <a:prstGeom prst="arc">
            <a:avLst/>
          </a:prstGeom>
          <a:noFill/>
          <a:ln w="19050">
            <a:solidFill>
              <a:srgbClr val="102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200000">
            <a:off x="2011680" y="2880360"/>
            <a:ext cx="1051560" cy="77724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58768" y="3163824"/>
            <a:ext cx="658368" cy="960120"/>
          </a:xfrm>
          <a:prstGeom prst="rect">
            <a:avLst/>
          </a:prstGeom>
          <a:solidFill>
            <a:srgbClr val="F3B37A"/>
          </a:solidFill>
          <a:ln w="12700">
            <a:solidFill>
              <a:srgbClr val="F3B3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86784" y="3547872"/>
            <a:ext cx="38404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10" dirty="0"/>
          </a:p>
        </p:txBody>
      </p:sp>
      <p:sp>
        <p:nvSpPr>
          <p:cNvPr id="15" name="Text 13"/>
          <p:cNvSpPr/>
          <p:nvPr/>
        </p:nvSpPr>
        <p:spPr>
          <a:xfrm>
            <a:off x="612648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-&gt; entrega -&gt; registro -&gt; retorno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36208" y="306324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3136392"/>
            <a:ext cx="1298448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validado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</a:t>
            </a:r>
            <a:endParaRPr lang="en-US" sz="720" dirty="0"/>
          </a:p>
        </p:txBody>
      </p:sp>
      <p:sp>
        <p:nvSpPr>
          <p:cNvPr id="18" name="Shape 16"/>
          <p:cNvSpPr/>
          <p:nvPr/>
        </p:nvSpPr>
        <p:spPr>
          <a:xfrm>
            <a:off x="7726680" y="3255264"/>
            <a:ext cx="45720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229600" y="3063240"/>
            <a:ext cx="15087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2752" y="3136392"/>
            <a:ext cx="136245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Estacion HTP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trazada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9784080" y="3255264"/>
            <a:ext cx="438912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0259568" y="306324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32720" y="3136392"/>
            <a:ext cx="99669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+ FOD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digital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6181344" y="4315968"/>
            <a:ext cx="49377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clave para la propuesta: la sección 19.1 concentra dependencia de kits, herramientas, documentación y disciplina FOD. Ahi el AMR reduce esperas y deja trazas, sin fabricar el HTP.</a:t>
            </a:r>
            <a:endParaRPr lang="en-US" sz="7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conversación simulada a requisitos trazables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69164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ACTA TÉCNICA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Pérez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+10 años de experiencia en Alestis Puerto Real.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19659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alcance correcto no es fabricar: es asegurar flujo, FOD y trazabilidad.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017520" y="1170432"/>
            <a:ext cx="19202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DE PLANTA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5897880" y="1170432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8275320" y="1170432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AMR-FOD-KITTING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2907792" y="150876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167335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3493008" y="160934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fabricar ni montar el HTP.</a:t>
            </a:r>
            <a:endParaRPr lang="en-US" sz="640" dirty="0"/>
          </a:p>
        </p:txBody>
      </p:sp>
      <p:sp>
        <p:nvSpPr>
          <p:cNvPr id="16" name="Text 14"/>
          <p:cNvSpPr/>
          <p:nvPr/>
        </p:nvSpPr>
        <p:spPr>
          <a:xfrm>
            <a:off x="5833872" y="160020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Automatizar solo flujo auxiliar certificado.</a:t>
            </a:r>
            <a:endParaRPr lang="en-US" sz="620" dirty="0"/>
          </a:p>
        </p:txBody>
      </p:sp>
      <p:sp>
        <p:nvSpPr>
          <p:cNvPr id="17" name="Text 15"/>
          <p:cNvSpPr/>
          <p:nvPr/>
        </p:nvSpPr>
        <p:spPr>
          <a:xfrm>
            <a:off x="8092440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Kitting, retorno de útiles y entregas trazadas.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2907792" y="228600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245059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3493008" y="238658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Prioridades y pasillos cambian durante el turno.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5833872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rutas rigidas y paradas manuales.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092440" y="237744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con SLAM y gestor de misiones.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907792" y="306324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2783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3493008" y="316382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requiere evidencia revisable.</a:t>
            </a:r>
            <a:endParaRPr lang="en-US" sz="640" dirty="0"/>
          </a:p>
        </p:txBody>
      </p:sp>
      <p:sp>
        <p:nvSpPr>
          <p:cNvPr id="26" name="Text 24"/>
          <p:cNvSpPr/>
          <p:nvPr/>
        </p:nvSpPr>
        <p:spPr>
          <a:xfrm>
            <a:off x="5833872" y="315468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rondas, imágenes y excepciones.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80924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RGB-D, RFID/QR y base de datos de eventos.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2907792" y="384048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3240" y="400507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3493008" y="394106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expansión debe depender de datos del piloto.</a:t>
            </a:r>
            <a:endParaRPr lang="en-US" sz="640" dirty="0"/>
          </a:p>
        </p:txBody>
      </p:sp>
      <p:sp>
        <p:nvSpPr>
          <p:cNvPr id="31" name="Text 29"/>
          <p:cNvSpPr/>
          <p:nvPr/>
        </p:nvSpPr>
        <p:spPr>
          <a:xfrm>
            <a:off x="5833872" y="393192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seguridad, entrega y disponibilidad.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809244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antes de pasar de 1 a 7 y 17 robots.</a:t>
            </a:r>
            <a:endParaRPr lang="en-US" sz="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aceptación conectados con el temario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 completadas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78892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8892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completo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 AMR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8122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incidentes con daño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777240" y="2670048"/>
            <a:ext cx="996696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Locomocion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mecanum/sueca con movimiento lateral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29184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29184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RFID-QR y seguridad separada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571500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1500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A* Dijkstra y evitacion local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813816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13816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 electricos limites de velocidad y E-stop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 que AMR omnidireccional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Seleccionado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41248" y="1700784"/>
            <a:ext cx="320040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representable en CoppeliaSim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1261872" y="2606040"/>
            <a:ext cx="1623060" cy="1051560"/>
          </a:xfrm>
          <a:prstGeom prst="roundRect">
            <a:avLst>
              <a:gd name="adj" fmla="val 6957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99032" y="2754630"/>
            <a:ext cx="160020" cy="7543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87752" y="2754630"/>
            <a:ext cx="160020" cy="7543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2857500"/>
            <a:ext cx="548640" cy="54864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81962" y="3028950"/>
            <a:ext cx="205740" cy="205740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069080"/>
            <a:ext cx="32918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Movimiento lateral sin reorientar carga; mejor cerca de útiles, estaciones y operarios.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5669280" y="1417320"/>
            <a:ext cx="10972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25312" y="1298448"/>
            <a:ext cx="44805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AGV: fiable, pero rigido si cambian rutas.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5669280" y="2075688"/>
            <a:ext cx="109728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25312" y="1956816"/>
            <a:ext cx="44805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Dron: baja carga y riesgo en interior industrial.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5669280" y="2734056"/>
            <a:ext cx="109728" cy="10972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25312" y="2615184"/>
            <a:ext cx="44805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Orugas: innecesarias sobre pavimento regular.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5669280" y="3392424"/>
            <a:ext cx="109728" cy="10972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25312" y="3273552"/>
            <a:ext cx="44805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Patas: coste y complejidad sin ventaja operativa clara.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 omnidireccional objetivo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2402129" cy="1556309"/>
          </a:xfrm>
          <a:prstGeom prst="roundRect">
            <a:avLst>
              <a:gd name="adj" fmla="val 470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397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702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6387" y="1789481"/>
            <a:ext cx="811987" cy="811987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0133" y="2043227"/>
            <a:ext cx="304495" cy="304495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78892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13258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E-stop + bumpers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2880360" y="3429000"/>
            <a:ext cx="1280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IMU + encoders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niveles, una decisión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46520" y="1920240"/>
            <a:ext cx="128016" cy="12801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792224"/>
            <a:ext cx="42062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Simulacion: YouBot/Omnirob o base mecanum equivalente.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446520" y="2606040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478024"/>
            <a:ext cx="42062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Benchmark: MiR250 y LD-250 solo para coste AMR 250 kg.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46520" y="329184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3163824"/>
            <a:ext cx="42062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Implantacion: plataforma holonomica 200-300 kg con portakits.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por capas: navegar, actuar y dejar evidencia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8F7FA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9552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</a:t>
            </a:r>
            <a:endParaRPr lang="en-US" sz="580" dirty="0"/>
          </a:p>
        </p:txBody>
      </p:sp>
      <p:sp>
        <p:nvSpPr>
          <p:cNvPr id="11" name="Shape 9"/>
          <p:cNvSpPr/>
          <p:nvPr/>
        </p:nvSpPr>
        <p:spPr>
          <a:xfrm>
            <a:off x="223113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4FF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94436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IMU encoders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437997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8348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FF3E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9320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Dijkstra DWA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2881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7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4204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vx vy w ruedas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867765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8116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0ED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9088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BD MES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85800" y="3218688"/>
            <a:ext cx="1033272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456432"/>
            <a:ext cx="6949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Interrupcion de seguridad: escaner, bumper o E-stop detienen cualquier misión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749808" y="4160520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minimo por misión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49808" y="4498848"/>
            <a:ext cx="96926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robot, kit, origen, destino, ruta prevista, ruta ejecutada, lectura RFID/QR, parada de seguridad, confirmación e incidencia FOD si aplica.</a:t>
            </a:r>
            <a:endParaRPr lang="en-US" sz="7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cerrado: pedir, mover, confirmar, registrar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68580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19786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219456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0662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2926080"/>
            <a:ext cx="292608" cy="29260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935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370332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21538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3429000"/>
            <a:ext cx="292608" cy="292608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50" dirty="0"/>
          </a:p>
        </p:txBody>
      </p:sp>
      <p:sp>
        <p:nvSpPr>
          <p:cNvPr id="22" name="Text 20"/>
          <p:cNvSpPr/>
          <p:nvPr/>
        </p:nvSpPr>
        <p:spPr>
          <a:xfrm>
            <a:off x="521208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72414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03720" y="2926080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72084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23290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12480" y="3429000"/>
            <a:ext cx="292608" cy="29260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822960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874166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21240" y="292608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73836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011680" y="5166360"/>
            <a:ext cx="78638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misión termina cuando queda evidencia: entrega confirmada, ruta registrada y excepcion documentada.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simulación reduce riesgo antes del piloto físico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554480"/>
            <a:ext cx="973836" cy="630936"/>
          </a:xfrm>
          <a:prstGeom prst="roundRect">
            <a:avLst>
              <a:gd name="adj" fmla="val 11594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47488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1705356"/>
            <a:ext cx="329184" cy="329184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014" y="1808226"/>
            <a:ext cx="123444" cy="12344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886200"/>
            <a:ext cx="3291840" cy="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3886200"/>
            <a:ext cx="0" cy="-182880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389888"/>
            <a:ext cx="3749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antes de planta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46520" y="1993392"/>
            <a:ext cx="100584" cy="100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874520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+ fusion: llegada nominal a estación HTP.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446520" y="2560320"/>
            <a:ext cx="100584" cy="10058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441448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/ Dijkstra: ruta alterna con pasillo bloqueado.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6446520" y="3127248"/>
            <a:ext cx="100584" cy="1005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008376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/ campos: cruce con operario y parada segura.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6446520" y="3694176"/>
            <a:ext cx="100584" cy="1005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75304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RGB-D: ronda FOD con captura de evidencia.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6446520" y="4773168"/>
            <a:ext cx="42062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Gate: 95 % misiones entregan, cero contactos, 100 % de misiones cerradas y ensayo de bateria antes de migrar ruta.</a:t>
            </a:r>
            <a:endParaRPr lang="en-US" sz="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se vende una flota grande sin datos del piloto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2103120" y="2148840"/>
            <a:ext cx="182880" cy="1828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38528" y="1508760"/>
            <a:ext cx="512064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91640" y="2487168"/>
            <a:ext cx="822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Piloto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1508760" y="2834640"/>
            <a:ext cx="1188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198.688 €</a:t>
            </a:r>
            <a:endParaRPr lang="en-US" sz="720" dirty="0"/>
          </a:p>
        </p:txBody>
      </p:sp>
      <p:sp>
        <p:nvSpPr>
          <p:cNvPr id="12" name="Text 10"/>
          <p:cNvSpPr/>
          <p:nvPr/>
        </p:nvSpPr>
        <p:spPr>
          <a:xfrm>
            <a:off x="1188720" y="3182112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acotada, rutas, RFID/QR y FOD</a:t>
            </a:r>
            <a:endParaRPr lang="en-US" sz="670" dirty="0"/>
          </a:p>
        </p:txBody>
      </p:sp>
      <p:sp>
        <p:nvSpPr>
          <p:cNvPr id="13" name="Shape 11"/>
          <p:cNvSpPr/>
          <p:nvPr/>
        </p:nvSpPr>
        <p:spPr>
          <a:xfrm>
            <a:off x="5486400" y="2148840"/>
            <a:ext cx="182880" cy="1828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21808" y="1508760"/>
            <a:ext cx="512064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74920" y="2487168"/>
            <a:ext cx="822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720" dirty="0"/>
          </a:p>
        </p:txBody>
      </p:sp>
      <p:sp>
        <p:nvSpPr>
          <p:cNvPr id="16" name="Text 14"/>
          <p:cNvSpPr/>
          <p:nvPr/>
        </p:nvSpPr>
        <p:spPr>
          <a:xfrm>
            <a:off x="4892040" y="2834640"/>
            <a:ext cx="1188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904.736 €</a:t>
            </a:r>
            <a:endParaRPr lang="en-US" sz="720" dirty="0"/>
          </a:p>
        </p:txBody>
      </p:sp>
      <p:sp>
        <p:nvSpPr>
          <p:cNvPr id="17" name="Text 15"/>
          <p:cNvSpPr/>
          <p:nvPr/>
        </p:nvSpPr>
        <p:spPr>
          <a:xfrm>
            <a:off x="4572000" y="3182112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estaciones, retornos y gestor de flota</a:t>
            </a:r>
            <a:endParaRPr lang="en-US" sz="670" dirty="0"/>
          </a:p>
        </p:txBody>
      </p:sp>
      <p:sp>
        <p:nvSpPr>
          <p:cNvPr id="18" name="Shape 16"/>
          <p:cNvSpPr/>
          <p:nvPr/>
        </p:nvSpPr>
        <p:spPr>
          <a:xfrm>
            <a:off x="8869680" y="2148840"/>
            <a:ext cx="182880" cy="1828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05088" y="1508760"/>
            <a:ext cx="512064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58200" y="2487168"/>
            <a:ext cx="8229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Extendido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8275320" y="2834640"/>
            <a:ext cx="1188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2.051.616 €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7955280" y="3182112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amplia condicionada a KPIs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2194560" y="4224528"/>
            <a:ext cx="685800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4480" y="4663440"/>
            <a:ext cx="89611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Escalado por evidencia: seguridad, disponibilidad, aceptación operativa, entregas a tiempo y trazabilidad completa.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oferta separa robot, software, ingenieria y soporte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41248" y="1417320"/>
            <a:ext cx="182880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198.688€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1847088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80" dirty="0"/>
          </a:p>
        </p:txBody>
      </p:sp>
      <p:sp>
        <p:nvSpPr>
          <p:cNvPr id="10" name="Shape 8"/>
          <p:cNvSpPr/>
          <p:nvPr/>
        </p:nvSpPr>
        <p:spPr>
          <a:xfrm>
            <a:off x="868680" y="3429000"/>
            <a:ext cx="146304" cy="12801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16152" y="3959352"/>
            <a:ext cx="146304" cy="74980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63624" y="4050792"/>
            <a:ext cx="146304" cy="658368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11096" y="3886200"/>
            <a:ext cx="146304" cy="8229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58568" y="4178808"/>
            <a:ext cx="146304" cy="5303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44568" y="1417320"/>
            <a:ext cx="182880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904.736€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81144" y="1847088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572000" y="3429000"/>
            <a:ext cx="146304" cy="12801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919472" y="3959352"/>
            <a:ext cx="146304" cy="74980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66944" y="4050792"/>
            <a:ext cx="146304" cy="658368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14416" y="3886200"/>
            <a:ext cx="146304" cy="8229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61888" y="4178808"/>
            <a:ext cx="146304" cy="5303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7888" y="1417320"/>
            <a:ext cx="182880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2.051.616€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84464" y="1847088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80" dirty="0"/>
          </a:p>
        </p:txBody>
      </p:sp>
      <p:sp>
        <p:nvSpPr>
          <p:cNvPr id="24" name="Shape 22"/>
          <p:cNvSpPr/>
          <p:nvPr/>
        </p:nvSpPr>
        <p:spPr>
          <a:xfrm>
            <a:off x="8275320" y="3429000"/>
            <a:ext cx="146304" cy="12801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22792" y="3959352"/>
            <a:ext cx="146304" cy="74980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70264" y="4050792"/>
            <a:ext cx="146304" cy="658368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317736" y="3886200"/>
            <a:ext cx="146304" cy="8229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65208" y="4178808"/>
            <a:ext cx="146304" cy="5303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5532120"/>
            <a:ext cx="102412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Estimacion académica sin IVA. Referencias comerciales de AMR 250 kg usadas como benchmark de coste; la solución final mantiene base omnidireccional equivalente.</a:t>
            </a:r>
            <a:endParaRPr lang="en-US" sz="7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Capacidad recuperada, no reducción de plantilla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234440"/>
            <a:ext cx="3657600" cy="6583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basado en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datos de planta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68680" y="2240280"/>
            <a:ext cx="384048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salario 20.000-28.000 €/año solo valora tiempo improductivo recuperado. La decisión real exige VAN, OPEX, riesgo FOD y continuidad de flujo.</a:t>
            </a:r>
            <a:endParaRPr lang="en-US" sz="810" dirty="0"/>
          </a:p>
        </p:txBody>
      </p:sp>
      <p:sp>
        <p:nvSpPr>
          <p:cNvPr id="10" name="Shape 8"/>
          <p:cNvSpPr/>
          <p:nvPr/>
        </p:nvSpPr>
        <p:spPr>
          <a:xfrm>
            <a:off x="5577840" y="1115568"/>
            <a:ext cx="0" cy="4251960"/>
          </a:xfrm>
          <a:prstGeom prst="line">
            <a:avLst/>
          </a:prstGeom>
          <a:noFill/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298448"/>
            <a:ext cx="4480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ANUAL BRUTO REQUERIDO PARA VAN = 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925312" y="1847088"/>
            <a:ext cx="10058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452360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62.829 € anuales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897880" y="2331720"/>
            <a:ext cx="438912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25312" y="2807208"/>
            <a:ext cx="10058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452360" y="2715768"/>
            <a:ext cx="2560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316.429 € anuales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97880" y="3291840"/>
            <a:ext cx="438912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25312" y="3767328"/>
            <a:ext cx="10058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452360" y="3675888"/>
            <a:ext cx="256032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714.125 € anuales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97880" y="4251960"/>
            <a:ext cx="4389120" cy="0"/>
          </a:xfrm>
          <a:prstGeom prst="line">
            <a:avLst/>
          </a:prstGeom>
          <a:noFill/>
          <a:ln w="10160">
            <a:solidFill>
              <a:srgbClr val="D6DEE8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Partidas visibles, sin relleno ni promesas escondidas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41248" y="1207008"/>
            <a:ext cx="292608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compra el cliente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1874520"/>
            <a:ext cx="1554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+ sensores</a:t>
            </a:r>
            <a:endParaRPr lang="en-US" sz="690" dirty="0"/>
          </a:p>
        </p:txBody>
      </p:sp>
      <p:sp>
        <p:nvSpPr>
          <p:cNvPr id="10" name="Text 8"/>
          <p:cNvSpPr/>
          <p:nvPr/>
        </p:nvSpPr>
        <p:spPr>
          <a:xfrm>
            <a:off x="2743200" y="1847088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AMR + LiDAR + seguridad + RFID-QR + HMI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868680" y="2377440"/>
            <a:ext cx="1554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de flota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2743200" y="2350008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 + base de datos + conectores MES-ERP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868680" y="2880360"/>
            <a:ext cx="1554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Ingenieria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2743200" y="2852928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levantamiento + simulación CoppeliaSim + configuración + pruebas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868680" y="3383280"/>
            <a:ext cx="1554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Implantacion</a:t>
            </a:r>
            <a:endParaRPr lang="en-US" sz="690" dirty="0"/>
          </a:p>
        </p:txBody>
      </p:sp>
      <p:sp>
        <p:nvSpPr>
          <p:cNvPr id="16" name="Text 14"/>
          <p:cNvSpPr/>
          <p:nvPr/>
        </p:nvSpPr>
        <p:spPr>
          <a:xfrm>
            <a:off x="2743200" y="3355848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instalacion + formacion + mantenimiento + logística + soporte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868680" y="3886200"/>
            <a:ext cx="1554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Margen y riesgo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2743200" y="3858768"/>
            <a:ext cx="4572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académica y margen comercial explicito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8458200" y="1508760"/>
            <a:ext cx="17373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69.800 €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66760" y="1920240"/>
            <a:ext cx="21031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paquete AMR-FOD-Kitting por robot, con sensores y seguridad.</a:t>
            </a:r>
            <a:endParaRPr lang="en-US" sz="710" dirty="0"/>
          </a:p>
        </p:txBody>
      </p:sp>
      <p:sp>
        <p:nvSpPr>
          <p:cNvPr id="21" name="Text 19"/>
          <p:cNvSpPr/>
          <p:nvPr/>
        </p:nvSpPr>
        <p:spPr>
          <a:xfrm>
            <a:off x="8686800" y="2971800"/>
            <a:ext cx="132588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57616" y="3401568"/>
            <a:ext cx="2103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y margen comercial declarado.</a:t>
            </a:r>
            <a:endParaRPr lang="en-US" sz="710" dirty="0"/>
          </a:p>
        </p:txBody>
      </p:sp>
      <p:sp>
        <p:nvSpPr>
          <p:cNvPr id="23" name="Text 21"/>
          <p:cNvSpPr/>
          <p:nvPr/>
        </p:nvSpPr>
        <p:spPr>
          <a:xfrm>
            <a:off x="8686800" y="4434840"/>
            <a:ext cx="132588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años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21040" y="4864608"/>
            <a:ext cx="219456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y sensibilidad financiera para decidir escalado.</a:t>
            </a:r>
            <a:endParaRPr lang="en-US" sz="7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Recomendacion: medir antes de escalar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4747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robot primero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048256"/>
            <a:ext cx="38404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rutas, seguridad, entregas, trazabilidad, FOD y aceptación operativa. Escalar solo con datos.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83680" y="1828800"/>
            <a:ext cx="1493215" cy="967435"/>
          </a:xfrm>
          <a:prstGeom prst="roundRect">
            <a:avLst>
              <a:gd name="adj" fmla="val 7561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09867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03490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88429" y="2060143"/>
            <a:ext cx="504749" cy="504749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46163" y="2217877"/>
            <a:ext cx="189281" cy="189281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92440" y="2240280"/>
            <a:ext cx="132588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84080" y="2011680"/>
            <a:ext cx="5029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080000">
            <a:off x="10104120" y="1691640"/>
            <a:ext cx="868680" cy="59436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25780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verificadas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370332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tocar montaje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649224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costes por partida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914400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temario aplicado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Lunabotics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lastModifiedBy>Jorge Luis Mayorga Taborda</cp:lastModifiedBy>
  <cp:revision>1</cp:revision>
  <dcterms:created xsi:type="dcterms:W3CDTF">2026-05-19T05:00:42Z</dcterms:created>
  <dcterms:modified xsi:type="dcterms:W3CDTF">2026-05-19T05:00:42Z</dcterms:modified>
</cp:coreProperties>
</file>