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no robotiza el HTP: ordena el flujo que lo rodea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trazabilidad.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761488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 transporte, confirmación y evidencia.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8096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invade montaje aeronáutico certificado.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documentada.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trazabilidad fina se pierde si la entrega no queda ligada 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32304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no toca montaje certificado.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1115568" y="2724912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Estabiliza entregas, retornos, FOD y trazabilidad.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6" name="Text 14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181344" y="4187952"/>
            <a:ext cx="29260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para la propuesta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181344" y="4462272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sección 19.1 depende de kits, herramientas y disciplina FOD.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6181344" y="4718304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reduce esperas y deja trazas; no fabrica el HTP.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simulada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 no es fabricar: es asegurar flujo, FOD y trazabilidad.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de decisión, no seleccion por intuicion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2468880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PUNTUACION PONDERADA SOBRE 5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777240" y="1298448"/>
            <a:ext cx="11430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331720" y="1261872"/>
            <a:ext cx="33832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870" dirty="0"/>
          </a:p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RB-KAIROS/AGILOX-class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804672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 por maniobra en estación y representabilidad en CoppeliaSim; no por ser la opcion mas barata.</a:t>
            </a:r>
            <a:endParaRPr lang="en-US" sz="640" dirty="0"/>
          </a:p>
        </p:txBody>
      </p:sp>
      <p:sp>
        <p:nvSpPr>
          <p:cNvPr id="12" name="Text 10"/>
          <p:cNvSpPr/>
          <p:nvPr/>
        </p:nvSpPr>
        <p:spPr>
          <a:xfrm>
            <a:off x="822960" y="263347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3493008" y="267004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3008" y="2670048"/>
            <a:ext cx="3520440" cy="12801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26243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22960" y="3054096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diferencial MiR/Omron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3493008" y="3090672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3008" y="3090672"/>
            <a:ext cx="3200400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3044952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3493008" y="3511296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93008" y="3511296"/>
            <a:ext cx="2542032" cy="12801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3465576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3,05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822960" y="3895344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 con patas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3493008" y="3931920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93008" y="3931920"/>
            <a:ext cx="1517904" cy="12801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2360" y="3886200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1,85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822960" y="4315968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3493008" y="4352544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93008" y="4352544"/>
            <a:ext cx="1444752" cy="12801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52360" y="4306824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1,75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822960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3493008" y="477316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93008" y="4773168"/>
            <a:ext cx="1188720" cy="128016"/>
          </a:xfrm>
          <a:prstGeom prst="rect">
            <a:avLst/>
          </a:prstGeom>
          <a:solidFill>
            <a:srgbClr val="5D6B7A"/>
          </a:solidFill>
          <a:ln w="12700">
            <a:solidFill>
              <a:srgbClr val="5D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52360" y="472744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1,45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366760" y="1234440"/>
            <a:ext cx="21945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con peso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412480" y="1773936"/>
            <a:ext cx="109728" cy="1097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25 % maniobra en estación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8412480" y="2377440"/>
            <a:ext cx="109728" cy="10972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41080" y="2322576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20 % seguridad con operarios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412480" y="2980944"/>
            <a:ext cx="109728" cy="10972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292608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trazabilidad e integración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8412480" y="3584448"/>
            <a:ext cx="109728" cy="10972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41080" y="3529584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madurez comercial</a:t>
            </a:r>
            <a:endParaRPr lang="en-US" sz="710" dirty="0"/>
          </a:p>
        </p:txBody>
      </p:sp>
      <p:sp>
        <p:nvSpPr>
          <p:cNvPr id="45" name="Shape 43"/>
          <p:cNvSpPr/>
          <p:nvPr/>
        </p:nvSpPr>
        <p:spPr>
          <a:xfrm>
            <a:off x="8412480" y="418795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133088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coste/riesgo de integración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elegido y opciones reales de compra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shortlist defendible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187452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Recomendado: RB-KAIROS-class: 250 kg, 1,5 m/s, ROS 2, omni.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446520" y="2441448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313432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Alternativa: AGILOX ODM: 300 kg, 1,4 m/s, intralogística.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46520" y="300837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coste/carga AMR 250 kg.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446520" y="3575304"/>
            <a:ext cx="128016" cy="12801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447288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Descartado: KUKA omniMove: XXL y caro para kits.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19088" y="4498848"/>
            <a:ext cx="466344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licitacion exige base holonomica, safety pack, portakits, vx/vy/w, trazabilidad y pruebas FAT/SAT.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 y estación.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3886200" y="4462272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prevista y ruta ejecutada.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6492240" y="4462272"/>
            <a:ext cx="38404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RFID/QR, seguridad, confirmación e incidencia FOD.</a:t>
            </a:r>
            <a:endParaRPr lang="en-US" sz="7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286000" y="5047488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misión termina con evidencia: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5047488"/>
            <a:ext cx="4937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confirmada + ruta registrada + excepcion documentada.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663440"/>
            <a:ext cx="2377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minimo antes de planta: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446520" y="4956048"/>
            <a:ext cx="34747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95 % misiones entregan; cero contactos.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6446520" y="5193792"/>
            <a:ext cx="35661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misiones cerradas y bateria validada.</a:t>
            </a:r>
            <a:endParaRPr lang="en-US" sz="6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fases con entregables y criterio de paso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 controlado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03327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 CAPEX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103327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acotada y 1-2 estaciones.</a:t>
            </a:r>
            <a:endParaRPr lang="en-US" sz="640" dirty="0"/>
          </a:p>
        </p:txBody>
      </p:sp>
      <p:sp>
        <p:nvSpPr>
          <p:cNvPr id="13" name="Text 11"/>
          <p:cNvSpPr/>
          <p:nvPr/>
        </p:nvSpPr>
        <p:spPr>
          <a:xfrm>
            <a:off x="103327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RFID-QR y ronda FOD.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103327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aceptación y falsas alarmas.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103327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95 % misiones; 98 % trazas.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4068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82803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 CAPEX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482803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 y gestor de flota.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482803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de útiles y tablero de incidencias.</a:t>
            </a:r>
            <a:endParaRPr lang="en-US" sz="640" dirty="0"/>
          </a:p>
        </p:txBody>
      </p:sp>
      <p:sp>
        <p:nvSpPr>
          <p:cNvPr id="22" name="Text 20"/>
          <p:cNvSpPr/>
          <p:nvPr/>
        </p:nvSpPr>
        <p:spPr>
          <a:xfrm>
            <a:off x="482803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pasillos y baterias.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disponibilidad &gt;= 90 %.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836676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extendida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62279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 CAPEX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62279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auxiliar amplio e integración.</a:t>
            </a:r>
            <a:endParaRPr lang="en-US" sz="640" dirty="0"/>
          </a:p>
        </p:txBody>
      </p:sp>
      <p:sp>
        <p:nvSpPr>
          <p:cNvPr id="29" name="Text 27"/>
          <p:cNvSpPr/>
          <p:nvPr/>
        </p:nvSpPr>
        <p:spPr>
          <a:xfrm>
            <a:off x="862279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por turno y reservas de flota.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62279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comprar antes de medir.</a:t>
            </a:r>
            <a:endParaRPr lang="en-US" sz="620" dirty="0"/>
          </a:p>
        </p:txBody>
      </p:sp>
      <p:sp>
        <p:nvSpPr>
          <p:cNvPr id="31" name="Text 29"/>
          <p:cNvSpPr/>
          <p:nvPr/>
        </p:nvSpPr>
        <p:spPr>
          <a:xfrm>
            <a:off x="862279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beneficio cerca de VAN cero.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914400" y="5577840"/>
            <a:ext cx="3657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comercial: no se escala por intuicion.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4663440" y="5577840"/>
            <a:ext cx="5394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escala con trazas, seguridad, disponibilidad y uso real de flota.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Presupuesto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por escenario, sin caja negra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2011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CAPEX estimado sin IVA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77724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80467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1" name="Text 9"/>
          <p:cNvSpPr/>
          <p:nvPr/>
        </p:nvSpPr>
        <p:spPr>
          <a:xfrm>
            <a:off x="402336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405079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726948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29691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777240" y="2148840"/>
            <a:ext cx="10652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2331720"/>
            <a:ext cx="2286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Partida</a:t>
            </a:r>
            <a:endParaRPr lang="en-US" sz="63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8229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7699248" y="233172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9" name="Text 17"/>
          <p:cNvSpPr/>
          <p:nvPr/>
        </p:nvSpPr>
        <p:spPr>
          <a:xfrm>
            <a:off x="10149840" y="2331720"/>
            <a:ext cx="914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941832" y="272491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269748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 + sensores + portakits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5212080" y="269748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78.500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7388352" y="269748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549.500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9802368" y="269748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1.334.500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941832" y="300837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298094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flota + trazabilidad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5212080" y="298094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24.000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7388352" y="298094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65.000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9802368" y="298094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120.000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941832" y="3291840"/>
            <a:ext cx="54864" cy="5486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326440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 + CoppeliaSim</a:t>
            </a:r>
            <a:endParaRPr lang="en-US" sz="580" dirty="0"/>
          </a:p>
        </p:txBody>
      </p:sp>
      <p:sp>
        <p:nvSpPr>
          <p:cNvPr id="32" name="Text 30"/>
          <p:cNvSpPr/>
          <p:nvPr/>
        </p:nvSpPr>
        <p:spPr>
          <a:xfrm>
            <a:off x="5212080" y="326440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7388352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126.000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9802368" y="326440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245.000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941832" y="3575304"/>
            <a:ext cx="54864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3547872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mapeo + SAT</a:t>
            </a:r>
            <a:endParaRPr lang="en-US" sz="580" dirty="0"/>
          </a:p>
        </p:txBody>
      </p:sp>
      <p:sp>
        <p:nvSpPr>
          <p:cNvPr id="37" name="Text 35"/>
          <p:cNvSpPr/>
          <p:nvPr/>
        </p:nvSpPr>
        <p:spPr>
          <a:xfrm>
            <a:off x="5212080" y="3547872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20.000</a:t>
            </a:r>
            <a:endParaRPr lang="en-US" sz="580" dirty="0"/>
          </a:p>
        </p:txBody>
      </p:sp>
      <p:sp>
        <p:nvSpPr>
          <p:cNvPr id="38" name="Text 36"/>
          <p:cNvSpPr/>
          <p:nvPr/>
        </p:nvSpPr>
        <p:spPr>
          <a:xfrm>
            <a:off x="7388352" y="3547872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60.000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9802368" y="35478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135.000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41832" y="3858768"/>
            <a:ext cx="54864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8992" y="3831336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 + cambio operativo</a:t>
            </a:r>
            <a:endParaRPr lang="en-US" sz="580" dirty="0"/>
          </a:p>
        </p:txBody>
      </p:sp>
      <p:sp>
        <p:nvSpPr>
          <p:cNvPr id="42" name="Text 40"/>
          <p:cNvSpPr/>
          <p:nvPr/>
        </p:nvSpPr>
        <p:spPr>
          <a:xfrm>
            <a:off x="5212080" y="3831336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9.500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7388352" y="3831336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27.000</a:t>
            </a:r>
            <a:endParaRPr lang="en-US" sz="580" dirty="0"/>
          </a:p>
        </p:txBody>
      </p:sp>
      <p:sp>
        <p:nvSpPr>
          <p:cNvPr id="44" name="Text 42"/>
          <p:cNvSpPr/>
          <p:nvPr/>
        </p:nvSpPr>
        <p:spPr>
          <a:xfrm>
            <a:off x="9802368" y="3831336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45" name="Shape 43"/>
          <p:cNvSpPr/>
          <p:nvPr/>
        </p:nvSpPr>
        <p:spPr>
          <a:xfrm>
            <a:off x="941832" y="414223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8992" y="411480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año 1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5212080" y="411480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6.300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7388352" y="411480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44.100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80236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106.800</a:t>
            </a:r>
            <a:endParaRPr lang="en-US" sz="580" dirty="0"/>
          </a:p>
        </p:txBody>
      </p:sp>
      <p:sp>
        <p:nvSpPr>
          <p:cNvPr id="50" name="Shape 48"/>
          <p:cNvSpPr/>
          <p:nvPr/>
        </p:nvSpPr>
        <p:spPr>
          <a:xfrm>
            <a:off x="941832" y="442569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" y="439826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Logistica + ciber + docs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5212080" y="439826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12.000</a:t>
            </a:r>
            <a:endParaRPr lang="en-US" sz="580" dirty="0"/>
          </a:p>
        </p:txBody>
      </p:sp>
      <p:sp>
        <p:nvSpPr>
          <p:cNvPr id="53" name="Text 51"/>
          <p:cNvSpPr/>
          <p:nvPr/>
        </p:nvSpPr>
        <p:spPr>
          <a:xfrm>
            <a:off x="7388352" y="439826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38.000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9802368" y="439826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76.000</a:t>
            </a:r>
            <a:endParaRPr lang="en-US" sz="580" dirty="0"/>
          </a:p>
        </p:txBody>
      </p:sp>
      <p:sp>
        <p:nvSpPr>
          <p:cNvPr id="55" name="Shape 53"/>
          <p:cNvSpPr/>
          <p:nvPr/>
        </p:nvSpPr>
        <p:spPr>
          <a:xfrm>
            <a:off x="941832" y="4709160"/>
            <a:ext cx="548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468172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+ margen 12 %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5212080" y="468172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23.556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7388352" y="468172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109.152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9802368" y="468172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247.596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804672" y="5532120"/>
            <a:ext cx="6583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Referencias publicas: RB-KAIROS/AGILOX, MiR250/LD-250, Hokuyo, Intel, Zebra y SICK.</a:t>
            </a:r>
            <a:endParaRPr lang="en-US" sz="640" dirty="0"/>
          </a:p>
        </p:txBody>
      </p:sp>
      <p:sp>
        <p:nvSpPr>
          <p:cNvPr id="61" name="Text 59"/>
          <p:cNvSpPr/>
          <p:nvPr/>
        </p:nvSpPr>
        <p:spPr>
          <a:xfrm>
            <a:off x="7498080" y="553212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cotizacion vinculante.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recuperado frente a umbral financiero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AF7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53312"/>
            <a:ext cx="20116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 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Salario guia: 20.000-28.000 €/año.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9264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central: 24.000 €.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69264" y="2688336"/>
            <a:ext cx="2651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 empresa 1,35; 1.760 h/año.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60120" y="3246120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18,4 €/h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3913632"/>
            <a:ext cx="2560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monetiza tiempo improductivo; no reducción de plantilla.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4617720" y="1298448"/>
            <a:ext cx="4023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anual: recuperado vs VAN cero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17720" y="1627632"/>
            <a:ext cx="1463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recuperadas</a:t>
            </a:r>
            <a:endParaRPr lang="en-US" sz="570" dirty="0"/>
          </a:p>
        </p:txBody>
      </p:sp>
      <p:sp>
        <p:nvSpPr>
          <p:cNvPr id="17" name="Text 15"/>
          <p:cNvSpPr/>
          <p:nvPr/>
        </p:nvSpPr>
        <p:spPr>
          <a:xfrm>
            <a:off x="6446520" y="1627632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VAN cero</a:t>
            </a:r>
            <a:endParaRPr lang="en-US" sz="570" dirty="0"/>
          </a:p>
        </p:txBody>
      </p:sp>
      <p:sp>
        <p:nvSpPr>
          <p:cNvPr id="18" name="Text 16"/>
          <p:cNvSpPr/>
          <p:nvPr/>
        </p:nvSpPr>
        <p:spPr>
          <a:xfrm>
            <a:off x="4617720" y="224028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532120" y="224028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825 h/año</a:t>
            </a:r>
            <a:endParaRPr lang="en-US" sz="580" dirty="0"/>
          </a:p>
        </p:txBody>
      </p:sp>
      <p:sp>
        <p:nvSpPr>
          <p:cNvPr id="20" name="Shape 18"/>
          <p:cNvSpPr/>
          <p:nvPr/>
        </p:nvSpPr>
        <p:spPr>
          <a:xfrm>
            <a:off x="6812280" y="2194560"/>
            <a:ext cx="29260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2404872"/>
            <a:ext cx="1060704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608" y="214884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15.180 €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7918704" y="235915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80.260 €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4617720" y="320040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532120" y="320040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5.940 h/año</a:t>
            </a:r>
            <a:endParaRPr lang="en-US" sz="580" dirty="0"/>
          </a:p>
        </p:txBody>
      </p:sp>
      <p:sp>
        <p:nvSpPr>
          <p:cNvPr id="26" name="Shape 24"/>
          <p:cNvSpPr/>
          <p:nvPr/>
        </p:nvSpPr>
        <p:spPr>
          <a:xfrm>
            <a:off x="6812280" y="3154680"/>
            <a:ext cx="184708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364992"/>
            <a:ext cx="30175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05088" y="310896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109.296 €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875520" y="331927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359.263 €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532120" y="416052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14.000 h/año</a:t>
            </a:r>
            <a:endParaRPr lang="en-US" sz="580" dirty="0"/>
          </a:p>
        </p:txBody>
      </p:sp>
      <p:sp>
        <p:nvSpPr>
          <p:cNvPr id="32" name="Shape 30"/>
          <p:cNvSpPr/>
          <p:nvPr/>
        </p:nvSpPr>
        <p:spPr>
          <a:xfrm>
            <a:off x="6812280" y="4114800"/>
            <a:ext cx="3063240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4325112"/>
            <a:ext cx="43891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21240" y="406908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257.600 €</a:t>
            </a:r>
            <a:endParaRPr lang="en-US" sz="550" dirty="0"/>
          </a:p>
        </p:txBody>
      </p:sp>
      <p:sp>
        <p:nvSpPr>
          <p:cNvPr id="35" name="Text 33"/>
          <p:cNvSpPr/>
          <p:nvPr/>
        </p:nvSpPr>
        <p:spPr>
          <a:xfrm>
            <a:off x="11247120" y="427939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814.017 €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4617720" y="5230368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Lectura: con solo horas recuperadas el VAN central sigue exigente.</a:t>
            </a:r>
            <a:endParaRPr lang="en-US" sz="630" dirty="0"/>
          </a:p>
        </p:txBody>
      </p:sp>
      <p:sp>
        <p:nvSpPr>
          <p:cNvPr id="37" name="Text 35"/>
          <p:cNvSpPr/>
          <p:nvPr/>
        </p:nvSpPr>
        <p:spPr>
          <a:xfrm>
            <a:off x="4617720" y="5468112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o 17 robots requieren menos esperas, continuidad de flujo y menor riesgo FOD.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4617720" y="5705856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final debe usar datos reales hacia 80 HTP/mes.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comercial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condiciones de aceptación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234440"/>
            <a:ext cx="3017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de la fase piloto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68680" y="1920240"/>
            <a:ext cx="73152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83794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operativo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060704" y="205740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zonas lentas, carga y entrega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868680" y="2395728"/>
            <a:ext cx="7315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313432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Configuracion AMR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060704" y="2532888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misiones, prioridades y reglas de bateria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2788920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060704" y="3008376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BD, RFID-QR, HMI y excepciones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868680" y="3346704"/>
            <a:ext cx="73152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264408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preventivo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060704" y="3483864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rondas con imagen y validación humana</a:t>
            </a:r>
            <a:endParaRPr lang="en-US" sz="580" dirty="0"/>
          </a:p>
        </p:txBody>
      </p:sp>
      <p:sp>
        <p:nvSpPr>
          <p:cNvPr id="21" name="Shape 19"/>
          <p:cNvSpPr/>
          <p:nvPr/>
        </p:nvSpPr>
        <p:spPr>
          <a:xfrm>
            <a:off x="868680" y="3822192"/>
            <a:ext cx="73152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39896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CoppeliaSim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060704" y="3959352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SLAM, ruta bloqueada, cruce y FOD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868680" y="4297680"/>
            <a:ext cx="73152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421538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060704" y="443484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operarios, supervisores y mantenimiento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7315200" y="123444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FFF7E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de aceptación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07808" y="2148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42832" y="2148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contactos o incidentes con daño</a:t>
            </a:r>
            <a:endParaRPr lang="en-US" sz="590" dirty="0"/>
          </a:p>
        </p:txBody>
      </p:sp>
      <p:sp>
        <p:nvSpPr>
          <p:cNvPr id="31" name="Shape 29"/>
          <p:cNvSpPr/>
          <p:nvPr/>
        </p:nvSpPr>
        <p:spPr>
          <a:xfrm>
            <a:off x="7571232" y="2404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7808" y="26060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942832" y="26060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 completadas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7571232" y="28620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07808" y="30632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942832" y="30632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 con registro completo</a:t>
            </a:r>
            <a:endParaRPr lang="en-US" sz="590" dirty="0"/>
          </a:p>
        </p:txBody>
      </p:sp>
      <p:sp>
        <p:nvSpPr>
          <p:cNvPr id="37" name="Shape 35"/>
          <p:cNvSpPr/>
          <p:nvPr/>
        </p:nvSpPr>
        <p:spPr>
          <a:xfrm>
            <a:off x="7571232" y="33192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35204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942832" y="35204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 en turno piloto</a:t>
            </a:r>
            <a:endParaRPr lang="en-US" sz="590" dirty="0"/>
          </a:p>
        </p:txBody>
      </p:sp>
      <p:sp>
        <p:nvSpPr>
          <p:cNvPr id="40" name="Shape 38"/>
          <p:cNvSpPr/>
          <p:nvPr/>
        </p:nvSpPr>
        <p:spPr>
          <a:xfrm>
            <a:off x="7571232" y="37764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07808" y="39776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942832" y="39776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eventos revisables</a:t>
            </a:r>
            <a:endParaRPr lang="en-US" sz="590" dirty="0"/>
          </a:p>
        </p:txBody>
      </p:sp>
      <p:sp>
        <p:nvSpPr>
          <p:cNvPr id="43" name="Shape 41"/>
          <p:cNvSpPr/>
          <p:nvPr/>
        </p:nvSpPr>
        <p:spPr>
          <a:xfrm>
            <a:off x="7571232" y="42336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7808" y="4434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942832" y="4434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con VAN y datos de flujo</a:t>
            </a:r>
            <a:endParaRPr lang="en-US" sz="590" dirty="0"/>
          </a:p>
        </p:txBody>
      </p:sp>
      <p:sp>
        <p:nvSpPr>
          <p:cNvPr id="46" name="Shape 44"/>
          <p:cNvSpPr/>
          <p:nvPr/>
        </p:nvSpPr>
        <p:spPr>
          <a:xfrm>
            <a:off x="7571232" y="4690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5047488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Exclusion explicita: no se certifica montaje HTP.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7571232" y="5266944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Tampoco sustituye inspección aeronautica obligatoria.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 y entregas.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trazabilidad, FOD y aceptación.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59689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Escalar solo con datos.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tocar montaje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2026-05-20T04:18:49Z</dcterms:created>
  <dcterms:modified xsi:type="dcterms:W3CDTF">2026-05-20T04:18:49Z</dcterms:modified>
</cp:coreProperties>
</file>