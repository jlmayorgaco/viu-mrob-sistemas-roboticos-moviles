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262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554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02336"/>
            <a:ext cx="40233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OFERTA TÉCNICA Y COMERCIAL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" y="731520"/>
            <a:ext cx="493776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AMR-FOD-Kitting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035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intralogística para la línea HTP A320 y sección 19.1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42062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• Sistemas Robóticos Móviles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2272284" cy="1472184"/>
          </a:xfrm>
          <a:prstGeom prst="roundRect">
            <a:avLst>
              <a:gd name="adj" fmla="val 4969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67144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1352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266444"/>
            <a:ext cx="768096" cy="768096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3246" y="1506474"/>
            <a:ext cx="288036" cy="288036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4224528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4489704"/>
            <a:ext cx="411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se robotiza el HTP; se estabiliza el flujo que lo rodea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41148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espera.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trazabilidad.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riesgo FOD.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761488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Cubre transporte, confirmación y evidencia.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8096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toca montaje aeronáutico certificado.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37960" y="1143000"/>
            <a:ext cx="0" cy="4023360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132588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70992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actuales aproximados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7178040" y="2816352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80+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como objetivo futuro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7178040" y="4315968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178040" y="4700016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promesas de fabricación robotizada directa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pérdidas aparecen como microesperas, no como grandes paradas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60120" y="123444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4069080"/>
            <a:ext cx="0" cy="-20574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2011680"/>
            <a:ext cx="219456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011680"/>
            <a:ext cx="0" cy="18288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3840480"/>
            <a:ext cx="-164592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371600"/>
            <a:ext cx="1038758" cy="672998"/>
          </a:xfrm>
          <a:prstGeom prst="roundRect">
            <a:avLst>
              <a:gd name="adj" fmla="val 1087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6862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7643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0210" y="1532534"/>
            <a:ext cx="351130" cy="35113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9938" y="1642262"/>
            <a:ext cx="131674" cy="13167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234440"/>
            <a:ext cx="11887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1170432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 abandonan estación para buscar útiles o consumibles.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446520" y="2075688"/>
            <a:ext cx="118872" cy="3840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Kits incompletos bloquean trabajo sin quedar siempre visibles como parada.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6446520" y="2916936"/>
            <a:ext cx="118872" cy="3840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852928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exige inspección, disciplina y evidencia revisable.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446520" y="3758184"/>
            <a:ext cx="118872" cy="38404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694176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trazabilidad fina se pierde si la entrega no queda ligada a misión.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1517904" y="4809744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manual repetida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auxiliar en HTP A320 y sección 19.1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0744200" cy="4343400"/>
          </a:xfrm>
          <a:prstGeom prst="roundRect">
            <a:avLst>
              <a:gd name="adj" fmla="val 1684"/>
            </a:avLst>
          </a:prstGeom>
          <a:solidFill>
            <a:srgbClr val="EAF7FB"/>
          </a:solidFill>
          <a:ln w="12700">
            <a:solidFill>
              <a:srgbClr val="9DD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08760"/>
            <a:ext cx="39319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grande;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soporte logístico fino.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15568" y="2432304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no toca montaje certificado.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1115568" y="2724912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Estabiliza entregas, retornos, FOD y trazabilidad.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5029200" cy="1005840"/>
          </a:xfrm>
          <a:prstGeom prst="arc">
            <a:avLst/>
          </a:prstGeom>
          <a:noFill/>
          <a:ln w="1905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200000">
            <a:off x="2011680" y="2880360"/>
            <a:ext cx="1051560" cy="77724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8768" y="3163824"/>
            <a:ext cx="658368" cy="960120"/>
          </a:xfrm>
          <a:prstGeom prst="rect">
            <a:avLst/>
          </a:prstGeom>
          <a:solidFill>
            <a:srgbClr val="F3B37A"/>
          </a:solidFill>
          <a:ln w="12700">
            <a:solidFill>
              <a:srgbClr val="F3B3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3547872"/>
            <a:ext cx="38404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10" dirty="0"/>
          </a:p>
        </p:txBody>
      </p:sp>
      <p:sp>
        <p:nvSpPr>
          <p:cNvPr id="16" name="Text 14"/>
          <p:cNvSpPr/>
          <p:nvPr/>
        </p:nvSpPr>
        <p:spPr>
          <a:xfrm>
            <a:off x="612648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-&gt; entrega -&gt; registro -&gt; retorno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36208" y="306324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136392"/>
            <a:ext cx="1298448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validado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726680" y="3255264"/>
            <a:ext cx="45720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063240"/>
            <a:ext cx="15087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3136392"/>
            <a:ext cx="136245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Estacion HTP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trazada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9784080" y="3255264"/>
            <a:ext cx="438912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59568" y="306324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2720" y="3136392"/>
            <a:ext cx="99669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+ FOD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digital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181344" y="4187952"/>
            <a:ext cx="29260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clave de planta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6181344" y="4462272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sección 19.1 depende de kits, herramientas y disciplina FOD.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6181344" y="4718304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reduce esperas y deja trazas; no fabrica el HTP.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conversación guiada a requisitos trazables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69164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ACTA TÉCNICA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Pérez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+10 años de experiencia en Alestis Puerto Real.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19659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alcance correcto no es fabricar: es asegurar flujo, FOD y trazabilidad.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017520" y="1170432"/>
            <a:ext cx="19202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DE PLANTA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5897880" y="1170432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8275320" y="1170432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AMR-FOD-KITTING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2907792" y="150876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167335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3493008" y="160934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fabricar ni montar el HTP.</a:t>
            </a:r>
            <a:endParaRPr lang="en-US" sz="640" dirty="0"/>
          </a:p>
        </p:txBody>
      </p:sp>
      <p:sp>
        <p:nvSpPr>
          <p:cNvPr id="16" name="Text 14"/>
          <p:cNvSpPr/>
          <p:nvPr/>
        </p:nvSpPr>
        <p:spPr>
          <a:xfrm>
            <a:off x="5833872" y="160020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Automatizar solo flujo auxiliar certificado.</a:t>
            </a:r>
            <a:endParaRPr lang="en-US" sz="620" dirty="0"/>
          </a:p>
        </p:txBody>
      </p:sp>
      <p:sp>
        <p:nvSpPr>
          <p:cNvPr id="17" name="Text 15"/>
          <p:cNvSpPr/>
          <p:nvPr/>
        </p:nvSpPr>
        <p:spPr>
          <a:xfrm>
            <a:off x="8092440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Kitting, retorno de útiles y entregas trazadas.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2907792" y="228600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245059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3493008" y="238658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Prioridades y pasillos cambian durante el turno.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5833872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rutas rigidas y paradas manuales.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092440" y="237744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con SLAM y gestor de misiones.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907792" y="306324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2783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3493008" y="316382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requiere evidencia revisable.</a:t>
            </a:r>
            <a:endParaRPr lang="en-US" sz="640" dirty="0"/>
          </a:p>
        </p:txBody>
      </p:sp>
      <p:sp>
        <p:nvSpPr>
          <p:cNvPr id="26" name="Text 24"/>
          <p:cNvSpPr/>
          <p:nvPr/>
        </p:nvSpPr>
        <p:spPr>
          <a:xfrm>
            <a:off x="5833872" y="315468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rondas, imágenes y excepciones.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80924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RGB-D, RFID/QR y base de datos de eventos.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2907792" y="384048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3240" y="400507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3493008" y="394106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expansión debe depender de datos del piloto.</a:t>
            </a:r>
            <a:endParaRPr lang="en-US" sz="640" dirty="0"/>
          </a:p>
        </p:txBody>
      </p:sp>
      <p:sp>
        <p:nvSpPr>
          <p:cNvPr id="31" name="Text 29"/>
          <p:cNvSpPr/>
          <p:nvPr/>
        </p:nvSpPr>
        <p:spPr>
          <a:xfrm>
            <a:off x="5833872" y="393192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seguridad, entrega y disponibilidad.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809244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antes de pasar de 1 a 7 y 17 robots.</a:t>
            </a:r>
            <a:endParaRPr lang="en-US" sz="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aceptación conectados con el temario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 completadas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78892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8892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completo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 AMR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8122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incidentes con daño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777240" y="2670048"/>
            <a:ext cx="996696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Locomocion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mecanum/sueca con movimiento lateral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29184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29184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RFID-QR y seguridad separada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571500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1500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A* Dijkstra y evitacion local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813816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13816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 electricos limites de velocidad y E-stop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Matriz de decisión, no seleccion por intuicion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2468880" cy="1554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PUNTUACION PONDERADA SOBRE 5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777240" y="1298448"/>
            <a:ext cx="11430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331720" y="1261872"/>
            <a:ext cx="338328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870" dirty="0"/>
          </a:p>
          <a:p>
            <a:pPr algn="l" indent="0" marL="0">
              <a:buNone/>
            </a:pPr>
            <a:r>
              <a:rPr lang="en-US" sz="87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RB-KAIROS/AGILOX-class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804672" y="1901952"/>
            <a:ext cx="466344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Gana por maniobra en estación y representabilidad en CoppeliaSim; no por ser la opcion mas barata.</a:t>
            </a:r>
            <a:endParaRPr lang="en-US" sz="640" dirty="0"/>
          </a:p>
        </p:txBody>
      </p:sp>
      <p:sp>
        <p:nvSpPr>
          <p:cNvPr id="12" name="Text 10"/>
          <p:cNvSpPr/>
          <p:nvPr/>
        </p:nvSpPr>
        <p:spPr>
          <a:xfrm>
            <a:off x="822960" y="263347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</a:t>
            </a:r>
            <a:endParaRPr lang="en-US" sz="660" dirty="0"/>
          </a:p>
        </p:txBody>
      </p:sp>
      <p:sp>
        <p:nvSpPr>
          <p:cNvPr id="13" name="Shape 11"/>
          <p:cNvSpPr/>
          <p:nvPr/>
        </p:nvSpPr>
        <p:spPr>
          <a:xfrm>
            <a:off x="3493008" y="267004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3008" y="2670048"/>
            <a:ext cx="3520440" cy="12801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52360" y="262432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4,25</a:t>
            </a:r>
            <a:endParaRPr lang="en-US" sz="660" dirty="0"/>
          </a:p>
        </p:txBody>
      </p:sp>
      <p:sp>
        <p:nvSpPr>
          <p:cNvPr id="16" name="Text 14"/>
          <p:cNvSpPr/>
          <p:nvPr/>
        </p:nvSpPr>
        <p:spPr>
          <a:xfrm>
            <a:off x="822960" y="3054096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diferencial MiR/Omron</a:t>
            </a:r>
            <a:endParaRPr lang="en-US" sz="660" dirty="0"/>
          </a:p>
        </p:txBody>
      </p:sp>
      <p:sp>
        <p:nvSpPr>
          <p:cNvPr id="17" name="Shape 15"/>
          <p:cNvSpPr/>
          <p:nvPr/>
        </p:nvSpPr>
        <p:spPr>
          <a:xfrm>
            <a:off x="3493008" y="3090672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3008" y="3090672"/>
            <a:ext cx="3200400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3044952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3,85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822960" y="3474720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AGV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3493008" y="3511296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93008" y="3511296"/>
            <a:ext cx="2542032" cy="12801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3465576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3,05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822960" y="3895344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 con patas</a:t>
            </a:r>
            <a:endParaRPr lang="en-US" sz="660" dirty="0"/>
          </a:p>
        </p:txBody>
      </p:sp>
      <p:sp>
        <p:nvSpPr>
          <p:cNvPr id="25" name="Shape 23"/>
          <p:cNvSpPr/>
          <p:nvPr/>
        </p:nvSpPr>
        <p:spPr>
          <a:xfrm>
            <a:off x="3493008" y="3931920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93008" y="3931920"/>
            <a:ext cx="1517904" cy="128016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52360" y="3886200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1,85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822960" y="4315968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</a:t>
            </a:r>
            <a:endParaRPr lang="en-US" sz="660" dirty="0"/>
          </a:p>
        </p:txBody>
      </p:sp>
      <p:sp>
        <p:nvSpPr>
          <p:cNvPr id="29" name="Shape 27"/>
          <p:cNvSpPr/>
          <p:nvPr/>
        </p:nvSpPr>
        <p:spPr>
          <a:xfrm>
            <a:off x="3493008" y="4352544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93008" y="4352544"/>
            <a:ext cx="1444752" cy="128016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52360" y="4306824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1,75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822960" y="4736592"/>
            <a:ext cx="23317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orugas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3493008" y="4773168"/>
            <a:ext cx="3749040" cy="128016"/>
          </a:xfrm>
          <a:prstGeom prst="rect">
            <a:avLst/>
          </a:prstGeom>
          <a:solidFill>
            <a:srgbClr val="E8EEF4"/>
          </a:solidFill>
          <a:ln w="12700">
            <a:solidFill>
              <a:srgbClr val="E8EEF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93008" y="4773168"/>
            <a:ext cx="1188720" cy="128016"/>
          </a:xfrm>
          <a:prstGeom prst="rect">
            <a:avLst/>
          </a:prstGeom>
          <a:solidFill>
            <a:srgbClr val="5D6B7A"/>
          </a:solidFill>
          <a:ln w="12700">
            <a:solidFill>
              <a:srgbClr val="5D6B7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52360" y="4727448"/>
            <a:ext cx="384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1,45</a:t>
            </a:r>
            <a:endParaRPr lang="en-US" sz="660" dirty="0"/>
          </a:p>
        </p:txBody>
      </p:sp>
      <p:sp>
        <p:nvSpPr>
          <p:cNvPr id="36" name="Text 34"/>
          <p:cNvSpPr/>
          <p:nvPr/>
        </p:nvSpPr>
        <p:spPr>
          <a:xfrm>
            <a:off x="8366760" y="1234440"/>
            <a:ext cx="21945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criterios con peso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8412480" y="1773936"/>
            <a:ext cx="109728" cy="1097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25 % maniobra en estación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8412480" y="2377440"/>
            <a:ext cx="109728" cy="10972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41080" y="2322576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20 % seguridad con operarios</a:t>
            </a:r>
            <a:endParaRPr lang="en-US" sz="710" dirty="0"/>
          </a:p>
        </p:txBody>
      </p:sp>
      <p:sp>
        <p:nvSpPr>
          <p:cNvPr id="41" name="Shape 39"/>
          <p:cNvSpPr/>
          <p:nvPr/>
        </p:nvSpPr>
        <p:spPr>
          <a:xfrm>
            <a:off x="8412480" y="2980944"/>
            <a:ext cx="109728" cy="10972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641080" y="292608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trazabilidad e integración</a:t>
            </a:r>
            <a:endParaRPr lang="en-US" sz="710" dirty="0"/>
          </a:p>
        </p:txBody>
      </p:sp>
      <p:sp>
        <p:nvSpPr>
          <p:cNvPr id="43" name="Shape 41"/>
          <p:cNvSpPr/>
          <p:nvPr/>
        </p:nvSpPr>
        <p:spPr>
          <a:xfrm>
            <a:off x="8412480" y="3584448"/>
            <a:ext cx="109728" cy="10972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41080" y="3529584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madurez comercial</a:t>
            </a:r>
            <a:endParaRPr lang="en-US" sz="710" dirty="0"/>
          </a:p>
        </p:txBody>
      </p:sp>
      <p:sp>
        <p:nvSpPr>
          <p:cNvPr id="45" name="Shape 43"/>
          <p:cNvSpPr/>
          <p:nvPr/>
        </p:nvSpPr>
        <p:spPr>
          <a:xfrm>
            <a:off x="8412480" y="4187952"/>
            <a:ext cx="109728" cy="10972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41080" y="4133088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15 % coste/riesgo de integración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Modelo elegido y opciones reales de compra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2402129" cy="1556309"/>
          </a:xfrm>
          <a:prstGeom prst="roundRect">
            <a:avLst>
              <a:gd name="adj" fmla="val 470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397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702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6387" y="1789481"/>
            <a:ext cx="811987" cy="811987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0133" y="2043227"/>
            <a:ext cx="304495" cy="304495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78892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13258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E-stop + bumpers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2880360" y="3429000"/>
            <a:ext cx="1280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IMU + encoders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shortlist defendible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46520" y="187452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746504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Recomendado: RB-KAIROS-class: 250 kg, 1,5 m/s, ROS 2, omni.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446520" y="2441448"/>
            <a:ext cx="128016" cy="12801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313432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Alternativa: AGILOX ODM: 300 kg, 1,4 m/s, intralogística.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46520" y="3008376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2880360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Benchmark: MiR250 y LD-250 solo para coste/carga AMR 250 kg.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446520" y="3575304"/>
            <a:ext cx="128016" cy="128016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3447288"/>
            <a:ext cx="448056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Descartado: KUKA omniMove: XXL y caro para kits.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419088" y="4498848"/>
            <a:ext cx="466344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licitacion exige base holonomica, safety pack, portakits, vx/vy/w, trazabilidad y pruebas FAT/SAT.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por capas: navegar, actuar y dejar evidencia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8F7FA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9552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</a:t>
            </a:r>
            <a:endParaRPr lang="en-US" sz="580" dirty="0"/>
          </a:p>
        </p:txBody>
      </p:sp>
      <p:sp>
        <p:nvSpPr>
          <p:cNvPr id="11" name="Shape 9"/>
          <p:cNvSpPr/>
          <p:nvPr/>
        </p:nvSpPr>
        <p:spPr>
          <a:xfrm>
            <a:off x="223113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4FF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94436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IMU encoders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437997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8348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FF3E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9320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Dijkstra DWA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2881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7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4204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vx vy w ruedas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867765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8116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0ED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9088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BD MES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85800" y="3218688"/>
            <a:ext cx="1033272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456432"/>
            <a:ext cx="6949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Interrupcion de seguridad: escaner, bumper o E-stop detienen cualquier misión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749808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minimo por misión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49808" y="4462272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Robot, kit, origen, destino y estación.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3886200" y="4462272"/>
            <a:ext cx="2468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prevista y ruta ejecutada.</a:t>
            </a:r>
            <a:endParaRPr lang="en-US" sz="710" dirty="0"/>
          </a:p>
        </p:txBody>
      </p:sp>
      <p:sp>
        <p:nvSpPr>
          <p:cNvPr id="32" name="Text 30"/>
          <p:cNvSpPr/>
          <p:nvPr/>
        </p:nvSpPr>
        <p:spPr>
          <a:xfrm>
            <a:off x="6492240" y="4462272"/>
            <a:ext cx="38404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RFID/QR, seguridad, confirmación e incidencia FOD.</a:t>
            </a:r>
            <a:endParaRPr lang="en-US" sz="7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cerrado: pedir, mover, confirmar, registrar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68580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19786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219456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0662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2926080"/>
            <a:ext cx="292608" cy="29260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935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370332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21538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3429000"/>
            <a:ext cx="292608" cy="292608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50" dirty="0"/>
          </a:p>
        </p:txBody>
      </p:sp>
      <p:sp>
        <p:nvSpPr>
          <p:cNvPr id="22" name="Text 20"/>
          <p:cNvSpPr/>
          <p:nvPr/>
        </p:nvSpPr>
        <p:spPr>
          <a:xfrm>
            <a:off x="521208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72414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03720" y="2926080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72084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23290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12480" y="3429000"/>
            <a:ext cx="292608" cy="29260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822960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874166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21240" y="292608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73836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286000" y="5047488"/>
            <a:ext cx="27432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 con evidencia: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5047488"/>
            <a:ext cx="4937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confirmada + ruta registrada + excepcion justificada.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simulación reduce riesgo antes del piloto físico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554480"/>
            <a:ext cx="973836" cy="630936"/>
          </a:xfrm>
          <a:prstGeom prst="roundRect">
            <a:avLst>
              <a:gd name="adj" fmla="val 11594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47488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1705356"/>
            <a:ext cx="329184" cy="329184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014" y="1808226"/>
            <a:ext cx="123444" cy="12344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886200"/>
            <a:ext cx="3291840" cy="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3886200"/>
            <a:ext cx="0" cy="-182880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389888"/>
            <a:ext cx="3749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antes de planta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46520" y="1993392"/>
            <a:ext cx="100584" cy="100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874520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+ fusion: llegada nominal a estación HTP.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446520" y="2560320"/>
            <a:ext cx="100584" cy="10058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441448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/ Dijkstra: ruta alterna con pasillo bloqueado.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6446520" y="3127248"/>
            <a:ext cx="100584" cy="1005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008376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/ campos: cruce con operario y parada segura.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6446520" y="3694176"/>
            <a:ext cx="100584" cy="1005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75304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RGB-D: ronda FOD con captura de evidencia.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6446520" y="4663440"/>
            <a:ext cx="2377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minimo antes de planta: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446520" y="4956048"/>
            <a:ext cx="34747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95 % misiones entregan; cero contactos.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6446520" y="5193792"/>
            <a:ext cx="35661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misiones cerradas y bateria validada.</a:t>
            </a:r>
            <a:endParaRPr lang="en-US" sz="6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fases con entregables y criterio de paso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Piloto controlado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03327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 CAPEX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103327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acotada y 1-2 estaciones.</a:t>
            </a:r>
            <a:endParaRPr lang="en-US" sz="640" dirty="0"/>
          </a:p>
        </p:txBody>
      </p:sp>
      <p:sp>
        <p:nvSpPr>
          <p:cNvPr id="13" name="Text 11"/>
          <p:cNvSpPr/>
          <p:nvPr/>
        </p:nvSpPr>
        <p:spPr>
          <a:xfrm>
            <a:off x="103327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RFID-QR y ronda FOD.</a:t>
            </a:r>
            <a:endParaRPr lang="en-US" sz="640" dirty="0"/>
          </a:p>
        </p:txBody>
      </p:sp>
      <p:sp>
        <p:nvSpPr>
          <p:cNvPr id="14" name="Text 12"/>
          <p:cNvSpPr/>
          <p:nvPr/>
        </p:nvSpPr>
        <p:spPr>
          <a:xfrm>
            <a:off x="103327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aceptación y falsas alarmas.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103327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95 % misiones; 98 % trazas.</a:t>
            </a:r>
            <a:endParaRPr lang="en-US" sz="62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4068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82803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 CAPEX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482803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estaciones y gestor de flota.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482803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de útiles y tablero de incidencias.</a:t>
            </a:r>
            <a:endParaRPr lang="en-US" sz="640" dirty="0"/>
          </a:p>
        </p:txBody>
      </p:sp>
      <p:sp>
        <p:nvSpPr>
          <p:cNvPr id="22" name="Text 20"/>
          <p:cNvSpPr/>
          <p:nvPr/>
        </p:nvSpPr>
        <p:spPr>
          <a:xfrm>
            <a:off x="482803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pasillos y baterias.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482803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disponibilidad &gt;= 90 %.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836676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3544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extendida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862279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 CAPEX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62279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auxiliar amplio e integración.</a:t>
            </a:r>
            <a:endParaRPr lang="en-US" sz="640" dirty="0"/>
          </a:p>
        </p:txBody>
      </p:sp>
      <p:sp>
        <p:nvSpPr>
          <p:cNvPr id="29" name="Text 27"/>
          <p:cNvSpPr/>
          <p:nvPr/>
        </p:nvSpPr>
        <p:spPr>
          <a:xfrm>
            <a:off x="862279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por turno y reservas de flota.</a:t>
            </a:r>
            <a:endParaRPr lang="en-US" sz="640" dirty="0"/>
          </a:p>
        </p:txBody>
      </p:sp>
      <p:sp>
        <p:nvSpPr>
          <p:cNvPr id="30" name="Text 28"/>
          <p:cNvSpPr/>
          <p:nvPr/>
        </p:nvSpPr>
        <p:spPr>
          <a:xfrm>
            <a:off x="862279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ampliar antes de medir.</a:t>
            </a:r>
            <a:endParaRPr lang="en-US" sz="620" dirty="0"/>
          </a:p>
        </p:txBody>
      </p:sp>
      <p:sp>
        <p:nvSpPr>
          <p:cNvPr id="31" name="Text 29"/>
          <p:cNvSpPr/>
          <p:nvPr/>
        </p:nvSpPr>
        <p:spPr>
          <a:xfrm>
            <a:off x="862279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beneficio cerca de VAN cero.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914400" y="5577840"/>
            <a:ext cx="3657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comercial: no se escala por intuicion.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4663440" y="5577840"/>
            <a:ext cx="5394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escala con trazas, seguridad, disponibilidad y uso real de flota.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Presupuesto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Partidas por escenario, sin caja negra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42416"/>
            <a:ext cx="2011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CAPEX estimado sin IVA</a:t>
            </a:r>
            <a:endParaRPr lang="en-US" sz="640" dirty="0"/>
          </a:p>
        </p:txBody>
      </p:sp>
      <p:sp>
        <p:nvSpPr>
          <p:cNvPr id="9" name="Text 7"/>
          <p:cNvSpPr/>
          <p:nvPr/>
        </p:nvSpPr>
        <p:spPr>
          <a:xfrm>
            <a:off x="77724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219.856 €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80467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1" name="Text 9"/>
          <p:cNvSpPr/>
          <p:nvPr/>
        </p:nvSpPr>
        <p:spPr>
          <a:xfrm>
            <a:off x="402336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1.018.752 €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405079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3" name="Text 11"/>
          <p:cNvSpPr/>
          <p:nvPr/>
        </p:nvSpPr>
        <p:spPr>
          <a:xfrm>
            <a:off x="726948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2.310.896 €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29691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777240" y="2148840"/>
            <a:ext cx="10652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2331720"/>
            <a:ext cx="2286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Partida</a:t>
            </a:r>
            <a:endParaRPr lang="en-US" sz="630" dirty="0"/>
          </a:p>
        </p:txBody>
      </p:sp>
      <p:sp>
        <p:nvSpPr>
          <p:cNvPr id="17" name="Text 15"/>
          <p:cNvSpPr/>
          <p:nvPr/>
        </p:nvSpPr>
        <p:spPr>
          <a:xfrm>
            <a:off x="5486400" y="2331720"/>
            <a:ext cx="8229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7699248" y="233172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9" name="Text 17"/>
          <p:cNvSpPr/>
          <p:nvPr/>
        </p:nvSpPr>
        <p:spPr>
          <a:xfrm>
            <a:off x="10149840" y="2331720"/>
            <a:ext cx="9144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20" name="Shape 18"/>
          <p:cNvSpPr/>
          <p:nvPr/>
        </p:nvSpPr>
        <p:spPr>
          <a:xfrm>
            <a:off x="941832" y="272491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269748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 + sensores + portakits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5212080" y="269748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78.500</a:t>
            </a:r>
            <a:endParaRPr lang="en-US" sz="580" dirty="0"/>
          </a:p>
        </p:txBody>
      </p:sp>
      <p:sp>
        <p:nvSpPr>
          <p:cNvPr id="23" name="Text 21"/>
          <p:cNvSpPr/>
          <p:nvPr/>
        </p:nvSpPr>
        <p:spPr>
          <a:xfrm>
            <a:off x="7388352" y="269748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549.500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9802368" y="269748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1.334.500</a:t>
            </a:r>
            <a:endParaRPr lang="en-US" sz="580" dirty="0"/>
          </a:p>
        </p:txBody>
      </p:sp>
      <p:sp>
        <p:nvSpPr>
          <p:cNvPr id="25" name="Shape 23"/>
          <p:cNvSpPr/>
          <p:nvPr/>
        </p:nvSpPr>
        <p:spPr>
          <a:xfrm>
            <a:off x="941832" y="300837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298094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flota + trazabilidad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5212080" y="298094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24.000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7388352" y="298094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65.000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9802368" y="298094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120.000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941832" y="3291840"/>
            <a:ext cx="54864" cy="5486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326440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Ingenieria + CoppeliaSim</a:t>
            </a:r>
            <a:endParaRPr lang="en-US" sz="580" dirty="0"/>
          </a:p>
        </p:txBody>
      </p:sp>
      <p:sp>
        <p:nvSpPr>
          <p:cNvPr id="32" name="Text 30"/>
          <p:cNvSpPr/>
          <p:nvPr/>
        </p:nvSpPr>
        <p:spPr>
          <a:xfrm>
            <a:off x="5212080" y="326440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7388352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126.000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9802368" y="326440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245.000</a:t>
            </a:r>
            <a:endParaRPr lang="en-US" sz="580" dirty="0"/>
          </a:p>
        </p:txBody>
      </p:sp>
      <p:sp>
        <p:nvSpPr>
          <p:cNvPr id="35" name="Shape 33"/>
          <p:cNvSpPr/>
          <p:nvPr/>
        </p:nvSpPr>
        <p:spPr>
          <a:xfrm>
            <a:off x="941832" y="3575304"/>
            <a:ext cx="54864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78992" y="3547872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Instalacion + mapeo + SAT</a:t>
            </a:r>
            <a:endParaRPr lang="en-US" sz="580" dirty="0"/>
          </a:p>
        </p:txBody>
      </p:sp>
      <p:sp>
        <p:nvSpPr>
          <p:cNvPr id="37" name="Text 35"/>
          <p:cNvSpPr/>
          <p:nvPr/>
        </p:nvSpPr>
        <p:spPr>
          <a:xfrm>
            <a:off x="5212080" y="3547872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20.000</a:t>
            </a:r>
            <a:endParaRPr lang="en-US" sz="580" dirty="0"/>
          </a:p>
        </p:txBody>
      </p:sp>
      <p:sp>
        <p:nvSpPr>
          <p:cNvPr id="38" name="Text 36"/>
          <p:cNvSpPr/>
          <p:nvPr/>
        </p:nvSpPr>
        <p:spPr>
          <a:xfrm>
            <a:off x="7388352" y="3547872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60.000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9802368" y="35478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135.000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941832" y="3858768"/>
            <a:ext cx="54864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8992" y="3831336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 + cambio operativo</a:t>
            </a:r>
            <a:endParaRPr lang="en-US" sz="580" dirty="0"/>
          </a:p>
        </p:txBody>
      </p:sp>
      <p:sp>
        <p:nvSpPr>
          <p:cNvPr id="42" name="Text 40"/>
          <p:cNvSpPr/>
          <p:nvPr/>
        </p:nvSpPr>
        <p:spPr>
          <a:xfrm>
            <a:off x="5212080" y="3831336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9.500</a:t>
            </a:r>
            <a:endParaRPr lang="en-US" sz="580" dirty="0"/>
          </a:p>
        </p:txBody>
      </p:sp>
      <p:sp>
        <p:nvSpPr>
          <p:cNvPr id="43" name="Text 41"/>
          <p:cNvSpPr/>
          <p:nvPr/>
        </p:nvSpPr>
        <p:spPr>
          <a:xfrm>
            <a:off x="7388352" y="3831336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27.000</a:t>
            </a:r>
            <a:endParaRPr lang="en-US" sz="580" dirty="0"/>
          </a:p>
        </p:txBody>
      </p:sp>
      <p:sp>
        <p:nvSpPr>
          <p:cNvPr id="44" name="Text 42"/>
          <p:cNvSpPr/>
          <p:nvPr/>
        </p:nvSpPr>
        <p:spPr>
          <a:xfrm>
            <a:off x="9802368" y="3831336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46.000</a:t>
            </a:r>
            <a:endParaRPr lang="en-US" sz="580" dirty="0"/>
          </a:p>
        </p:txBody>
      </p:sp>
      <p:sp>
        <p:nvSpPr>
          <p:cNvPr id="45" name="Shape 43"/>
          <p:cNvSpPr/>
          <p:nvPr/>
        </p:nvSpPr>
        <p:spPr>
          <a:xfrm>
            <a:off x="941832" y="414223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8992" y="411480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año 1</a:t>
            </a:r>
            <a:endParaRPr lang="en-US" sz="580" dirty="0"/>
          </a:p>
        </p:txBody>
      </p:sp>
      <p:sp>
        <p:nvSpPr>
          <p:cNvPr id="47" name="Text 45"/>
          <p:cNvSpPr/>
          <p:nvPr/>
        </p:nvSpPr>
        <p:spPr>
          <a:xfrm>
            <a:off x="5212080" y="411480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6.300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7388352" y="411480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44.100</a:t>
            </a:r>
            <a:endParaRPr lang="en-US" sz="580" dirty="0"/>
          </a:p>
        </p:txBody>
      </p:sp>
      <p:sp>
        <p:nvSpPr>
          <p:cNvPr id="49" name="Text 47"/>
          <p:cNvSpPr/>
          <p:nvPr/>
        </p:nvSpPr>
        <p:spPr>
          <a:xfrm>
            <a:off x="9802368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106.800</a:t>
            </a:r>
            <a:endParaRPr lang="en-US" sz="580" dirty="0"/>
          </a:p>
        </p:txBody>
      </p:sp>
      <p:sp>
        <p:nvSpPr>
          <p:cNvPr id="50" name="Shape 48"/>
          <p:cNvSpPr/>
          <p:nvPr/>
        </p:nvSpPr>
        <p:spPr>
          <a:xfrm>
            <a:off x="941832" y="442569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8992" y="439826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Logistica + ciber + docs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5212080" y="439826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12.000</a:t>
            </a:r>
            <a:endParaRPr lang="en-US" sz="580" dirty="0"/>
          </a:p>
        </p:txBody>
      </p:sp>
      <p:sp>
        <p:nvSpPr>
          <p:cNvPr id="53" name="Text 51"/>
          <p:cNvSpPr/>
          <p:nvPr/>
        </p:nvSpPr>
        <p:spPr>
          <a:xfrm>
            <a:off x="7388352" y="439826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38.000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9802368" y="439826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76.000</a:t>
            </a:r>
            <a:endParaRPr lang="en-US" sz="580" dirty="0"/>
          </a:p>
        </p:txBody>
      </p:sp>
      <p:sp>
        <p:nvSpPr>
          <p:cNvPr id="55" name="Shape 53"/>
          <p:cNvSpPr/>
          <p:nvPr/>
        </p:nvSpPr>
        <p:spPr>
          <a:xfrm>
            <a:off x="941832" y="4709160"/>
            <a:ext cx="54864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78992" y="468172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+ margen 12 %</a:t>
            </a:r>
            <a:endParaRPr lang="en-US" sz="580" dirty="0"/>
          </a:p>
        </p:txBody>
      </p:sp>
      <p:sp>
        <p:nvSpPr>
          <p:cNvPr id="57" name="Text 55"/>
          <p:cNvSpPr/>
          <p:nvPr/>
        </p:nvSpPr>
        <p:spPr>
          <a:xfrm>
            <a:off x="5212080" y="468172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23.556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7388352" y="468172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109.152</a:t>
            </a:r>
            <a:endParaRPr lang="en-US" sz="580" dirty="0"/>
          </a:p>
        </p:txBody>
      </p:sp>
      <p:sp>
        <p:nvSpPr>
          <p:cNvPr id="59" name="Text 57"/>
          <p:cNvSpPr/>
          <p:nvPr/>
        </p:nvSpPr>
        <p:spPr>
          <a:xfrm>
            <a:off x="9802368" y="468172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247.596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804672" y="5532120"/>
            <a:ext cx="6583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Referencias publicas: RB-KAIROS/AGILOX, MiR250/LD-250, Hokuyo, Intel, Zebra y SICK.</a:t>
            </a:r>
            <a:endParaRPr lang="en-US" sz="640" dirty="0"/>
          </a:p>
        </p:txBody>
      </p:sp>
      <p:sp>
        <p:nvSpPr>
          <p:cNvPr id="61" name="Text 59"/>
          <p:cNvSpPr/>
          <p:nvPr/>
        </p:nvSpPr>
        <p:spPr>
          <a:xfrm>
            <a:off x="7498080" y="5532120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Estimacion preliminar.</a:t>
            </a:r>
            <a:endParaRPr lang="en-US" sz="6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 recuperado frente a umbral financiero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170432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EAF7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53312"/>
            <a:ext cx="20116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Supuesto 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Salario guia: 20.000-28.000 €/año.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9264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central: 24.000 €.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69264" y="2688336"/>
            <a:ext cx="2651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 empresa 1,35; 1.760 h/año.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60120" y="3246120"/>
            <a:ext cx="2103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18,4 €/h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552" y="3913632"/>
            <a:ext cx="2560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monetiza tiempo recuperado y continuidad de flujo.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4617720" y="1298448"/>
            <a:ext cx="4023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anual: recuperado vs VAN cero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17720" y="1627632"/>
            <a:ext cx="14630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horas recuperadas</a:t>
            </a:r>
            <a:endParaRPr lang="en-US" sz="570" dirty="0"/>
          </a:p>
        </p:txBody>
      </p:sp>
      <p:sp>
        <p:nvSpPr>
          <p:cNvPr id="17" name="Text 15"/>
          <p:cNvSpPr/>
          <p:nvPr/>
        </p:nvSpPr>
        <p:spPr>
          <a:xfrm>
            <a:off x="6446520" y="1627632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 VAN cero</a:t>
            </a:r>
            <a:endParaRPr lang="en-US" sz="570" dirty="0"/>
          </a:p>
        </p:txBody>
      </p:sp>
      <p:sp>
        <p:nvSpPr>
          <p:cNvPr id="18" name="Text 16"/>
          <p:cNvSpPr/>
          <p:nvPr/>
        </p:nvSpPr>
        <p:spPr>
          <a:xfrm>
            <a:off x="4617720" y="224028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532120" y="224028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825 h/año</a:t>
            </a:r>
            <a:endParaRPr lang="en-US" sz="580" dirty="0"/>
          </a:p>
        </p:txBody>
      </p:sp>
      <p:sp>
        <p:nvSpPr>
          <p:cNvPr id="20" name="Shape 18"/>
          <p:cNvSpPr/>
          <p:nvPr/>
        </p:nvSpPr>
        <p:spPr>
          <a:xfrm>
            <a:off x="6812280" y="2194560"/>
            <a:ext cx="29260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2404872"/>
            <a:ext cx="1060704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608" y="214884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15.180 €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7918704" y="235915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80.260 €</a:t>
            </a:r>
            <a:endParaRPr lang="en-US" sz="550" dirty="0"/>
          </a:p>
        </p:txBody>
      </p:sp>
      <p:sp>
        <p:nvSpPr>
          <p:cNvPr id="24" name="Text 22"/>
          <p:cNvSpPr/>
          <p:nvPr/>
        </p:nvSpPr>
        <p:spPr>
          <a:xfrm>
            <a:off x="4617720" y="320040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532120" y="320040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5.940 h/año</a:t>
            </a:r>
            <a:endParaRPr lang="en-US" sz="580" dirty="0"/>
          </a:p>
        </p:txBody>
      </p:sp>
      <p:sp>
        <p:nvSpPr>
          <p:cNvPr id="26" name="Shape 24"/>
          <p:cNvSpPr/>
          <p:nvPr/>
        </p:nvSpPr>
        <p:spPr>
          <a:xfrm>
            <a:off x="6812280" y="3154680"/>
            <a:ext cx="184708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364992"/>
            <a:ext cx="30175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05088" y="310896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109.296 €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9875520" y="331927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359.263 €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532120" y="416052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14.000 h/año</a:t>
            </a:r>
            <a:endParaRPr lang="en-US" sz="580" dirty="0"/>
          </a:p>
        </p:txBody>
      </p:sp>
      <p:sp>
        <p:nvSpPr>
          <p:cNvPr id="32" name="Shape 30"/>
          <p:cNvSpPr/>
          <p:nvPr/>
        </p:nvSpPr>
        <p:spPr>
          <a:xfrm>
            <a:off x="6812280" y="4114800"/>
            <a:ext cx="3063240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12280" y="4325112"/>
            <a:ext cx="43891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21240" y="406908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257.600 €</a:t>
            </a:r>
            <a:endParaRPr lang="en-US" sz="550" dirty="0"/>
          </a:p>
        </p:txBody>
      </p:sp>
      <p:sp>
        <p:nvSpPr>
          <p:cNvPr id="35" name="Text 33"/>
          <p:cNvSpPr/>
          <p:nvPr/>
        </p:nvSpPr>
        <p:spPr>
          <a:xfrm>
            <a:off x="11247120" y="427939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814.017 €</a:t>
            </a:r>
            <a:endParaRPr lang="en-US" sz="550" dirty="0"/>
          </a:p>
        </p:txBody>
      </p:sp>
      <p:sp>
        <p:nvSpPr>
          <p:cNvPr id="36" name="Text 34"/>
          <p:cNvSpPr/>
          <p:nvPr/>
        </p:nvSpPr>
        <p:spPr>
          <a:xfrm>
            <a:off x="4617720" y="5230368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financiera: las horas recuperadas abren el caso de 7 o 17 robots.</a:t>
            </a:r>
            <a:endParaRPr lang="en-US" sz="630" dirty="0"/>
          </a:p>
        </p:txBody>
      </p:sp>
      <p:sp>
        <p:nvSpPr>
          <p:cNvPr id="37" name="Text 35"/>
          <p:cNvSpPr/>
          <p:nvPr/>
        </p:nvSpPr>
        <p:spPr>
          <a:xfrm>
            <a:off x="4617720" y="5468112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ampliacion exige datos de espera, continuidad de flujo y riesgo FOD.</a:t>
            </a:r>
            <a:endParaRPr lang="en-US" sz="630" dirty="0"/>
          </a:p>
        </p:txBody>
      </p:sp>
      <p:sp>
        <p:nvSpPr>
          <p:cNvPr id="38" name="Text 36"/>
          <p:cNvSpPr/>
          <p:nvPr/>
        </p:nvSpPr>
        <p:spPr>
          <a:xfrm>
            <a:off x="4617720" y="5705856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final debe usar datos reales hacia 80 HTP/mes.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comercial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Entregables y condiciones de aceptación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234440"/>
            <a:ext cx="3017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de la fase piloto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868680" y="1920240"/>
            <a:ext cx="73152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83794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operativo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1060704" y="205740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zonas lentas, carga y entrega</a:t>
            </a:r>
            <a:endParaRPr lang="en-US" sz="580" dirty="0"/>
          </a:p>
        </p:txBody>
      </p:sp>
      <p:sp>
        <p:nvSpPr>
          <p:cNvPr id="12" name="Shape 10"/>
          <p:cNvSpPr/>
          <p:nvPr/>
        </p:nvSpPr>
        <p:spPr>
          <a:xfrm>
            <a:off x="868680" y="2395728"/>
            <a:ext cx="7315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313432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Configuracion AMR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060704" y="2532888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misiones, prioridades y reglas de bateria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868680" y="2871216"/>
            <a:ext cx="73152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2788920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1060704" y="3008376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BD, RFID-QR, HMI y excepciones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868680" y="3346704"/>
            <a:ext cx="73152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264408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preventivo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060704" y="3483864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rondas con imagen y revision humana</a:t>
            </a:r>
            <a:endParaRPr lang="en-US" sz="580" dirty="0"/>
          </a:p>
        </p:txBody>
      </p:sp>
      <p:sp>
        <p:nvSpPr>
          <p:cNvPr id="21" name="Shape 19"/>
          <p:cNvSpPr/>
          <p:nvPr/>
        </p:nvSpPr>
        <p:spPr>
          <a:xfrm>
            <a:off x="868680" y="3822192"/>
            <a:ext cx="73152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739896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Validacion CoppeliaSim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1060704" y="3959352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SLAM, ruta bloqueada, cruce y FOD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868680" y="4297680"/>
            <a:ext cx="73152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421538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060704" y="443484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operarios, supervisores y mantenimiento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7315200" y="1234440"/>
            <a:ext cx="4160520" cy="4343400"/>
          </a:xfrm>
          <a:prstGeom prst="roundRect">
            <a:avLst>
              <a:gd name="adj" fmla="val 1758"/>
            </a:avLst>
          </a:prstGeom>
          <a:solidFill>
            <a:srgbClr val="FFF7E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71232" y="1572768"/>
            <a:ext cx="1828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de aceptación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07808" y="2148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942832" y="2148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contactos o incidentes con daño</a:t>
            </a:r>
            <a:endParaRPr lang="en-US" sz="590" dirty="0"/>
          </a:p>
        </p:txBody>
      </p:sp>
      <p:sp>
        <p:nvSpPr>
          <p:cNvPr id="31" name="Shape 29"/>
          <p:cNvSpPr/>
          <p:nvPr/>
        </p:nvSpPr>
        <p:spPr>
          <a:xfrm>
            <a:off x="7571232" y="2404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07808" y="26060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942832" y="26060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 completadas</a:t>
            </a:r>
            <a:endParaRPr lang="en-US" sz="590" dirty="0"/>
          </a:p>
        </p:txBody>
      </p:sp>
      <p:sp>
        <p:nvSpPr>
          <p:cNvPr id="34" name="Shape 32"/>
          <p:cNvSpPr/>
          <p:nvPr/>
        </p:nvSpPr>
        <p:spPr>
          <a:xfrm>
            <a:off x="7571232" y="28620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07808" y="30632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942832" y="30632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 con registro completo</a:t>
            </a:r>
            <a:endParaRPr lang="en-US" sz="590" dirty="0"/>
          </a:p>
        </p:txBody>
      </p:sp>
      <p:sp>
        <p:nvSpPr>
          <p:cNvPr id="37" name="Shape 35"/>
          <p:cNvSpPr/>
          <p:nvPr/>
        </p:nvSpPr>
        <p:spPr>
          <a:xfrm>
            <a:off x="7571232" y="33192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07808" y="35204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942832" y="35204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 en turno piloto</a:t>
            </a:r>
            <a:endParaRPr lang="en-US" sz="590" dirty="0"/>
          </a:p>
        </p:txBody>
      </p:sp>
      <p:sp>
        <p:nvSpPr>
          <p:cNvPr id="40" name="Shape 38"/>
          <p:cNvSpPr/>
          <p:nvPr/>
        </p:nvSpPr>
        <p:spPr>
          <a:xfrm>
            <a:off x="7571232" y="37764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07808" y="39776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942832" y="39776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eventos revisables</a:t>
            </a:r>
            <a:endParaRPr lang="en-US" sz="590" dirty="0"/>
          </a:p>
        </p:txBody>
      </p:sp>
      <p:sp>
        <p:nvSpPr>
          <p:cNvPr id="43" name="Shape 41"/>
          <p:cNvSpPr/>
          <p:nvPr/>
        </p:nvSpPr>
        <p:spPr>
          <a:xfrm>
            <a:off x="7571232" y="42336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07808" y="4434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Escalado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942832" y="4434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con VAN y datos de flujo</a:t>
            </a:r>
            <a:endParaRPr lang="en-US" sz="590" dirty="0"/>
          </a:p>
        </p:txBody>
      </p:sp>
      <p:sp>
        <p:nvSpPr>
          <p:cNvPr id="46" name="Shape 44"/>
          <p:cNvSpPr/>
          <p:nvPr/>
        </p:nvSpPr>
        <p:spPr>
          <a:xfrm>
            <a:off x="7571232" y="4690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5047488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Exclusion explicita: no se certifica montaje HTP.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7571232" y="5266944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Tampoco sustituye inspección aeronautica obligatoria.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Recomendacion: medir antes de escalar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4747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robot primero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rutas, seguridad y entregas.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trazabilidad, FOD y aceptación.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59689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Escalar solo con datos.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1493215" cy="967435"/>
          </a:xfrm>
          <a:prstGeom prst="roundRect">
            <a:avLst>
              <a:gd name="adj" fmla="val 7561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09867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03490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8429" y="2060143"/>
            <a:ext cx="504749" cy="504749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46163" y="2217877"/>
            <a:ext cx="189281" cy="189281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2240280"/>
            <a:ext cx="132588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84080" y="2011680"/>
            <a:ext cx="5029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">
            <a:off x="10104120" y="1691640"/>
            <a:ext cx="868680" cy="59436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verificadas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370332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tocar montaje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49224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costes por partida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914400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temario aplicado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Lunabotics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lastModifiedBy>Jorge Luis Mayorga Taborda</cp:lastModifiedBy>
  <cp:revision>1</cp:revision>
  <dcterms:created xsi:type="dcterms:W3CDTF">2026-05-20T21:48:18Z</dcterms:created>
  <dcterms:modified xsi:type="dcterms:W3CDTF">2026-05-20T21:48:18Z</dcterms:modified>
</cp:coreProperties>
</file>