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 w="8890">
            <a:solidFill>
              <a:srgbClr val="0B1F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4" name="Shape 2"/>
          <p:cNvSpPr/>
          <p:nvPr/>
        </p:nvSpPr>
        <p:spPr>
          <a:xfrm>
            <a:off x="411480" y="0"/>
            <a:ext cx="0" cy="685800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822960" y="0"/>
            <a:ext cx="0" cy="685800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234440" y="0"/>
            <a:ext cx="0" cy="685800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1645920" y="0"/>
            <a:ext cx="0" cy="685800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2057400" y="0"/>
            <a:ext cx="0" cy="685800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2468880" y="0"/>
            <a:ext cx="0" cy="685800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2880360" y="0"/>
            <a:ext cx="0" cy="685800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291840" y="0"/>
            <a:ext cx="0" cy="685800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3703320" y="0"/>
            <a:ext cx="0" cy="685800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4526280" y="0"/>
            <a:ext cx="0" cy="685800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4937760" y="0"/>
            <a:ext cx="0" cy="685800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5349240" y="0"/>
            <a:ext cx="0" cy="685800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5760720" y="0"/>
            <a:ext cx="0" cy="685800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6172200" y="0"/>
            <a:ext cx="0" cy="685800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6583680" y="0"/>
            <a:ext cx="0" cy="685800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6995160" y="0"/>
            <a:ext cx="0" cy="685800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7406640" y="0"/>
            <a:ext cx="0" cy="685800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7818120" y="0"/>
            <a:ext cx="0" cy="685800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8641080" y="0"/>
            <a:ext cx="0" cy="685800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9052560" y="0"/>
            <a:ext cx="0" cy="685800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464040" y="0"/>
            <a:ext cx="0" cy="685800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9875520" y="0"/>
            <a:ext cx="0" cy="685800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10287000" y="0"/>
            <a:ext cx="0" cy="685800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10698480" y="0"/>
            <a:ext cx="0" cy="685800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11109960" y="0"/>
            <a:ext cx="0" cy="685800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11521440" y="0"/>
            <a:ext cx="0" cy="685800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11932920" y="0"/>
            <a:ext cx="0" cy="685800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0" y="411480"/>
            <a:ext cx="12191695" cy="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0" y="822960"/>
            <a:ext cx="12191695" cy="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0" y="1234440"/>
            <a:ext cx="12191695" cy="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37" name="Shape 35"/>
          <p:cNvSpPr/>
          <p:nvPr/>
        </p:nvSpPr>
        <p:spPr>
          <a:xfrm>
            <a:off x="0" y="1645920"/>
            <a:ext cx="12191695" cy="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38" name="Shape 36"/>
          <p:cNvSpPr/>
          <p:nvPr/>
        </p:nvSpPr>
        <p:spPr>
          <a:xfrm>
            <a:off x="0" y="2057400"/>
            <a:ext cx="12191695" cy="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39" name="Shape 37"/>
          <p:cNvSpPr/>
          <p:nvPr/>
        </p:nvSpPr>
        <p:spPr>
          <a:xfrm>
            <a:off x="0" y="2468880"/>
            <a:ext cx="12191695" cy="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0" y="2880360"/>
            <a:ext cx="12191695" cy="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41" name="Shape 39"/>
          <p:cNvSpPr/>
          <p:nvPr/>
        </p:nvSpPr>
        <p:spPr>
          <a:xfrm>
            <a:off x="0" y="3291840"/>
            <a:ext cx="12191695" cy="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42" name="Shape 40"/>
          <p:cNvSpPr/>
          <p:nvPr/>
        </p:nvSpPr>
        <p:spPr>
          <a:xfrm>
            <a:off x="0" y="3703320"/>
            <a:ext cx="12191695" cy="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0" y="4526280"/>
            <a:ext cx="12191695" cy="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45" name="Shape 43"/>
          <p:cNvSpPr/>
          <p:nvPr/>
        </p:nvSpPr>
        <p:spPr>
          <a:xfrm>
            <a:off x="0" y="4937760"/>
            <a:ext cx="12191695" cy="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46" name="Shape 44"/>
          <p:cNvSpPr/>
          <p:nvPr/>
        </p:nvSpPr>
        <p:spPr>
          <a:xfrm>
            <a:off x="0" y="5349240"/>
            <a:ext cx="12191695" cy="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0" y="5760720"/>
            <a:ext cx="12191695" cy="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48" name="Shape 46"/>
          <p:cNvSpPr/>
          <p:nvPr/>
        </p:nvSpPr>
        <p:spPr>
          <a:xfrm>
            <a:off x="0" y="6172200"/>
            <a:ext cx="12191695" cy="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49" name="Shape 47"/>
          <p:cNvSpPr/>
          <p:nvPr/>
        </p:nvSpPr>
        <p:spPr>
          <a:xfrm>
            <a:off x="0" y="6583680"/>
            <a:ext cx="12191695" cy="0"/>
          </a:xfrm>
          <a:prstGeom prst="line">
            <a:avLst/>
          </a:prstGeom>
          <a:noFill/>
          <a:ln w="3175">
            <a:solidFill>
              <a:srgbClr val="17324C"/>
            </a:solidFill>
            <a:prstDash val="solid"/>
            <a:tailEnd type="none"/>
          </a:ln>
        </p:spPr>
      </p:sp>
      <p:sp>
        <p:nvSpPr>
          <p:cNvPr id="50" name="Text 48"/>
          <p:cNvSpPr/>
          <p:nvPr/>
        </p:nvSpPr>
        <p:spPr>
          <a:xfrm>
            <a:off x="566928" y="50292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UNIVERSIDAD INTERNACIONAL DE VALENCIA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566928" y="1316736"/>
            <a:ext cx="5303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Pioneer P3DX en</a:t>
            </a:r>
            <a:endParaRPr lang="en-US" sz="3400" dirty="0"/>
          </a:p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CoppeliaSim/Lua</a:t>
            </a:r>
            <a:endParaRPr lang="en-US" sz="3400" dirty="0"/>
          </a:p>
        </p:txBody>
      </p:sp>
      <p:sp>
        <p:nvSpPr>
          <p:cNvPr id="52" name="Text 50"/>
          <p:cNvSpPr/>
          <p:nvPr/>
        </p:nvSpPr>
        <p:spPr>
          <a:xfrm>
            <a:off x="594360" y="2761488"/>
            <a:ext cx="4892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9E2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Campos potenciales, anticolision, integracion en celda, bateria simulada y extension multi-robot con A* cooperativo.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594360" y="5074920"/>
            <a:ext cx="3931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C7D3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Autor: Jorge Luis Mayorga Taborda</a:t>
            </a: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C7D3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Profesor: Jose I. Iniguez</a:t>
            </a: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C7D3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Entrega: 26 de mayo de 2026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6446520" y="1170432"/>
            <a:ext cx="4663440" cy="4443984"/>
          </a:xfrm>
          <a:prstGeom prst="rect">
            <a:avLst/>
          </a:prstGeom>
          <a:solidFill>
            <a:srgbClr val="F7F8FA"/>
          </a:solidFill>
          <a:ln w="8890">
            <a:solidFill>
              <a:srgbClr val="D8DEE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029450" y="1307592"/>
            <a:ext cx="0" cy="4169664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56" name="Shape 54"/>
          <p:cNvSpPr/>
          <p:nvPr/>
        </p:nvSpPr>
        <p:spPr>
          <a:xfrm>
            <a:off x="7612380" y="1307592"/>
            <a:ext cx="0" cy="4169664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57" name="Shape 55"/>
          <p:cNvSpPr/>
          <p:nvPr/>
        </p:nvSpPr>
        <p:spPr>
          <a:xfrm>
            <a:off x="8195310" y="1307592"/>
            <a:ext cx="0" cy="4169664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58" name="Shape 56"/>
          <p:cNvSpPr/>
          <p:nvPr/>
        </p:nvSpPr>
        <p:spPr>
          <a:xfrm>
            <a:off x="8778240" y="1307592"/>
            <a:ext cx="0" cy="4169664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9361170" y="1307592"/>
            <a:ext cx="0" cy="4169664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60" name="Shape 58"/>
          <p:cNvSpPr/>
          <p:nvPr/>
        </p:nvSpPr>
        <p:spPr>
          <a:xfrm>
            <a:off x="9944100" y="1307592"/>
            <a:ext cx="0" cy="4169664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61" name="Shape 59"/>
          <p:cNvSpPr/>
          <p:nvPr/>
        </p:nvSpPr>
        <p:spPr>
          <a:xfrm>
            <a:off x="10527030" y="1307592"/>
            <a:ext cx="0" cy="4169664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62" name="Shape 60"/>
          <p:cNvSpPr/>
          <p:nvPr/>
        </p:nvSpPr>
        <p:spPr>
          <a:xfrm>
            <a:off x="6583680" y="1805287"/>
            <a:ext cx="4389120" cy="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63" name="Shape 61"/>
          <p:cNvSpPr/>
          <p:nvPr/>
        </p:nvSpPr>
        <p:spPr>
          <a:xfrm>
            <a:off x="6583680" y="2440142"/>
            <a:ext cx="4389120" cy="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64" name="Shape 62"/>
          <p:cNvSpPr/>
          <p:nvPr/>
        </p:nvSpPr>
        <p:spPr>
          <a:xfrm>
            <a:off x="6583680" y="3074997"/>
            <a:ext cx="4389120" cy="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65" name="Shape 63"/>
          <p:cNvSpPr/>
          <p:nvPr/>
        </p:nvSpPr>
        <p:spPr>
          <a:xfrm>
            <a:off x="6583680" y="3709851"/>
            <a:ext cx="4389120" cy="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66" name="Shape 64"/>
          <p:cNvSpPr/>
          <p:nvPr/>
        </p:nvSpPr>
        <p:spPr>
          <a:xfrm>
            <a:off x="6583680" y="4344706"/>
            <a:ext cx="4389120" cy="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67" name="Shape 65"/>
          <p:cNvSpPr/>
          <p:nvPr/>
        </p:nvSpPr>
        <p:spPr>
          <a:xfrm>
            <a:off x="6583680" y="4979561"/>
            <a:ext cx="4389120" cy="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68" name="Shape 66"/>
          <p:cNvSpPr/>
          <p:nvPr/>
        </p:nvSpPr>
        <p:spPr>
          <a:xfrm>
            <a:off x="6903720" y="4133088"/>
            <a:ext cx="1005840" cy="749808"/>
          </a:xfrm>
          <a:prstGeom prst="rect">
            <a:avLst/>
          </a:prstGeom>
          <a:solidFill>
            <a:srgbClr val="EAF1FA"/>
          </a:solidFill>
          <a:ln w="8890">
            <a:solidFill>
              <a:srgbClr val="D8DEE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198864" y="4160520"/>
            <a:ext cx="1371600" cy="804672"/>
          </a:xfrm>
          <a:prstGeom prst="rect">
            <a:avLst/>
          </a:prstGeom>
          <a:solidFill>
            <a:srgbClr val="FBF2DF"/>
          </a:solidFill>
          <a:ln w="8890">
            <a:solidFill>
              <a:srgbClr val="D8DEE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418320" y="1572768"/>
            <a:ext cx="1143000" cy="566928"/>
          </a:xfrm>
          <a:prstGeom prst="rect">
            <a:avLst/>
          </a:prstGeom>
          <a:solidFill>
            <a:srgbClr val="EAF5EE"/>
          </a:solidFill>
          <a:ln w="8890">
            <a:solidFill>
              <a:srgbClr val="D8DEE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878300" y="1883298"/>
            <a:ext cx="361737" cy="220188"/>
          </a:xfrm>
          <a:prstGeom prst="rect">
            <a:avLst/>
          </a:prstGeom>
          <a:solidFill>
            <a:srgbClr val="E6F4F4"/>
          </a:solidFill>
          <a:ln w="8890">
            <a:solidFill>
              <a:srgbClr val="168B8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964802" y="1946209"/>
            <a:ext cx="188732" cy="94366"/>
          </a:xfrm>
          <a:prstGeom prst="rect">
            <a:avLst/>
          </a:prstGeom>
          <a:solidFill>
            <a:srgbClr val="FFFFFF"/>
          </a:solidFill>
          <a:ln w="8890">
            <a:solidFill>
              <a:srgbClr val="168B8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240036" y="1993392"/>
            <a:ext cx="149413" cy="0"/>
          </a:xfrm>
          <a:prstGeom prst="line">
            <a:avLst/>
          </a:prstGeom>
          <a:noFill/>
          <a:ln w="13970">
            <a:solidFill>
              <a:srgbClr val="168B8F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6744614" y="1678838"/>
            <a:ext cx="629107" cy="629107"/>
          </a:xfrm>
          <a:prstGeom prst="ellipse">
            <a:avLst/>
          </a:prstGeom>
          <a:solidFill>
            <a:srgbClr val="FFFFFF"/>
          </a:solidFill>
          <a:ln w="8890">
            <a:solidFill>
              <a:srgbClr val="168B8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3746" y="1497970"/>
            <a:ext cx="990844" cy="990844"/>
          </a:xfrm>
          <a:prstGeom prst="ellipse">
            <a:avLst/>
          </a:prstGeom>
          <a:solidFill>
            <a:srgbClr val="FFFFFF"/>
          </a:solidFill>
          <a:ln w="8890">
            <a:solidFill>
              <a:srgbClr val="168B8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059168" y="1993392"/>
            <a:ext cx="1033272" cy="0"/>
          </a:xfrm>
          <a:prstGeom prst="line">
            <a:avLst/>
          </a:prstGeom>
          <a:noFill/>
          <a:ln w="25400">
            <a:solidFill>
              <a:srgbClr val="E8552D"/>
            </a:solidFill>
            <a:prstDash val="solid"/>
            <a:tailEnd type="triangle"/>
          </a:ln>
        </p:spPr>
      </p:sp>
      <p:sp>
        <p:nvSpPr>
          <p:cNvPr id="77" name="Shape 75"/>
          <p:cNvSpPr/>
          <p:nvPr/>
        </p:nvSpPr>
        <p:spPr>
          <a:xfrm>
            <a:off x="8092440" y="1993392"/>
            <a:ext cx="0" cy="1344168"/>
          </a:xfrm>
          <a:prstGeom prst="line">
            <a:avLst/>
          </a:prstGeom>
          <a:noFill/>
          <a:ln w="25400">
            <a:solidFill>
              <a:srgbClr val="E8552D"/>
            </a:solidFill>
            <a:prstDash val="solid"/>
            <a:tailEnd type="triangle"/>
          </a:ln>
        </p:spPr>
      </p:sp>
      <p:sp>
        <p:nvSpPr>
          <p:cNvPr id="78" name="Shape 76"/>
          <p:cNvSpPr/>
          <p:nvPr/>
        </p:nvSpPr>
        <p:spPr>
          <a:xfrm>
            <a:off x="8092440" y="3337560"/>
            <a:ext cx="2148840" cy="0"/>
          </a:xfrm>
          <a:prstGeom prst="line">
            <a:avLst/>
          </a:prstGeom>
          <a:noFill/>
          <a:ln w="25400">
            <a:solidFill>
              <a:srgbClr val="E8552D"/>
            </a:solidFill>
            <a:prstDash val="solid"/>
            <a:tailEnd type="triangle"/>
          </a:ln>
        </p:spPr>
      </p:sp>
      <p:sp>
        <p:nvSpPr>
          <p:cNvPr id="79" name="Shape 77"/>
          <p:cNvSpPr/>
          <p:nvPr/>
        </p:nvSpPr>
        <p:spPr>
          <a:xfrm>
            <a:off x="10241280" y="3337560"/>
            <a:ext cx="0" cy="1280160"/>
          </a:xfrm>
          <a:prstGeom prst="line">
            <a:avLst/>
          </a:prstGeom>
          <a:noFill/>
          <a:ln w="25400">
            <a:solidFill>
              <a:srgbClr val="E8552D"/>
            </a:solidFill>
            <a:prstDash val="solid"/>
            <a:tailEnd type="triangle"/>
          </a:ln>
        </p:spPr>
      </p:sp>
      <p:sp>
        <p:nvSpPr>
          <p:cNvPr id="80" name="Text 78"/>
          <p:cNvSpPr/>
          <p:nvPr/>
        </p:nvSpPr>
        <p:spPr>
          <a:xfrm>
            <a:off x="7223760" y="3730752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celda robotizada</a:t>
            </a:r>
            <a:endParaRPr lang="en-US" sz="600" dirty="0"/>
          </a:p>
        </p:txBody>
      </p:sp>
      <p:sp>
        <p:nvSpPr>
          <p:cNvPr id="81" name="Text 79"/>
          <p:cNvSpPr/>
          <p:nvPr/>
        </p:nvSpPr>
        <p:spPr>
          <a:xfrm>
            <a:off x="9802368" y="3822192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objetivo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"/>
            <a:ext cx="12191695" cy="0"/>
          </a:xfrm>
          <a:prstGeom prst="line">
            <a:avLst/>
          </a:prstGeom>
          <a:noFill/>
          <a:ln w="7620">
            <a:solidFill>
              <a:srgbClr val="D8DEE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18872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446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 de la guia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 tiene que demostrar la entrega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6601968"/>
            <a:ext cx="4114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 ·  Sistemas Roboticos Moviles  ·  CoppeliaSim/Lua</a:t>
            </a:r>
            <a:endParaRPr lang="en-US" sz="600" dirty="0"/>
          </a:p>
        </p:txBody>
      </p:sp>
      <p:sp>
        <p:nvSpPr>
          <p:cNvPr id="7" name="Text 5"/>
          <p:cNvSpPr/>
          <p:nvPr/>
        </p:nvSpPr>
        <p:spPr>
          <a:xfrm>
            <a:off x="11356848" y="6583680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6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2/15</a:t>
            </a:r>
            <a:endParaRPr lang="en-US" sz="600" dirty="0"/>
          </a:p>
        </p:txBody>
      </p:sp>
      <p:sp>
        <p:nvSpPr>
          <p:cNvPr id="8" name="Text 6"/>
          <p:cNvSpPr/>
          <p:nvPr/>
        </p:nvSpPr>
        <p:spPr>
          <a:xfrm>
            <a:off x="530352" y="1143000"/>
            <a:ext cx="9875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presentacion separa lo obligatorio de la mejora profesional para que la defensa sea facil de corregir.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77240" y="2057400"/>
            <a:ext cx="3154680" cy="2788920"/>
          </a:xfrm>
          <a:prstGeom prst="rect">
            <a:avLst/>
          </a:prstGeom>
          <a:solidFill>
            <a:srgbClr val="E6F4F4"/>
          </a:solidFill>
          <a:ln w="8890">
            <a:solidFill>
              <a:srgbClr val="168B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22402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68B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 Pioneer programado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2715768"/>
            <a:ext cx="2788920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Script Lua embebido, lectura de objetivo, velocidad de ruedas y telemetria.</a:t>
            </a:r>
            <a:endParaRPr lang="en-US" sz="840" dirty="0"/>
          </a:p>
        </p:txBody>
      </p:sp>
      <p:sp>
        <p:nvSpPr>
          <p:cNvPr id="12" name="Shape 10"/>
          <p:cNvSpPr/>
          <p:nvPr/>
        </p:nvSpPr>
        <p:spPr>
          <a:xfrm>
            <a:off x="4526280" y="2057400"/>
            <a:ext cx="3154680" cy="2788920"/>
          </a:xfrm>
          <a:prstGeom prst="rect">
            <a:avLst/>
          </a:prstGeom>
          <a:solidFill>
            <a:srgbClr val="FDEDE8"/>
          </a:solidFill>
          <a:ln w="8890">
            <a:solidFill>
              <a:srgbClr val="E855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22402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 Campos potenciales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09160" y="2715768"/>
            <a:ext cx="2788920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Atraccion a mannequin, repulsion de obstaculos y saturaciones para evitar oscilacion.</a:t>
            </a:r>
            <a:endParaRPr lang="en-US" sz="840" dirty="0"/>
          </a:p>
        </p:txBody>
      </p:sp>
      <p:sp>
        <p:nvSpPr>
          <p:cNvPr id="15" name="Shape 13"/>
          <p:cNvSpPr/>
          <p:nvPr/>
        </p:nvSpPr>
        <p:spPr>
          <a:xfrm>
            <a:off x="8275320" y="2057400"/>
            <a:ext cx="3154680" cy="2788920"/>
          </a:xfrm>
          <a:prstGeom prst="rect">
            <a:avLst/>
          </a:prstGeom>
          <a:solidFill>
            <a:srgbClr val="EAF5EE"/>
          </a:solidFill>
          <a:ln w="8890">
            <a:solidFill>
              <a:srgbClr val="2D8A4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58200" y="22402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D8A4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 Celda y validacion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458200" y="2715768"/>
            <a:ext cx="2788920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Integracion industrial, escenarios S1-S8, bateria y evidencia JSON reproducible.</a:t>
            </a:r>
            <a:endParaRPr lang="en-US" sz="840" dirty="0"/>
          </a:p>
        </p:txBody>
      </p:sp>
      <p:sp>
        <p:nvSpPr>
          <p:cNvPr id="18" name="Text 16"/>
          <p:cNvSpPr/>
          <p:nvPr/>
        </p:nvSpPr>
        <p:spPr>
          <a:xfrm>
            <a:off x="777240" y="5742432"/>
            <a:ext cx="10607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446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se vende como robot industrial real: se defiende como simulacion rigurosa y trazable del temario.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"/>
            <a:ext cx="12191695" cy="0"/>
          </a:xfrm>
          <a:prstGeom prst="line">
            <a:avLst/>
          </a:prstGeom>
          <a:noFill/>
          <a:ln w="7620">
            <a:solidFill>
              <a:srgbClr val="D8DEE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18872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446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de trabajo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dos escenas base a una demo defendible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6601968"/>
            <a:ext cx="4114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 ·  Sistemas Roboticos Moviles  ·  CoppeliaSim/Lua</a:t>
            </a:r>
            <a:endParaRPr lang="en-US" sz="600" dirty="0"/>
          </a:p>
        </p:txBody>
      </p:sp>
      <p:sp>
        <p:nvSpPr>
          <p:cNvPr id="7" name="Text 5"/>
          <p:cNvSpPr/>
          <p:nvPr/>
        </p:nvSpPr>
        <p:spPr>
          <a:xfrm>
            <a:off x="11356848" y="6583680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6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3/15</a:t>
            </a:r>
            <a:endParaRPr lang="en-US" sz="600" dirty="0"/>
          </a:p>
        </p:txBody>
      </p:sp>
      <p:sp>
        <p:nvSpPr>
          <p:cNvPr id="8" name="Shape 6"/>
          <p:cNvSpPr/>
          <p:nvPr/>
        </p:nvSpPr>
        <p:spPr>
          <a:xfrm>
            <a:off x="777240" y="1508760"/>
            <a:ext cx="2057400" cy="1097280"/>
          </a:xfrm>
          <a:prstGeom prst="rect">
            <a:avLst/>
          </a:prstGeom>
          <a:solidFill>
            <a:srgbClr val="EAF1FA"/>
          </a:solidFill>
          <a:ln w="8890">
            <a:solidFill>
              <a:srgbClr val="2B6CB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69164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Escenas base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60120" y="216712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Actividad2_1 y Actividad2_2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2926080" y="2048256"/>
            <a:ext cx="393192" cy="0"/>
          </a:xfrm>
          <a:prstGeom prst="line">
            <a:avLst/>
          </a:prstGeom>
          <a:noFill/>
          <a:ln w="15240">
            <a:solidFill>
              <a:srgbClr val="C44624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566160" y="1508760"/>
            <a:ext cx="2057400" cy="1097280"/>
          </a:xfrm>
          <a:prstGeom prst="rect">
            <a:avLst/>
          </a:prstGeom>
          <a:solidFill>
            <a:srgbClr val="E6F4F4"/>
          </a:solidFill>
          <a:ln w="8890">
            <a:solidFill>
              <a:srgbClr val="168B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49040" y="169164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68B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Generador Python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749040" y="216712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celda, rutas y overlays</a:t>
            </a:r>
            <a:endParaRPr lang="en-US" sz="840" dirty="0"/>
          </a:p>
        </p:txBody>
      </p:sp>
      <p:sp>
        <p:nvSpPr>
          <p:cNvPr id="15" name="Shape 13"/>
          <p:cNvSpPr/>
          <p:nvPr/>
        </p:nvSpPr>
        <p:spPr>
          <a:xfrm>
            <a:off x="5715000" y="2048256"/>
            <a:ext cx="393192" cy="0"/>
          </a:xfrm>
          <a:prstGeom prst="line">
            <a:avLst/>
          </a:prstGeom>
          <a:noFill/>
          <a:ln w="15240">
            <a:solidFill>
              <a:srgbClr val="C44624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355080" y="1508760"/>
            <a:ext cx="2057400" cy="1097280"/>
          </a:xfrm>
          <a:prstGeom prst="rect">
            <a:avLst/>
          </a:prstGeom>
          <a:solidFill>
            <a:srgbClr val="FDEDE8"/>
          </a:solidFill>
          <a:ln w="8890">
            <a:solidFill>
              <a:srgbClr val="E855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169164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Scripts Lua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37960" y="216712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Pioneer, eventos y flota A*</a:t>
            </a:r>
            <a:endParaRPr lang="en-US" sz="840" dirty="0"/>
          </a:p>
        </p:txBody>
      </p:sp>
      <p:sp>
        <p:nvSpPr>
          <p:cNvPr id="19" name="Shape 17"/>
          <p:cNvSpPr/>
          <p:nvPr/>
        </p:nvSpPr>
        <p:spPr>
          <a:xfrm>
            <a:off x="8503920" y="2048256"/>
            <a:ext cx="393192" cy="0"/>
          </a:xfrm>
          <a:prstGeom prst="line">
            <a:avLst/>
          </a:prstGeom>
          <a:noFill/>
          <a:ln w="15240">
            <a:solidFill>
              <a:srgbClr val="C4462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144000" y="1508760"/>
            <a:ext cx="2057400" cy="1097280"/>
          </a:xfrm>
          <a:prstGeom prst="rect">
            <a:avLst/>
          </a:prstGeom>
          <a:solidFill>
            <a:srgbClr val="EAF5EE"/>
          </a:solidFill>
          <a:ln w="8890">
            <a:solidFill>
              <a:srgbClr val="2D8A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26880" y="169164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D8A4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 final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326880" y="216712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PDF, PPTX, JSON y .ttt</a:t>
            </a:r>
            <a:endParaRPr lang="en-US" sz="840" dirty="0"/>
          </a:p>
        </p:txBody>
      </p:sp>
      <p:sp>
        <p:nvSpPr>
          <p:cNvPr id="23" name="Text 21"/>
          <p:cNvSpPr/>
          <p:nvPr/>
        </p:nvSpPr>
        <p:spPr>
          <a:xfrm>
            <a:off x="777240" y="3520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Criterios de calidad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22960" y="4105656"/>
            <a:ext cx="64008" cy="64008"/>
          </a:xfrm>
          <a:prstGeom prst="ellipse">
            <a:avLst/>
          </a:prstGeom>
          <a:solidFill>
            <a:srgbClr val="2D8A4E"/>
          </a:solidFill>
          <a:ln w="8890">
            <a:solidFill>
              <a:srgbClr val="2D8A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7552" y="4069080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robot llega a objetivo y publica estado ARRIVED.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22960" y="4517136"/>
            <a:ext cx="64008" cy="64008"/>
          </a:xfrm>
          <a:prstGeom prst="ellipse">
            <a:avLst/>
          </a:prstGeom>
          <a:solidFill>
            <a:srgbClr val="E8552D"/>
          </a:solidFill>
          <a:ln w="8890">
            <a:solidFill>
              <a:srgbClr val="E8552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7552" y="4480560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 obstaculos activan reduccion de velocidad y recuperacion.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22960" y="4928616"/>
            <a:ext cx="64008" cy="64008"/>
          </a:xfrm>
          <a:prstGeom prst="ellipse">
            <a:avLst/>
          </a:prstGeom>
          <a:solidFill>
            <a:srgbClr val="168B8F"/>
          </a:solidFill>
          <a:ln w="8890">
            <a:solidFill>
              <a:srgbClr val="168B8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87552" y="4892040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celda tiene HMI, estacion de carga, carriles y zonas de seguridad.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22960" y="5340096"/>
            <a:ext cx="64008" cy="64008"/>
          </a:xfrm>
          <a:prstGeom prst="ellipse">
            <a:avLst/>
          </a:prstGeom>
          <a:solidFill>
            <a:srgbClr val="2B6CB0"/>
          </a:solidFill>
          <a:ln w="8890">
            <a:solidFill>
              <a:srgbClr val="2B6CB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7552" y="5303520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flota auxiliar resuelve rutas A* y recarga.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875520" y="3794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68B8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22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9875520" y="41970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sensores activos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9875520" y="46177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855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>
            <a:off x="9875520" y="502005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escenarios S1-S8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875520" y="544068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D8A4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3/3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9875520" y="584301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recargados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"/>
            <a:ext cx="12191695" cy="0"/>
          </a:xfrm>
          <a:prstGeom prst="line">
            <a:avLst/>
          </a:prstGeom>
          <a:noFill/>
          <a:ln w="7620">
            <a:solidFill>
              <a:srgbClr val="D8DEE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18872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446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plano de operacion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Celda CoppeliaSim: geometria y mision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6601968"/>
            <a:ext cx="4114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 ·  Sistemas Roboticos Moviles  ·  CoppeliaSim/Lua</a:t>
            </a:r>
            <a:endParaRPr lang="en-US" sz="600" dirty="0"/>
          </a:p>
        </p:txBody>
      </p:sp>
      <p:sp>
        <p:nvSpPr>
          <p:cNvPr id="7" name="Text 5"/>
          <p:cNvSpPr/>
          <p:nvPr/>
        </p:nvSpPr>
        <p:spPr>
          <a:xfrm>
            <a:off x="11356848" y="6583680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6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4/15</a:t>
            </a:r>
            <a:endParaRPr lang="en-US" sz="600" dirty="0"/>
          </a:p>
        </p:txBody>
      </p:sp>
      <p:sp>
        <p:nvSpPr>
          <p:cNvPr id="8" name="Shape 6"/>
          <p:cNvSpPr/>
          <p:nvPr/>
        </p:nvSpPr>
        <p:spPr>
          <a:xfrm>
            <a:off x="640080" y="1234440"/>
            <a:ext cx="6446520" cy="4800600"/>
          </a:xfrm>
          <a:prstGeom prst="rect">
            <a:avLst/>
          </a:prstGeom>
          <a:solidFill>
            <a:srgbClr val="F7F8FA"/>
          </a:solidFill>
          <a:ln w="8890">
            <a:solidFill>
              <a:srgbClr val="D8DE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26127" y="1371600"/>
            <a:ext cx="0" cy="452628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812175" y="1371600"/>
            <a:ext cx="0" cy="452628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2398222" y="1371600"/>
            <a:ext cx="0" cy="452628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2984269" y="1371600"/>
            <a:ext cx="0" cy="452628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3570316" y="1371600"/>
            <a:ext cx="0" cy="452628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4156364" y="1371600"/>
            <a:ext cx="0" cy="452628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4742411" y="1371600"/>
            <a:ext cx="0" cy="452628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5328458" y="1371600"/>
            <a:ext cx="0" cy="452628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5914505" y="1371600"/>
            <a:ext cx="0" cy="452628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6500553" y="1371600"/>
            <a:ext cx="0" cy="452628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77240" y="1834515"/>
            <a:ext cx="6172200" cy="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777240" y="2434590"/>
            <a:ext cx="6172200" cy="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777240" y="3034665"/>
            <a:ext cx="6172200" cy="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777240" y="3634740"/>
            <a:ext cx="6172200" cy="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777240" y="4234815"/>
            <a:ext cx="6172200" cy="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777240" y="4834890"/>
            <a:ext cx="6172200" cy="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777240" y="5434965"/>
            <a:ext cx="6172200" cy="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1024128" y="4434840"/>
            <a:ext cx="1078992" cy="676656"/>
          </a:xfrm>
          <a:prstGeom prst="rect">
            <a:avLst/>
          </a:prstGeom>
          <a:solidFill>
            <a:srgbClr val="EAF1FA"/>
          </a:solidFill>
          <a:ln w="8890">
            <a:solidFill>
              <a:srgbClr val="D8DEE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24128" y="4160520"/>
            <a:ext cx="11887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transportador</a:t>
            </a:r>
            <a:endParaRPr lang="en-US" sz="600" dirty="0"/>
          </a:p>
        </p:txBody>
      </p:sp>
      <p:sp>
        <p:nvSpPr>
          <p:cNvPr id="28" name="Shape 26"/>
          <p:cNvSpPr/>
          <p:nvPr/>
        </p:nvSpPr>
        <p:spPr>
          <a:xfrm>
            <a:off x="3383280" y="4297680"/>
            <a:ext cx="1645920" cy="768096"/>
          </a:xfrm>
          <a:prstGeom prst="rect">
            <a:avLst/>
          </a:prstGeom>
          <a:solidFill>
            <a:srgbClr val="FBF2DF"/>
          </a:solidFill>
          <a:ln w="8890">
            <a:solidFill>
              <a:srgbClr val="D8DEE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11880" y="4023360"/>
            <a:ext cx="1280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B779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zona robotizada</a:t>
            </a:r>
            <a:endParaRPr lang="en-US" sz="600" dirty="0"/>
          </a:p>
        </p:txBody>
      </p:sp>
      <p:sp>
        <p:nvSpPr>
          <p:cNvPr id="30" name="Shape 28"/>
          <p:cNvSpPr/>
          <p:nvPr/>
        </p:nvSpPr>
        <p:spPr>
          <a:xfrm>
            <a:off x="5532120" y="1627632"/>
            <a:ext cx="1005840" cy="512064"/>
          </a:xfrm>
          <a:prstGeom prst="rect">
            <a:avLst/>
          </a:prstGeom>
          <a:solidFill>
            <a:srgbClr val="EAF5EE"/>
          </a:solidFill>
          <a:ln w="8890">
            <a:solidFill>
              <a:srgbClr val="D8DEE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06440" y="1371600"/>
            <a:ext cx="548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D8A4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carga</a:t>
            </a:r>
            <a:endParaRPr lang="en-US" sz="600" dirty="0"/>
          </a:p>
        </p:txBody>
      </p:sp>
      <p:sp>
        <p:nvSpPr>
          <p:cNvPr id="32" name="Shape 30"/>
          <p:cNvSpPr/>
          <p:nvPr/>
        </p:nvSpPr>
        <p:spPr>
          <a:xfrm>
            <a:off x="2743200" y="2907792"/>
            <a:ext cx="640080" cy="502920"/>
          </a:xfrm>
          <a:prstGeom prst="rect">
            <a:avLst/>
          </a:prstGeom>
          <a:solidFill>
            <a:srgbClr val="FBEAEA"/>
          </a:solidFill>
          <a:ln w="8890">
            <a:solidFill>
              <a:srgbClr val="D8DE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26280" y="2834640"/>
            <a:ext cx="594360" cy="512064"/>
          </a:xfrm>
          <a:prstGeom prst="rect">
            <a:avLst/>
          </a:prstGeom>
          <a:solidFill>
            <a:srgbClr val="FBEAEA"/>
          </a:solidFill>
          <a:ln w="8890">
            <a:solidFill>
              <a:srgbClr val="D8DEE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2386" y="1805940"/>
            <a:ext cx="315468" cy="192024"/>
          </a:xfrm>
          <a:prstGeom prst="rect">
            <a:avLst/>
          </a:prstGeom>
          <a:solidFill>
            <a:srgbClr val="E6F4F4"/>
          </a:solidFill>
          <a:ln w="8890">
            <a:solidFill>
              <a:srgbClr val="168B8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77824" y="1860804"/>
            <a:ext cx="164592" cy="82296"/>
          </a:xfrm>
          <a:prstGeom prst="rect">
            <a:avLst/>
          </a:prstGeom>
          <a:solidFill>
            <a:srgbClr val="FFFFFF"/>
          </a:solidFill>
          <a:ln w="8890">
            <a:solidFill>
              <a:srgbClr val="168B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117854" y="1901952"/>
            <a:ext cx="130302" cy="0"/>
          </a:xfrm>
          <a:prstGeom prst="line">
            <a:avLst/>
          </a:prstGeom>
          <a:noFill/>
          <a:ln w="13970">
            <a:solidFill>
              <a:srgbClr val="168B8F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685800" y="1627632"/>
            <a:ext cx="548640" cy="548640"/>
          </a:xfrm>
          <a:prstGeom prst="ellipse">
            <a:avLst/>
          </a:prstGeom>
          <a:solidFill>
            <a:srgbClr val="FFFFFF"/>
          </a:solidFill>
          <a:ln w="8890">
            <a:solidFill>
              <a:srgbClr val="168B8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28066" y="1469898"/>
            <a:ext cx="864108" cy="864108"/>
          </a:xfrm>
          <a:prstGeom prst="ellipse">
            <a:avLst/>
          </a:prstGeom>
          <a:solidFill>
            <a:srgbClr val="FFFFFF"/>
          </a:solidFill>
          <a:ln w="8890">
            <a:solidFill>
              <a:srgbClr val="168B8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60120" y="1901952"/>
            <a:ext cx="1188720" cy="0"/>
          </a:xfrm>
          <a:prstGeom prst="line">
            <a:avLst/>
          </a:prstGeom>
          <a:noFill/>
          <a:ln w="25400">
            <a:solidFill>
              <a:srgbClr val="E8552D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2148840" y="1901952"/>
            <a:ext cx="0" cy="1481328"/>
          </a:xfrm>
          <a:prstGeom prst="line">
            <a:avLst/>
          </a:prstGeom>
          <a:noFill/>
          <a:ln w="25400">
            <a:solidFill>
              <a:srgbClr val="E8552D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2148840" y="3383280"/>
            <a:ext cx="2011680" cy="0"/>
          </a:xfrm>
          <a:prstGeom prst="line">
            <a:avLst/>
          </a:prstGeom>
          <a:noFill/>
          <a:ln w="25400">
            <a:solidFill>
              <a:srgbClr val="E8552D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4160520" y="3383280"/>
            <a:ext cx="0" cy="1234440"/>
          </a:xfrm>
          <a:prstGeom prst="line">
            <a:avLst/>
          </a:prstGeom>
          <a:noFill/>
          <a:ln w="25400">
            <a:solidFill>
              <a:srgbClr val="E8552D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4160520" y="4617720"/>
            <a:ext cx="1920240" cy="0"/>
          </a:xfrm>
          <a:prstGeom prst="line">
            <a:avLst/>
          </a:prstGeom>
          <a:noFill/>
          <a:ln w="15240">
            <a:solidFill>
              <a:srgbClr val="E8552D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6080760" y="4617720"/>
            <a:ext cx="0" cy="-2743200"/>
          </a:xfrm>
          <a:prstGeom prst="line">
            <a:avLst/>
          </a:prstGeom>
          <a:noFill/>
          <a:ln w="15240">
            <a:solidFill>
              <a:srgbClr val="E8552D"/>
            </a:solidFill>
            <a:prstDash val="solid"/>
            <a:tailEnd type="triangle"/>
          </a:ln>
        </p:spPr>
      </p:sp>
      <p:sp>
        <p:nvSpPr>
          <p:cNvPr id="45" name="Text 43"/>
          <p:cNvSpPr/>
          <p:nvPr/>
        </p:nvSpPr>
        <p:spPr>
          <a:xfrm>
            <a:off x="7726680" y="137160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 ve el profesor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772400" y="1984248"/>
            <a:ext cx="64008" cy="64008"/>
          </a:xfrm>
          <a:prstGeom prst="ellipse">
            <a:avLst/>
          </a:prstGeom>
          <a:solidFill>
            <a:srgbClr val="168B8F"/>
          </a:solidFill>
          <a:ln w="8890">
            <a:solidFill>
              <a:srgbClr val="168B8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936992" y="19476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 nominal y retorno a carga.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772400" y="2414016"/>
            <a:ext cx="64008" cy="64008"/>
          </a:xfrm>
          <a:prstGeom prst="ellipse">
            <a:avLst/>
          </a:prstGeom>
          <a:solidFill>
            <a:srgbClr val="E8552D"/>
          </a:solidFill>
          <a:ln w="8890">
            <a:solidFill>
              <a:srgbClr val="E8552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936992" y="23774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Zonas de seguridad y carriles.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772400" y="2843784"/>
            <a:ext cx="64008" cy="64008"/>
          </a:xfrm>
          <a:prstGeom prst="ellipse">
            <a:avLst/>
          </a:prstGeom>
          <a:solidFill>
            <a:srgbClr val="B83232"/>
          </a:solidFill>
          <a:ln w="8890">
            <a:solidFill>
              <a:srgbClr val="B8323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936992" y="280720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Obstaculos moviles y pasillo estrecho.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72400" y="3273552"/>
            <a:ext cx="64008" cy="64008"/>
          </a:xfrm>
          <a:prstGeom prst="ellipse">
            <a:avLst/>
          </a:prstGeom>
          <a:solidFill>
            <a:srgbClr val="2B6CB0"/>
          </a:solidFill>
          <a:ln w="8890">
            <a:solidFill>
              <a:srgbClr val="2B6CB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936992" y="323697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HMI con estado, bateria y fallo sensorial.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772400" y="3703320"/>
            <a:ext cx="64008" cy="64008"/>
          </a:xfrm>
          <a:prstGeom prst="ellipse">
            <a:avLst/>
          </a:prstGeom>
          <a:solidFill>
            <a:srgbClr val="2D8A4E"/>
          </a:solidFill>
          <a:ln w="8890">
            <a:solidFill>
              <a:srgbClr val="2D8A4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936992" y="36667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Camaras nombradas para inspeccion rapida.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"/>
            <a:ext cx="12191695" cy="0"/>
          </a:xfrm>
          <a:prstGeom prst="line">
            <a:avLst/>
          </a:prstGeom>
          <a:noFill/>
          <a:ln w="7620">
            <a:solidFill>
              <a:srgbClr val="D8DEE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18872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446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cinematica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Modelo cinematico: Pioneer diferencial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6601968"/>
            <a:ext cx="4114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 ·  Sistemas Roboticos Moviles  ·  CoppeliaSim/Lua</a:t>
            </a:r>
            <a:endParaRPr lang="en-US" sz="600" dirty="0"/>
          </a:p>
        </p:txBody>
      </p:sp>
      <p:sp>
        <p:nvSpPr>
          <p:cNvPr id="7" name="Text 5"/>
          <p:cNvSpPr/>
          <p:nvPr/>
        </p:nvSpPr>
        <p:spPr>
          <a:xfrm>
            <a:off x="11356848" y="6583680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6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5/15</a:t>
            </a:r>
            <a:endParaRPr lang="en-US" sz="600" dirty="0"/>
          </a:p>
        </p:txBody>
      </p:sp>
      <p:sp>
        <p:nvSpPr>
          <p:cNvPr id="8" name="Shape 6"/>
          <p:cNvSpPr/>
          <p:nvPr/>
        </p:nvSpPr>
        <p:spPr>
          <a:xfrm>
            <a:off x="777240" y="1463040"/>
            <a:ext cx="4892040" cy="4251960"/>
          </a:xfrm>
          <a:prstGeom prst="rect">
            <a:avLst/>
          </a:prstGeom>
          <a:solidFill>
            <a:srgbClr val="F7F8FA"/>
          </a:solidFill>
          <a:ln w="8890">
            <a:solidFill>
              <a:srgbClr val="D8DE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31720" y="3017520"/>
            <a:ext cx="109728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0B1F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96896" y="3172968"/>
            <a:ext cx="566928" cy="292608"/>
          </a:xfrm>
          <a:prstGeom prst="rect">
            <a:avLst/>
          </a:prstGeom>
          <a:solidFill>
            <a:srgbClr val="EAF1FA"/>
          </a:solidFill>
          <a:ln w="8890">
            <a:solidFill>
              <a:srgbClr val="0B1F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85416" y="3017520"/>
            <a:ext cx="0" cy="658368"/>
          </a:xfrm>
          <a:prstGeom prst="line">
            <a:avLst/>
          </a:prstGeom>
          <a:noFill/>
          <a:ln w="16510">
            <a:solidFill>
              <a:srgbClr val="0B1F33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3575304" y="3017520"/>
            <a:ext cx="0" cy="658368"/>
          </a:xfrm>
          <a:prstGeom prst="line">
            <a:avLst/>
          </a:prstGeom>
          <a:noFill/>
          <a:ln w="16510">
            <a:solidFill>
              <a:srgbClr val="0B1F33"/>
            </a:solidFill>
            <a:prstDash val="solid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2880360" y="3346704"/>
            <a:ext cx="1161288" cy="0"/>
          </a:xfrm>
          <a:prstGeom prst="line">
            <a:avLst/>
          </a:prstGeom>
          <a:noFill/>
          <a:ln w="17780">
            <a:solidFill>
              <a:srgbClr val="168B8F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880360" y="3346704"/>
            <a:ext cx="612648" cy="-576072"/>
          </a:xfrm>
          <a:prstGeom prst="line">
            <a:avLst/>
          </a:prstGeom>
          <a:noFill/>
          <a:ln w="13970">
            <a:solidFill>
              <a:srgbClr val="E8552D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143000" y="187452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diferencial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148840" y="397764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distancia entre ruedas L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720840" y="20574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v_L = v - L/2 omega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720840" y="292608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v_R = v + L/2 omega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20840" y="397764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446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Implicacion de control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720840" y="4434840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controlador calcula velocidad lineal y angular, limita ambas magnitudes y las traduce a comandos de rueda para evitar giros bruscos en la celda.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"/>
            <a:ext cx="12191695" cy="0"/>
          </a:xfrm>
          <a:prstGeom prst="line">
            <a:avLst/>
          </a:prstGeom>
          <a:noFill/>
          <a:ln w="7620">
            <a:solidFill>
              <a:srgbClr val="D8DEE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18872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446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navegacion local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Campos potenciales: atraccion y repulsion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6601968"/>
            <a:ext cx="4114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 ·  Sistemas Roboticos Moviles  ·  CoppeliaSim/Lua</a:t>
            </a:r>
            <a:endParaRPr lang="en-US" sz="600" dirty="0"/>
          </a:p>
        </p:txBody>
      </p:sp>
      <p:sp>
        <p:nvSpPr>
          <p:cNvPr id="7" name="Text 5"/>
          <p:cNvSpPr/>
          <p:nvPr/>
        </p:nvSpPr>
        <p:spPr>
          <a:xfrm>
            <a:off x="11356848" y="6583680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6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6/15</a:t>
            </a:r>
            <a:endParaRPr lang="en-US" sz="600" dirty="0"/>
          </a:p>
        </p:txBody>
      </p:sp>
      <p:sp>
        <p:nvSpPr>
          <p:cNvPr id="8" name="Shape 6"/>
          <p:cNvSpPr/>
          <p:nvPr/>
        </p:nvSpPr>
        <p:spPr>
          <a:xfrm>
            <a:off x="777240" y="1115568"/>
            <a:ext cx="6492240" cy="4983480"/>
          </a:xfrm>
          <a:prstGeom prst="rect">
            <a:avLst/>
          </a:prstGeom>
          <a:solidFill>
            <a:srgbClr val="F7F8FA"/>
          </a:solidFill>
          <a:ln w="8890">
            <a:solidFill>
              <a:srgbClr val="D8DE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67444" y="1252728"/>
            <a:ext cx="0" cy="470916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957647" y="1252728"/>
            <a:ext cx="0" cy="470916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2547851" y="1252728"/>
            <a:ext cx="0" cy="470916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3138055" y="1252728"/>
            <a:ext cx="0" cy="470916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3728258" y="1252728"/>
            <a:ext cx="0" cy="470916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4318462" y="1252728"/>
            <a:ext cx="0" cy="470916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4908665" y="1252728"/>
            <a:ext cx="0" cy="470916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5498869" y="1252728"/>
            <a:ext cx="0" cy="470916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6089073" y="1252728"/>
            <a:ext cx="0" cy="470916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6679276" y="1252728"/>
            <a:ext cx="0" cy="470916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14400" y="1669288"/>
            <a:ext cx="6217920" cy="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14400" y="2223008"/>
            <a:ext cx="6217920" cy="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14400" y="2776728"/>
            <a:ext cx="6217920" cy="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914400" y="3330448"/>
            <a:ext cx="6217920" cy="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914400" y="3884168"/>
            <a:ext cx="6217920" cy="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914400" y="4437888"/>
            <a:ext cx="6217920" cy="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914400" y="4991608"/>
            <a:ext cx="6217920" cy="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14400" y="5545328"/>
            <a:ext cx="6217920" cy="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1351026" y="4978908"/>
            <a:ext cx="315468" cy="192024"/>
          </a:xfrm>
          <a:prstGeom prst="rect">
            <a:avLst/>
          </a:prstGeom>
          <a:solidFill>
            <a:srgbClr val="E6F4F4"/>
          </a:solidFill>
          <a:ln w="8890">
            <a:solidFill>
              <a:srgbClr val="168B8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426464" y="5033772"/>
            <a:ext cx="164592" cy="82296"/>
          </a:xfrm>
          <a:prstGeom prst="rect">
            <a:avLst/>
          </a:prstGeom>
          <a:solidFill>
            <a:srgbClr val="FFFFFF"/>
          </a:solidFill>
          <a:ln w="8890">
            <a:solidFill>
              <a:srgbClr val="168B8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494" y="5074920"/>
            <a:ext cx="130302" cy="0"/>
          </a:xfrm>
          <a:prstGeom prst="line">
            <a:avLst/>
          </a:prstGeom>
          <a:noFill/>
          <a:ln w="13970">
            <a:solidFill>
              <a:srgbClr val="168B8F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1234440" y="4800600"/>
            <a:ext cx="548640" cy="548640"/>
          </a:xfrm>
          <a:prstGeom prst="ellipse">
            <a:avLst/>
          </a:prstGeom>
          <a:solidFill>
            <a:srgbClr val="FFFFFF"/>
          </a:solidFill>
          <a:ln w="8890">
            <a:solidFill>
              <a:srgbClr val="168B8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76706" y="4642866"/>
            <a:ext cx="864108" cy="864108"/>
          </a:xfrm>
          <a:prstGeom prst="ellipse">
            <a:avLst/>
          </a:prstGeom>
          <a:solidFill>
            <a:srgbClr val="FFFFFF"/>
          </a:solidFill>
          <a:ln w="8890">
            <a:solidFill>
              <a:srgbClr val="168B8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06440" y="1920240"/>
            <a:ext cx="164592" cy="164592"/>
          </a:xfrm>
          <a:prstGeom prst="ellipse">
            <a:avLst/>
          </a:prstGeom>
          <a:solidFill>
            <a:srgbClr val="2D8A4E"/>
          </a:solidFill>
          <a:ln w="8890">
            <a:solidFill>
              <a:srgbClr val="2D8A4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59552" y="1572768"/>
            <a:ext cx="731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D8A4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objetivo</a:t>
            </a:r>
            <a:endParaRPr lang="en-US" sz="600" dirty="0"/>
          </a:p>
        </p:txBody>
      </p:sp>
      <p:sp>
        <p:nvSpPr>
          <p:cNvPr id="34" name="Shape 32"/>
          <p:cNvSpPr/>
          <p:nvPr/>
        </p:nvSpPr>
        <p:spPr>
          <a:xfrm>
            <a:off x="2926080" y="3977640"/>
            <a:ext cx="475488" cy="475488"/>
          </a:xfrm>
          <a:prstGeom prst="ellipse">
            <a:avLst/>
          </a:prstGeom>
          <a:solidFill>
            <a:srgbClr val="FBEAEA"/>
          </a:solidFill>
          <a:ln w="8890">
            <a:solidFill>
              <a:srgbClr val="B8323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160520" y="2880360"/>
            <a:ext cx="420624" cy="420624"/>
          </a:xfrm>
          <a:prstGeom prst="ellipse">
            <a:avLst/>
          </a:prstGeom>
          <a:solidFill>
            <a:srgbClr val="FBEAEA"/>
          </a:solidFill>
          <a:ln w="8890">
            <a:solidFill>
              <a:srgbClr val="B8323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508760" y="5074920"/>
            <a:ext cx="4160520" cy="-3044952"/>
          </a:xfrm>
          <a:prstGeom prst="line">
            <a:avLst/>
          </a:prstGeom>
          <a:noFill/>
          <a:ln w="19050">
            <a:solidFill>
              <a:srgbClr val="2D8A4E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2926080" y="3977640"/>
            <a:ext cx="-777240" cy="457200"/>
          </a:xfrm>
          <a:prstGeom prst="line">
            <a:avLst/>
          </a:prstGeom>
          <a:noFill/>
          <a:ln w="15240">
            <a:solidFill>
              <a:srgbClr val="B83232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160520" y="2880360"/>
            <a:ext cx="-731520" cy="457200"/>
          </a:xfrm>
          <a:prstGeom prst="line">
            <a:avLst/>
          </a:prstGeom>
          <a:noFill/>
          <a:ln w="15240">
            <a:solidFill>
              <a:srgbClr val="B83232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1508760" y="5074920"/>
            <a:ext cx="822960" cy="-850392"/>
          </a:xfrm>
          <a:prstGeom prst="line">
            <a:avLst/>
          </a:prstGeom>
          <a:noFill/>
          <a:ln w="22860">
            <a:solidFill>
              <a:srgbClr val="E8552D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2331720" y="4224528"/>
            <a:ext cx="1920240" cy="-704088"/>
          </a:xfrm>
          <a:prstGeom prst="line">
            <a:avLst/>
          </a:prstGeom>
          <a:noFill/>
          <a:ln w="22860">
            <a:solidFill>
              <a:srgbClr val="E8552D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4251960" y="3520440"/>
            <a:ext cx="1417320" cy="-1490472"/>
          </a:xfrm>
          <a:prstGeom prst="line">
            <a:avLst/>
          </a:prstGeom>
          <a:noFill/>
          <a:ln w="22860">
            <a:solidFill>
              <a:srgbClr val="E8552D"/>
            </a:solidFill>
            <a:prstDash val="solid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7973568" y="137160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Ley usada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973568" y="1920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1F33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F = F_att + Σ F_rep,i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7973568" y="2542032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ciclo recalcula rumbo desde objetivo, sensores y saturacion de v, omega. No es un camino dibujado a mano.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973568" y="3886200"/>
            <a:ext cx="1417320" cy="292608"/>
          </a:xfrm>
          <a:prstGeom prst="rect">
            <a:avLst/>
          </a:prstGeom>
          <a:solidFill>
            <a:srgbClr val="FDEDE8"/>
          </a:solidFill>
          <a:ln w="8890">
            <a:solidFill>
              <a:srgbClr val="E8552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46720" y="3959352"/>
            <a:ext cx="12710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saturacion</a:t>
            </a:r>
            <a:endParaRPr lang="en-US" sz="620" dirty="0"/>
          </a:p>
        </p:txBody>
      </p:sp>
      <p:sp>
        <p:nvSpPr>
          <p:cNvPr id="47" name="Shape 45"/>
          <p:cNvSpPr/>
          <p:nvPr/>
        </p:nvSpPr>
        <p:spPr>
          <a:xfrm>
            <a:off x="7973568" y="4343400"/>
            <a:ext cx="1417320" cy="292608"/>
          </a:xfrm>
          <a:prstGeom prst="rect">
            <a:avLst/>
          </a:prstGeom>
          <a:solidFill>
            <a:srgbClr val="EAF5EE"/>
          </a:solidFill>
          <a:ln w="8890">
            <a:solidFill>
              <a:srgbClr val="2D8A4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046720" y="4416552"/>
            <a:ext cx="12710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2D8A4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tolerancia</a:t>
            </a:r>
            <a:endParaRPr lang="en-US" sz="620" dirty="0"/>
          </a:p>
        </p:txBody>
      </p:sp>
      <p:sp>
        <p:nvSpPr>
          <p:cNvPr id="49" name="Shape 47"/>
          <p:cNvSpPr/>
          <p:nvPr/>
        </p:nvSpPr>
        <p:spPr>
          <a:xfrm>
            <a:off x="7973568" y="4800600"/>
            <a:ext cx="1417320" cy="292608"/>
          </a:xfrm>
          <a:prstGeom prst="rect">
            <a:avLst/>
          </a:prstGeom>
          <a:solidFill>
            <a:srgbClr val="FBEAEA"/>
          </a:solidFill>
          <a:ln w="8890">
            <a:solidFill>
              <a:srgbClr val="B8323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046720" y="4873752"/>
            <a:ext cx="12710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B832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recuperacion</a:t>
            </a:r>
            <a:endParaRPr lang="en-US" sz="6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"/>
            <a:ext cx="12191695" cy="0"/>
          </a:xfrm>
          <a:prstGeom prst="line">
            <a:avLst/>
          </a:prstGeom>
          <a:noFill/>
          <a:ln w="7620">
            <a:solidFill>
              <a:srgbClr val="D8DEE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18872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446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seguridad reactiva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Anticolision: sensores y zonas de velocidad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6601968"/>
            <a:ext cx="4114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 ·  Sistemas Roboticos Moviles  ·  CoppeliaSim/Lua</a:t>
            </a:r>
            <a:endParaRPr lang="en-US" sz="600" dirty="0"/>
          </a:p>
        </p:txBody>
      </p:sp>
      <p:sp>
        <p:nvSpPr>
          <p:cNvPr id="7" name="Text 5"/>
          <p:cNvSpPr/>
          <p:nvPr/>
        </p:nvSpPr>
        <p:spPr>
          <a:xfrm>
            <a:off x="11356848" y="6583680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6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7/15</a:t>
            </a:r>
            <a:endParaRPr lang="en-US" sz="600" dirty="0"/>
          </a:p>
        </p:txBody>
      </p:sp>
      <p:sp>
        <p:nvSpPr>
          <p:cNvPr id="8" name="Shape 6"/>
          <p:cNvSpPr/>
          <p:nvPr/>
        </p:nvSpPr>
        <p:spPr>
          <a:xfrm>
            <a:off x="777240" y="1170432"/>
            <a:ext cx="5989320" cy="4983480"/>
          </a:xfrm>
          <a:prstGeom prst="rect">
            <a:avLst/>
          </a:prstGeom>
          <a:solidFill>
            <a:srgbClr val="F7F8FA"/>
          </a:solidFill>
          <a:ln w="8890">
            <a:solidFill>
              <a:srgbClr val="D8DE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37525" y="3649188"/>
            <a:ext cx="328087" cy="199705"/>
          </a:xfrm>
          <a:prstGeom prst="rect">
            <a:avLst/>
          </a:prstGeom>
          <a:solidFill>
            <a:srgbClr val="E6F4F4"/>
          </a:solidFill>
          <a:ln w="8890">
            <a:solidFill>
              <a:srgbClr val="168B8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15980" y="3706246"/>
            <a:ext cx="171176" cy="85588"/>
          </a:xfrm>
          <a:prstGeom prst="rect">
            <a:avLst/>
          </a:prstGeom>
          <a:solidFill>
            <a:srgbClr val="FFFFFF"/>
          </a:solidFill>
          <a:ln w="8890">
            <a:solidFill>
              <a:srgbClr val="168B8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65611" y="3749040"/>
            <a:ext cx="135514" cy="0"/>
          </a:xfrm>
          <a:prstGeom prst="line">
            <a:avLst/>
          </a:prstGeom>
          <a:noFill/>
          <a:ln w="13970">
            <a:solidFill>
              <a:srgbClr val="168B8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116275" y="3463747"/>
            <a:ext cx="570586" cy="5705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168B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52232" y="3299704"/>
            <a:ext cx="898672" cy="898672"/>
          </a:xfrm>
          <a:prstGeom prst="ellipse">
            <a:avLst/>
          </a:prstGeom>
          <a:solidFill>
            <a:srgbClr val="FFFFFF"/>
          </a:solidFill>
          <a:ln w="8890">
            <a:solidFill>
              <a:srgbClr val="168B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01568" y="3749040"/>
            <a:ext cx="1828800" cy="0"/>
          </a:xfrm>
          <a:prstGeom prst="line">
            <a:avLst/>
          </a:prstGeom>
          <a:noFill/>
          <a:ln w="11430">
            <a:solidFill>
              <a:srgbClr val="B83232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401568" y="3749040"/>
            <a:ext cx="1657456" cy="-772884"/>
          </a:xfrm>
          <a:prstGeom prst="line">
            <a:avLst/>
          </a:prstGeom>
          <a:noFill/>
          <a:ln w="11430">
            <a:solidFill>
              <a:srgbClr val="2B6CB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401568" y="3749040"/>
            <a:ext cx="1175530" cy="-1400942"/>
          </a:xfrm>
          <a:prstGeom prst="line">
            <a:avLst/>
          </a:prstGeom>
          <a:noFill/>
          <a:ln w="11430">
            <a:solidFill>
              <a:srgbClr val="2B6CB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401568" y="3749040"/>
            <a:ext cx="1657456" cy="772884"/>
          </a:xfrm>
          <a:prstGeom prst="line">
            <a:avLst/>
          </a:prstGeom>
          <a:noFill/>
          <a:ln w="11430">
            <a:solidFill>
              <a:srgbClr val="E8552D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401568" y="3749040"/>
            <a:ext cx="1175530" cy="1400942"/>
          </a:xfrm>
          <a:prstGeom prst="line">
            <a:avLst/>
          </a:prstGeom>
          <a:noFill/>
          <a:ln w="11430">
            <a:solidFill>
              <a:srgbClr val="E8552D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401568" y="3749040"/>
            <a:ext cx="0" cy="-1828800"/>
          </a:xfrm>
          <a:prstGeom prst="line">
            <a:avLst/>
          </a:prstGeom>
          <a:noFill/>
          <a:ln w="11430">
            <a:solidFill>
              <a:srgbClr val="2B6CB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401568" y="3749040"/>
            <a:ext cx="0" cy="1828800"/>
          </a:xfrm>
          <a:prstGeom prst="line">
            <a:avLst/>
          </a:prstGeom>
          <a:noFill/>
          <a:ln w="11430">
            <a:solidFill>
              <a:srgbClr val="E8552D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401568" y="3749040"/>
            <a:ext cx="-1828800" cy="0"/>
          </a:xfrm>
          <a:prstGeom prst="line">
            <a:avLst/>
          </a:prstGeom>
          <a:noFill/>
          <a:ln w="11430">
            <a:solidFill>
              <a:srgbClr val="2B6CB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724912" y="3072384"/>
            <a:ext cx="1353312" cy="1353312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323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22576" y="2670048"/>
            <a:ext cx="2157984" cy="21579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E8552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20240" y="2267712"/>
            <a:ext cx="2962656" cy="2962656"/>
          </a:xfrm>
          <a:prstGeom prst="ellipse">
            <a:avLst/>
          </a:prstGeom>
          <a:solidFill>
            <a:srgbClr val="FFFFFF"/>
          </a:solidFill>
          <a:ln w="8890">
            <a:solidFill>
              <a:srgbClr val="2D8A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0" y="3456432"/>
            <a:ext cx="530352" cy="512064"/>
          </a:xfrm>
          <a:prstGeom prst="rect">
            <a:avLst/>
          </a:prstGeom>
          <a:solidFill>
            <a:srgbClr val="FBEAEA"/>
          </a:solidFill>
          <a:ln w="8890">
            <a:solidFill>
              <a:srgbClr val="D8DE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06640" y="1389888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Implementado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452360" y="1975104"/>
            <a:ext cx="64008" cy="64008"/>
          </a:xfrm>
          <a:prstGeom prst="ellipse">
            <a:avLst/>
          </a:prstGeom>
          <a:solidFill>
            <a:srgbClr val="168B8F"/>
          </a:solidFill>
          <a:ln w="8890">
            <a:solidFill>
              <a:srgbClr val="168B8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16952" y="193852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 ultrasonidos Pioneer + 6 sensores virtuales.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452360" y="2432304"/>
            <a:ext cx="64008" cy="64008"/>
          </a:xfrm>
          <a:prstGeom prst="ellipse">
            <a:avLst/>
          </a:prstGeom>
          <a:solidFill>
            <a:srgbClr val="E8552D"/>
          </a:solidFill>
          <a:ln w="8890">
            <a:solidFill>
              <a:srgbClr val="E8552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16952" y="239572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Ruido determinista y fallo intermitente.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452360" y="2889504"/>
            <a:ext cx="64008" cy="64008"/>
          </a:xfrm>
          <a:prstGeom prst="ellipse">
            <a:avLst/>
          </a:prstGeom>
          <a:solidFill>
            <a:srgbClr val="B83232"/>
          </a:solidFill>
          <a:ln w="8890">
            <a:solidFill>
              <a:srgbClr val="B8323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16952" y="285292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Distancia minima validada: 0,191 m.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452360" y="3346704"/>
            <a:ext cx="64008" cy="64008"/>
          </a:xfrm>
          <a:prstGeom prst="ellipse">
            <a:avLst/>
          </a:prstGeom>
          <a:solidFill>
            <a:srgbClr val="2B6CB0"/>
          </a:solidFill>
          <a:ln w="8890">
            <a:solidFill>
              <a:srgbClr val="2B6CB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16952" y="331012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Estado RECOVERY si el riesgo permanece alto.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452360" y="466344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6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seguridad se demuestra como comportamiento de simulacion: reduccion de velocidad, evasion local y parada controlada.</a:t>
            </a:r>
            <a:endParaRPr lang="en-US" sz="8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"/>
            <a:ext cx="12191695" cy="0"/>
          </a:xfrm>
          <a:prstGeom prst="line">
            <a:avLst/>
          </a:prstGeom>
          <a:noFill/>
          <a:ln w="7620">
            <a:solidFill>
              <a:srgbClr val="D8DEE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18872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446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arquitectura de control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Maquina de estados del Pioneer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6601968"/>
            <a:ext cx="4114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 ·  Sistemas Roboticos Moviles  ·  CoppeliaSim/Lua</a:t>
            </a:r>
            <a:endParaRPr lang="en-US" sz="600" dirty="0"/>
          </a:p>
        </p:txBody>
      </p:sp>
      <p:sp>
        <p:nvSpPr>
          <p:cNvPr id="7" name="Text 5"/>
          <p:cNvSpPr/>
          <p:nvPr/>
        </p:nvSpPr>
        <p:spPr>
          <a:xfrm>
            <a:off x="11356848" y="6583680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6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8/15</a:t>
            </a:r>
            <a:endParaRPr lang="en-US" sz="600" dirty="0"/>
          </a:p>
        </p:txBody>
      </p:sp>
      <p:sp>
        <p:nvSpPr>
          <p:cNvPr id="8" name="Shape 6"/>
          <p:cNvSpPr/>
          <p:nvPr/>
        </p:nvSpPr>
        <p:spPr>
          <a:xfrm>
            <a:off x="1005840" y="2148840"/>
            <a:ext cx="1664208" cy="749808"/>
          </a:xfrm>
          <a:prstGeom prst="rect">
            <a:avLst/>
          </a:prstGeom>
          <a:solidFill>
            <a:srgbClr val="E6F4F4"/>
          </a:solidFill>
          <a:ln w="8890">
            <a:solidFill>
              <a:srgbClr val="168B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2331720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68B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ROUTE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88720" y="2807208"/>
            <a:ext cx="1298448" cy="-54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3456432" y="2148840"/>
            <a:ext cx="1664208" cy="749808"/>
          </a:xfrm>
          <a:prstGeom prst="rect">
            <a:avLst/>
          </a:prstGeom>
          <a:solidFill>
            <a:srgbClr val="FDEDE8"/>
          </a:solidFill>
          <a:ln w="8890">
            <a:solidFill>
              <a:srgbClr val="E8552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39312" y="2331720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AVOIDING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39312" y="2807208"/>
            <a:ext cx="1298448" cy="-54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endParaRPr lang="en-US" sz="840" dirty="0"/>
          </a:p>
        </p:txBody>
      </p:sp>
      <p:sp>
        <p:nvSpPr>
          <p:cNvPr id="14" name="Shape 12"/>
          <p:cNvSpPr/>
          <p:nvPr/>
        </p:nvSpPr>
        <p:spPr>
          <a:xfrm>
            <a:off x="6144768" y="2148840"/>
            <a:ext cx="1664208" cy="749808"/>
          </a:xfrm>
          <a:prstGeom prst="rect">
            <a:avLst/>
          </a:prstGeom>
          <a:solidFill>
            <a:srgbClr val="FBEAEA"/>
          </a:solidFill>
          <a:ln w="8890">
            <a:solidFill>
              <a:srgbClr val="B832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27648" y="2331720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832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RECOVERY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27648" y="2807208"/>
            <a:ext cx="1298448" cy="-54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endParaRPr lang="en-US" sz="840" dirty="0"/>
          </a:p>
        </p:txBody>
      </p:sp>
      <p:sp>
        <p:nvSpPr>
          <p:cNvPr id="17" name="Shape 15"/>
          <p:cNvSpPr/>
          <p:nvPr/>
        </p:nvSpPr>
        <p:spPr>
          <a:xfrm>
            <a:off x="3456432" y="3950208"/>
            <a:ext cx="1664208" cy="749808"/>
          </a:xfrm>
          <a:prstGeom prst="rect">
            <a:avLst/>
          </a:prstGeom>
          <a:solidFill>
            <a:srgbClr val="EAF1FA"/>
          </a:solidFill>
          <a:ln w="8890">
            <a:solidFill>
              <a:srgbClr val="2B6CB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39312" y="413308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39312" y="4608576"/>
            <a:ext cx="1298448" cy="-54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endParaRPr lang="en-US" sz="840" dirty="0"/>
          </a:p>
        </p:txBody>
      </p:sp>
      <p:sp>
        <p:nvSpPr>
          <p:cNvPr id="20" name="Shape 18"/>
          <p:cNvSpPr/>
          <p:nvPr/>
        </p:nvSpPr>
        <p:spPr>
          <a:xfrm>
            <a:off x="8887968" y="2148840"/>
            <a:ext cx="1664208" cy="749808"/>
          </a:xfrm>
          <a:prstGeom prst="rect">
            <a:avLst/>
          </a:prstGeom>
          <a:solidFill>
            <a:srgbClr val="EAF5EE"/>
          </a:solidFill>
          <a:ln w="8890">
            <a:solidFill>
              <a:srgbClr val="2D8A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70848" y="2331720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D8A4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ARRIVED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070848" y="2807208"/>
            <a:ext cx="1298448" cy="-54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endParaRPr lang="en-US" sz="840" dirty="0"/>
          </a:p>
        </p:txBody>
      </p:sp>
      <p:sp>
        <p:nvSpPr>
          <p:cNvPr id="23" name="Shape 21"/>
          <p:cNvSpPr/>
          <p:nvPr/>
        </p:nvSpPr>
        <p:spPr>
          <a:xfrm>
            <a:off x="2670048" y="2523744"/>
            <a:ext cx="749808" cy="0"/>
          </a:xfrm>
          <a:prstGeom prst="line">
            <a:avLst/>
          </a:prstGeom>
          <a:noFill/>
          <a:ln w="12700">
            <a:solidFill>
              <a:srgbClr val="0B1F33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120640" y="2523744"/>
            <a:ext cx="987552" cy="0"/>
          </a:xfrm>
          <a:prstGeom prst="line">
            <a:avLst/>
          </a:prstGeom>
          <a:noFill/>
          <a:ln w="12700">
            <a:solidFill>
              <a:srgbClr val="0B1F33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808976" y="2523744"/>
            <a:ext cx="1042416" cy="0"/>
          </a:xfrm>
          <a:prstGeom prst="line">
            <a:avLst/>
          </a:prstGeom>
          <a:noFill/>
          <a:ln w="12700">
            <a:solidFill>
              <a:srgbClr val="0B1F33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288536" y="2898648"/>
            <a:ext cx="0" cy="1014984"/>
          </a:xfrm>
          <a:prstGeom prst="line">
            <a:avLst/>
          </a:prstGeom>
          <a:noFill/>
          <a:ln w="12700">
            <a:solidFill>
              <a:srgbClr val="2B6CB0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288536" y="3950208"/>
            <a:ext cx="0" cy="822960"/>
          </a:xfrm>
          <a:prstGeom prst="line">
            <a:avLst/>
          </a:prstGeom>
          <a:noFill/>
          <a:ln w="12700">
            <a:solidFill>
              <a:srgbClr val="2D8A4E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288536" y="4773168"/>
            <a:ext cx="5431536" cy="0"/>
          </a:xfrm>
          <a:prstGeom prst="line">
            <a:avLst/>
          </a:prstGeom>
          <a:noFill/>
          <a:ln w="12700">
            <a:solidFill>
              <a:srgbClr val="2D8A4E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720072" y="4773168"/>
            <a:ext cx="0" cy="-1874520"/>
          </a:xfrm>
          <a:prstGeom prst="line">
            <a:avLst/>
          </a:prstGeom>
          <a:noFill/>
          <a:ln w="12700">
            <a:solidFill>
              <a:srgbClr val="2D8A4E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1005840" y="559612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FSM evita una demo opaca: cada transicion puede defenderse con estados internos, telemetria y eventos visibles en CoppeliaSim.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"/>
            <a:ext cx="12191695" cy="0"/>
          </a:xfrm>
          <a:prstGeom prst="line">
            <a:avLst/>
          </a:prstGeom>
          <a:noFill/>
          <a:ln w="7620">
            <a:solidFill>
              <a:srgbClr val="D8DEE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18872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446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sistema completo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Integracion en celda: modulos y senales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6601968"/>
            <a:ext cx="4114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 ·  Sistemas Roboticos Moviles  ·  CoppeliaSim/Lua</a:t>
            </a:r>
            <a:endParaRPr lang="en-US" sz="600" dirty="0"/>
          </a:p>
        </p:txBody>
      </p:sp>
      <p:sp>
        <p:nvSpPr>
          <p:cNvPr id="7" name="Text 5"/>
          <p:cNvSpPr/>
          <p:nvPr/>
        </p:nvSpPr>
        <p:spPr>
          <a:xfrm>
            <a:off x="11356848" y="6583680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6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9/15</a:t>
            </a:r>
            <a:endParaRPr lang="en-US" sz="600" dirty="0"/>
          </a:p>
        </p:txBody>
      </p:sp>
      <p:sp>
        <p:nvSpPr>
          <p:cNvPr id="8" name="Shape 6"/>
          <p:cNvSpPr/>
          <p:nvPr/>
        </p:nvSpPr>
        <p:spPr>
          <a:xfrm>
            <a:off x="713232" y="2011680"/>
            <a:ext cx="2240280" cy="1143000"/>
          </a:xfrm>
          <a:prstGeom prst="rect">
            <a:avLst/>
          </a:prstGeom>
          <a:solidFill>
            <a:srgbClr val="E6F4F4"/>
          </a:solidFill>
          <a:ln w="8890">
            <a:solidFill>
              <a:srgbClr val="168B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96112" y="21945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68B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Controller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96112" y="2670048"/>
            <a:ext cx="18745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FSM, campos, ruedas y bateria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3017520" y="2578608"/>
            <a:ext cx="384048" cy="0"/>
          </a:xfrm>
          <a:prstGeom prst="line">
            <a:avLst/>
          </a:prstGeom>
          <a:noFill/>
          <a:ln w="12700">
            <a:solidFill>
              <a:srgbClr val="C44624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547872" y="2011680"/>
            <a:ext cx="2240280" cy="1143000"/>
          </a:xfrm>
          <a:prstGeom prst="rect">
            <a:avLst/>
          </a:prstGeom>
          <a:solidFill>
            <a:srgbClr val="FDEDE8"/>
          </a:solidFill>
          <a:ln w="8890">
            <a:solidFill>
              <a:srgbClr val="E855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0752" y="21945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Scenario Manager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730752" y="2670048"/>
            <a:ext cx="18745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S1-S8, obstaculos y parada</a:t>
            </a:r>
            <a:endParaRPr lang="en-US" sz="840" dirty="0"/>
          </a:p>
        </p:txBody>
      </p:sp>
      <p:sp>
        <p:nvSpPr>
          <p:cNvPr id="15" name="Shape 13"/>
          <p:cNvSpPr/>
          <p:nvPr/>
        </p:nvSpPr>
        <p:spPr>
          <a:xfrm>
            <a:off x="5852160" y="2578608"/>
            <a:ext cx="384048" cy="0"/>
          </a:xfrm>
          <a:prstGeom prst="line">
            <a:avLst/>
          </a:prstGeom>
          <a:noFill/>
          <a:ln w="12700">
            <a:solidFill>
              <a:srgbClr val="C44624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382512" y="2011680"/>
            <a:ext cx="2240280" cy="1143000"/>
          </a:xfrm>
          <a:prstGeom prst="rect">
            <a:avLst/>
          </a:prstGeom>
          <a:solidFill>
            <a:srgbClr val="EAF1FA"/>
          </a:solidFill>
          <a:ln w="8890">
            <a:solidFill>
              <a:srgbClr val="2B6CB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65392" y="21945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MultiRobot A* Manager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65392" y="2670048"/>
            <a:ext cx="18745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rutas, reservas y carga</a:t>
            </a:r>
            <a:endParaRPr lang="en-US" sz="840" dirty="0"/>
          </a:p>
        </p:txBody>
      </p:sp>
      <p:sp>
        <p:nvSpPr>
          <p:cNvPr id="19" name="Shape 17"/>
          <p:cNvSpPr/>
          <p:nvPr/>
        </p:nvSpPr>
        <p:spPr>
          <a:xfrm>
            <a:off x="8686800" y="2578608"/>
            <a:ext cx="384048" cy="0"/>
          </a:xfrm>
          <a:prstGeom prst="line">
            <a:avLst/>
          </a:prstGeom>
          <a:noFill/>
          <a:ln w="12700">
            <a:solidFill>
              <a:srgbClr val="C4462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217152" y="2011680"/>
            <a:ext cx="2240280" cy="1143000"/>
          </a:xfrm>
          <a:prstGeom prst="rect">
            <a:avLst/>
          </a:prstGeom>
          <a:solidFill>
            <a:srgbClr val="EAF5EE"/>
          </a:solidFill>
          <a:ln w="8890">
            <a:solidFill>
              <a:srgbClr val="2D8A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00032" y="21945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D8A4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Overlay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400032" y="2670048"/>
            <a:ext cx="18745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labels, camaras y lectura rapida</a:t>
            </a:r>
            <a:endParaRPr lang="en-US" sz="840" dirty="0"/>
          </a:p>
        </p:txBody>
      </p:sp>
      <p:sp>
        <p:nvSpPr>
          <p:cNvPr id="23" name="Text 21"/>
          <p:cNvSpPr/>
          <p:nvPr/>
        </p:nvSpPr>
        <p:spPr>
          <a:xfrm>
            <a:off x="749808" y="409651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Senales de coordinacion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49808" y="4681728"/>
            <a:ext cx="1417320" cy="292608"/>
          </a:xfrm>
          <a:prstGeom prst="rect">
            <a:avLst/>
          </a:prstGeom>
          <a:solidFill>
            <a:srgbClr val="E6F4F4"/>
          </a:solidFill>
          <a:ln w="8890">
            <a:solidFill>
              <a:srgbClr val="168B8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754880"/>
            <a:ext cx="12710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168B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missionReady</a:t>
            </a:r>
            <a:endParaRPr lang="en-US" sz="620" dirty="0"/>
          </a:p>
        </p:txBody>
      </p:sp>
      <p:sp>
        <p:nvSpPr>
          <p:cNvPr id="26" name="Shape 24"/>
          <p:cNvSpPr/>
          <p:nvPr/>
        </p:nvSpPr>
        <p:spPr>
          <a:xfrm>
            <a:off x="2487168" y="4681728"/>
            <a:ext cx="1417320" cy="292608"/>
          </a:xfrm>
          <a:prstGeom prst="rect">
            <a:avLst/>
          </a:prstGeom>
          <a:solidFill>
            <a:srgbClr val="FDEDE8"/>
          </a:solidFill>
          <a:ln w="8890">
            <a:solidFill>
              <a:srgbClr val="E8552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60320" y="4754880"/>
            <a:ext cx="12710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pioneerState</a:t>
            </a:r>
            <a:endParaRPr lang="en-US" sz="620" dirty="0"/>
          </a:p>
        </p:txBody>
      </p:sp>
      <p:sp>
        <p:nvSpPr>
          <p:cNvPr id="28" name="Shape 26"/>
          <p:cNvSpPr/>
          <p:nvPr/>
        </p:nvSpPr>
        <p:spPr>
          <a:xfrm>
            <a:off x="4224528" y="4681728"/>
            <a:ext cx="1755648" cy="292608"/>
          </a:xfrm>
          <a:prstGeom prst="rect">
            <a:avLst/>
          </a:prstGeom>
          <a:solidFill>
            <a:srgbClr val="EAF1FA"/>
          </a:solidFill>
          <a:ln w="8890">
            <a:solidFill>
              <a:srgbClr val="2B6CB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97680" y="4754880"/>
            <a:ext cx="16093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pioneerBatteryLevel</a:t>
            </a:r>
            <a:endParaRPr lang="en-US" sz="620" dirty="0"/>
          </a:p>
        </p:txBody>
      </p:sp>
      <p:sp>
        <p:nvSpPr>
          <p:cNvPr id="30" name="Shape 28"/>
          <p:cNvSpPr/>
          <p:nvPr/>
        </p:nvSpPr>
        <p:spPr>
          <a:xfrm>
            <a:off x="6309360" y="4681728"/>
            <a:ext cx="1600200" cy="292608"/>
          </a:xfrm>
          <a:prstGeom prst="rect">
            <a:avLst/>
          </a:prstGeom>
          <a:solidFill>
            <a:srgbClr val="EAF5EE"/>
          </a:solidFill>
          <a:ln w="8890">
            <a:solidFill>
              <a:srgbClr val="2D8A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82512" y="4754880"/>
            <a:ext cx="1453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2D8A4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fleetAllComplete</a:t>
            </a:r>
            <a:endParaRPr lang="en-US" sz="620" dirty="0"/>
          </a:p>
        </p:txBody>
      </p:sp>
      <p:sp>
        <p:nvSpPr>
          <p:cNvPr id="32" name="Shape 30"/>
          <p:cNvSpPr/>
          <p:nvPr/>
        </p:nvSpPr>
        <p:spPr>
          <a:xfrm>
            <a:off x="8247888" y="4681728"/>
            <a:ext cx="1691640" cy="292608"/>
          </a:xfrm>
          <a:prstGeom prst="rect">
            <a:avLst/>
          </a:prstGeom>
          <a:solidFill>
            <a:srgbClr val="F9ECE8"/>
          </a:solidFill>
          <a:ln w="8890">
            <a:solidFill>
              <a:srgbClr val="C4462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4754880"/>
            <a:ext cx="15453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C446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demoOverlayLabels</a:t>
            </a:r>
            <a:endParaRPr lang="en-US" sz="620" dirty="0"/>
          </a:p>
        </p:txBody>
      </p:sp>
      <p:sp>
        <p:nvSpPr>
          <p:cNvPr id="34" name="Text 32"/>
          <p:cNvSpPr/>
          <p:nvPr/>
        </p:nvSpPr>
        <p:spPr>
          <a:xfrm>
            <a:off x="749808" y="5687568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defensa no depende de "mirar si se mueve": los modulos publican estados, eventos y metricas que quedan registrados en JSON.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"/>
            <a:ext cx="12191695" cy="0"/>
          </a:xfrm>
          <a:prstGeom prst="line">
            <a:avLst/>
          </a:prstGeom>
          <a:noFill/>
          <a:ln w="7620">
            <a:solidFill>
              <a:srgbClr val="D8DEE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18872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446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validacion secuencial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Escenarios S1-S8: pruebas con degradacion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6601968"/>
            <a:ext cx="4114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 ·  Sistemas Roboticos Moviles  ·  CoppeliaSim/Lua</a:t>
            </a:r>
            <a:endParaRPr lang="en-US" sz="600" dirty="0"/>
          </a:p>
        </p:txBody>
      </p:sp>
      <p:sp>
        <p:nvSpPr>
          <p:cNvPr id="7" name="Text 5"/>
          <p:cNvSpPr/>
          <p:nvPr/>
        </p:nvSpPr>
        <p:spPr>
          <a:xfrm>
            <a:off x="11356848" y="6583680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6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10/15</a:t>
            </a:r>
            <a:endParaRPr lang="en-US" sz="600" dirty="0"/>
          </a:p>
        </p:txBody>
      </p:sp>
      <p:sp>
        <p:nvSpPr>
          <p:cNvPr id="8" name="Shape 6"/>
          <p:cNvSpPr/>
          <p:nvPr/>
        </p:nvSpPr>
        <p:spPr>
          <a:xfrm>
            <a:off x="896112" y="2999232"/>
            <a:ext cx="10488168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758952" y="2862072"/>
            <a:ext cx="274320" cy="274320"/>
          </a:xfrm>
          <a:prstGeom prst="ellipse">
            <a:avLst/>
          </a:prstGeom>
          <a:solidFill>
            <a:srgbClr val="E6F4F4"/>
          </a:solidFill>
          <a:ln w="8890">
            <a:solidFill>
              <a:srgbClr val="168B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944368"/>
            <a:ext cx="164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68B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</a:t>
            </a:r>
            <a:endParaRPr lang="en-US" sz="550" dirty="0"/>
          </a:p>
        </p:txBody>
      </p:sp>
      <p:sp>
        <p:nvSpPr>
          <p:cNvPr id="11" name="Text 9"/>
          <p:cNvSpPr/>
          <p:nvPr/>
        </p:nvSpPr>
        <p:spPr>
          <a:xfrm>
            <a:off x="393192" y="3493008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 nominal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2258568" y="2862072"/>
            <a:ext cx="274320" cy="274320"/>
          </a:xfrm>
          <a:prstGeom prst="ellipse">
            <a:avLst/>
          </a:prstGeom>
          <a:solidFill>
            <a:srgbClr val="FDEDE8"/>
          </a:solidFill>
          <a:ln w="8890">
            <a:solidFill>
              <a:srgbClr val="E855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22576" y="2944368"/>
            <a:ext cx="164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S2</a:t>
            </a:r>
            <a:endParaRPr lang="en-US" sz="550" dirty="0"/>
          </a:p>
        </p:txBody>
      </p:sp>
      <p:sp>
        <p:nvSpPr>
          <p:cNvPr id="14" name="Text 12"/>
          <p:cNvSpPr/>
          <p:nvPr/>
        </p:nvSpPr>
        <p:spPr>
          <a:xfrm>
            <a:off x="1892808" y="3493008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pallet movil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758184" y="2862072"/>
            <a:ext cx="274320" cy="274320"/>
          </a:xfrm>
          <a:prstGeom prst="ellipse">
            <a:avLst/>
          </a:prstGeom>
          <a:solidFill>
            <a:srgbClr val="EAF1FA"/>
          </a:solidFill>
          <a:ln w="8890">
            <a:solidFill>
              <a:srgbClr val="2B6CB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22192" y="2944368"/>
            <a:ext cx="164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S3</a:t>
            </a:r>
            <a:endParaRPr lang="en-US" sz="550" dirty="0"/>
          </a:p>
        </p:txBody>
      </p:sp>
      <p:sp>
        <p:nvSpPr>
          <p:cNvPr id="17" name="Text 15"/>
          <p:cNvSpPr/>
          <p:nvPr/>
        </p:nvSpPr>
        <p:spPr>
          <a:xfrm>
            <a:off x="3392424" y="3493008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parada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5257800" y="2862072"/>
            <a:ext cx="274320" cy="274320"/>
          </a:xfrm>
          <a:prstGeom prst="ellipse">
            <a:avLst/>
          </a:prstGeom>
          <a:solidFill>
            <a:srgbClr val="EAF5EE"/>
          </a:solidFill>
          <a:ln w="8890">
            <a:solidFill>
              <a:srgbClr val="2D8A4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21808" y="2944368"/>
            <a:ext cx="164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2D8A4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S4</a:t>
            </a:r>
            <a:endParaRPr lang="en-US" sz="550" dirty="0"/>
          </a:p>
        </p:txBody>
      </p:sp>
      <p:sp>
        <p:nvSpPr>
          <p:cNvPr id="20" name="Text 18"/>
          <p:cNvSpPr/>
          <p:nvPr/>
        </p:nvSpPr>
        <p:spPr>
          <a:xfrm>
            <a:off x="4892040" y="3493008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objetivo movil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6757416" y="2862072"/>
            <a:ext cx="274320" cy="274320"/>
          </a:xfrm>
          <a:prstGeom prst="ellipse">
            <a:avLst/>
          </a:prstGeom>
          <a:solidFill>
            <a:srgbClr val="FBF2DF"/>
          </a:solidFill>
          <a:ln w="8890">
            <a:solidFill>
              <a:srgbClr val="B7791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21424" y="2944368"/>
            <a:ext cx="164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B779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S5</a:t>
            </a:r>
            <a:endParaRPr lang="en-US" sz="550" dirty="0"/>
          </a:p>
        </p:txBody>
      </p:sp>
      <p:sp>
        <p:nvSpPr>
          <p:cNvPr id="23" name="Text 21"/>
          <p:cNvSpPr/>
          <p:nvPr/>
        </p:nvSpPr>
        <p:spPr>
          <a:xfrm>
            <a:off x="6391656" y="3493008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pasillo estrecho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8257032" y="2862072"/>
            <a:ext cx="274320" cy="274320"/>
          </a:xfrm>
          <a:prstGeom prst="ellipse">
            <a:avLst/>
          </a:prstGeom>
          <a:solidFill>
            <a:srgbClr val="FBEAEA"/>
          </a:solidFill>
          <a:ln w="8890">
            <a:solidFill>
              <a:srgbClr val="B8323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21040" y="2944368"/>
            <a:ext cx="164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B832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S6</a:t>
            </a:r>
            <a:endParaRPr lang="en-US" sz="550" dirty="0"/>
          </a:p>
        </p:txBody>
      </p:sp>
      <p:sp>
        <p:nvSpPr>
          <p:cNvPr id="26" name="Text 24"/>
          <p:cNvSpPr/>
          <p:nvPr/>
        </p:nvSpPr>
        <p:spPr>
          <a:xfrm>
            <a:off x="7891272" y="3493008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fallo sensor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9756648" y="2862072"/>
            <a:ext cx="274320" cy="274320"/>
          </a:xfrm>
          <a:prstGeom prst="ellipse">
            <a:avLst/>
          </a:prstGeom>
          <a:solidFill>
            <a:srgbClr val="EAF1FA"/>
          </a:solidFill>
          <a:ln w="8890">
            <a:solidFill>
              <a:srgbClr val="2B6CB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820656" y="2944368"/>
            <a:ext cx="164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S7</a:t>
            </a:r>
            <a:endParaRPr lang="en-US" sz="550" dirty="0"/>
          </a:p>
        </p:txBody>
      </p:sp>
      <p:sp>
        <p:nvSpPr>
          <p:cNvPr id="29" name="Text 27"/>
          <p:cNvSpPr/>
          <p:nvPr/>
        </p:nvSpPr>
        <p:spPr>
          <a:xfrm>
            <a:off x="9390888" y="3493008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bateria baja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1256264" y="2862072"/>
            <a:ext cx="274320" cy="274320"/>
          </a:xfrm>
          <a:prstGeom prst="ellipse">
            <a:avLst/>
          </a:prstGeom>
          <a:solidFill>
            <a:srgbClr val="EAF5EE"/>
          </a:solidFill>
          <a:ln w="8890">
            <a:solidFill>
              <a:srgbClr val="2D8A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320272" y="2944368"/>
            <a:ext cx="164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2D8A4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S8</a:t>
            </a:r>
            <a:endParaRPr lang="en-US" sz="550" dirty="0"/>
          </a:p>
        </p:txBody>
      </p:sp>
      <p:sp>
        <p:nvSpPr>
          <p:cNvPr id="32" name="Text 30"/>
          <p:cNvSpPr/>
          <p:nvPr/>
        </p:nvSpPr>
        <p:spPr>
          <a:xfrm>
            <a:off x="10890504" y="3493008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llegada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896112" y="141732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demo cubre condiciones normales, interaccion con celda y fallos.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96112" y="1801368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profesor puede pulsar Play y observar una secuencia ordenada, no un recorrido idealizado.</a:t>
            </a:r>
            <a:endParaRPr lang="en-US" sz="880" dirty="0"/>
          </a:p>
        </p:txBody>
      </p:sp>
      <p:sp>
        <p:nvSpPr>
          <p:cNvPr id="35" name="Text 33"/>
          <p:cNvSpPr/>
          <p:nvPr/>
        </p:nvSpPr>
        <p:spPr>
          <a:xfrm>
            <a:off x="932688" y="504748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68B8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4,328 m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932688" y="544982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distancia inicial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3584448" y="504748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D8A4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0,739 m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3584448" y="544982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distancia final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236208" y="504748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855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ARRIVED</a:t>
            </a:r>
            <a:endParaRPr lang="en-US" sz="2600" dirty="0"/>
          </a:p>
        </p:txBody>
      </p:sp>
      <p:sp>
        <p:nvSpPr>
          <p:cNvPr id="40" name="Text 38"/>
          <p:cNvSpPr/>
          <p:nvPr/>
        </p:nvSpPr>
        <p:spPr>
          <a:xfrm>
            <a:off x="6236208" y="544982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estado final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8887968" y="504748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B832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0,191 m</a:t>
            </a:r>
            <a:endParaRPr lang="en-US" sz="2600" dirty="0"/>
          </a:p>
        </p:txBody>
      </p:sp>
      <p:sp>
        <p:nvSpPr>
          <p:cNvPr id="42" name="Text 40"/>
          <p:cNvSpPr/>
          <p:nvPr/>
        </p:nvSpPr>
        <p:spPr>
          <a:xfrm>
            <a:off x="8887968" y="544982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min. obstaculo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"/>
            <a:ext cx="12191695" cy="0"/>
          </a:xfrm>
          <a:prstGeom prst="line">
            <a:avLst/>
          </a:prstGeom>
          <a:noFill/>
          <a:ln w="7620">
            <a:solidFill>
              <a:srgbClr val="D8DEE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18872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446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flota auxiliar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Extension multi-robot: A* cooperativo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6601968"/>
            <a:ext cx="4114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 ·  Sistemas Roboticos Moviles  ·  CoppeliaSim/Lua</a:t>
            </a:r>
            <a:endParaRPr lang="en-US" sz="600" dirty="0"/>
          </a:p>
        </p:txBody>
      </p:sp>
      <p:sp>
        <p:nvSpPr>
          <p:cNvPr id="7" name="Text 5"/>
          <p:cNvSpPr/>
          <p:nvPr/>
        </p:nvSpPr>
        <p:spPr>
          <a:xfrm>
            <a:off x="11356848" y="6583680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6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11/15</a:t>
            </a:r>
            <a:endParaRPr lang="en-US" sz="600" dirty="0"/>
          </a:p>
        </p:txBody>
      </p:sp>
      <p:sp>
        <p:nvSpPr>
          <p:cNvPr id="8" name="Shape 6"/>
          <p:cNvSpPr/>
          <p:nvPr/>
        </p:nvSpPr>
        <p:spPr>
          <a:xfrm>
            <a:off x="777240" y="1207008"/>
            <a:ext cx="6446520" cy="4709160"/>
          </a:xfrm>
          <a:prstGeom prst="rect">
            <a:avLst/>
          </a:prstGeom>
          <a:solidFill>
            <a:srgbClr val="F7F8FA"/>
          </a:solidFill>
          <a:ln w="8890">
            <a:solidFill>
              <a:srgbClr val="D8DE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21892" y="1344168"/>
            <a:ext cx="0" cy="443484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2066544" y="1344168"/>
            <a:ext cx="0" cy="443484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2711196" y="1344168"/>
            <a:ext cx="0" cy="443484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3355848" y="1344168"/>
            <a:ext cx="0" cy="443484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4000500" y="1344168"/>
            <a:ext cx="0" cy="443484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4645152" y="1344168"/>
            <a:ext cx="0" cy="443484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5289804" y="1344168"/>
            <a:ext cx="0" cy="443484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5934456" y="1344168"/>
            <a:ext cx="0" cy="443484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6579108" y="1344168"/>
            <a:ext cx="0" cy="443484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14400" y="1795653"/>
            <a:ext cx="6172200" cy="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14400" y="2384298"/>
            <a:ext cx="6172200" cy="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14400" y="2972943"/>
            <a:ext cx="6172200" cy="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14400" y="3561588"/>
            <a:ext cx="6172200" cy="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914400" y="4150233"/>
            <a:ext cx="6172200" cy="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914400" y="4738878"/>
            <a:ext cx="6172200" cy="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914400" y="5327523"/>
            <a:ext cx="6172200" cy="0"/>
          </a:xfrm>
          <a:prstGeom prst="line">
            <a:avLst/>
          </a:prstGeom>
          <a:noFill/>
          <a:ln w="3175">
            <a:solidFill>
              <a:srgbClr val="D8DEE6"/>
            </a:solidFill>
            <a:prstDash val="solid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1237549" y="5021153"/>
            <a:ext cx="176662" cy="107533"/>
          </a:xfrm>
          <a:prstGeom prst="rect">
            <a:avLst/>
          </a:prstGeom>
          <a:solidFill>
            <a:srgbClr val="E6F4F4"/>
          </a:solidFill>
          <a:ln w="8890">
            <a:solidFill>
              <a:srgbClr val="168B8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79794" y="5051877"/>
            <a:ext cx="92172" cy="46086"/>
          </a:xfrm>
          <a:prstGeom prst="rect">
            <a:avLst/>
          </a:prstGeom>
          <a:solidFill>
            <a:srgbClr val="FFFFFF"/>
          </a:solidFill>
          <a:ln w="8890">
            <a:solidFill>
              <a:srgbClr val="168B8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414211" y="5074920"/>
            <a:ext cx="72969" cy="0"/>
          </a:xfrm>
          <a:prstGeom prst="line">
            <a:avLst/>
          </a:prstGeom>
          <a:noFill/>
          <a:ln w="13970">
            <a:solidFill>
              <a:srgbClr val="168B8F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172261" y="4921301"/>
            <a:ext cx="307238" cy="307238"/>
          </a:xfrm>
          <a:prstGeom prst="ellipse">
            <a:avLst/>
          </a:prstGeom>
          <a:solidFill>
            <a:srgbClr val="FFFFFF"/>
          </a:solidFill>
          <a:ln w="8890">
            <a:solidFill>
              <a:srgbClr val="168B8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83930" y="4832970"/>
            <a:ext cx="483900" cy="4839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168B8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237549" y="1793321"/>
            <a:ext cx="176662" cy="107533"/>
          </a:xfrm>
          <a:prstGeom prst="rect">
            <a:avLst/>
          </a:prstGeom>
          <a:solidFill>
            <a:srgbClr val="FDEDE8"/>
          </a:solidFill>
          <a:ln w="8890">
            <a:solidFill>
              <a:srgbClr val="E8552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279794" y="1824045"/>
            <a:ext cx="92172" cy="46086"/>
          </a:xfrm>
          <a:prstGeom prst="rect">
            <a:avLst/>
          </a:prstGeom>
          <a:solidFill>
            <a:srgbClr val="FFFFFF"/>
          </a:solidFill>
          <a:ln w="8890">
            <a:solidFill>
              <a:srgbClr val="E8552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414211" y="1847088"/>
            <a:ext cx="72969" cy="0"/>
          </a:xfrm>
          <a:prstGeom prst="line">
            <a:avLst/>
          </a:prstGeom>
          <a:noFill/>
          <a:ln w="13970">
            <a:solidFill>
              <a:srgbClr val="E8552D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1172261" y="1693469"/>
            <a:ext cx="307238" cy="307238"/>
          </a:xfrm>
          <a:prstGeom prst="ellipse">
            <a:avLst/>
          </a:prstGeom>
          <a:solidFill>
            <a:srgbClr val="FFFFFF"/>
          </a:solidFill>
          <a:ln w="8890">
            <a:solidFill>
              <a:srgbClr val="E8552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83930" y="1605138"/>
            <a:ext cx="483900" cy="4839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E8552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66749" y="5021153"/>
            <a:ext cx="176662" cy="107533"/>
          </a:xfrm>
          <a:prstGeom prst="rect">
            <a:avLst/>
          </a:prstGeom>
          <a:solidFill>
            <a:srgbClr val="EAF1FA"/>
          </a:solidFill>
          <a:ln w="8890">
            <a:solidFill>
              <a:srgbClr val="2B6CB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08994" y="5051877"/>
            <a:ext cx="92172" cy="46086"/>
          </a:xfrm>
          <a:prstGeom prst="rect">
            <a:avLst/>
          </a:prstGeom>
          <a:solidFill>
            <a:srgbClr val="FFFFFF"/>
          </a:solidFill>
          <a:ln w="8890">
            <a:solidFill>
              <a:srgbClr val="2B6CB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43411" y="5074920"/>
            <a:ext cx="72969" cy="0"/>
          </a:xfrm>
          <a:prstGeom prst="line">
            <a:avLst/>
          </a:prstGeom>
          <a:noFill/>
          <a:ln w="13970">
            <a:solidFill>
              <a:srgbClr val="2B6CB0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201461" y="4921301"/>
            <a:ext cx="307238" cy="307238"/>
          </a:xfrm>
          <a:prstGeom prst="ellipse">
            <a:avLst/>
          </a:prstGeom>
          <a:solidFill>
            <a:srgbClr val="FFFFFF"/>
          </a:solidFill>
          <a:ln w="8890">
            <a:solidFill>
              <a:srgbClr val="2B6CB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13130" y="4832970"/>
            <a:ext cx="483900" cy="4839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2B6CB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325880" y="5074920"/>
            <a:ext cx="1463040" cy="0"/>
          </a:xfrm>
          <a:prstGeom prst="line">
            <a:avLst/>
          </a:prstGeom>
          <a:noFill/>
          <a:ln w="19050">
            <a:solidFill>
              <a:srgbClr val="168B8F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2788920" y="5074920"/>
            <a:ext cx="0" cy="-1728216"/>
          </a:xfrm>
          <a:prstGeom prst="line">
            <a:avLst/>
          </a:prstGeom>
          <a:noFill/>
          <a:ln w="19050">
            <a:solidFill>
              <a:srgbClr val="168B8F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2788920" y="3346704"/>
            <a:ext cx="3246120" cy="0"/>
          </a:xfrm>
          <a:prstGeom prst="line">
            <a:avLst/>
          </a:prstGeom>
          <a:noFill/>
          <a:ln w="19050">
            <a:solidFill>
              <a:srgbClr val="168B8F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1325880" y="1847088"/>
            <a:ext cx="2011680" cy="0"/>
          </a:xfrm>
          <a:prstGeom prst="line">
            <a:avLst/>
          </a:prstGeom>
          <a:noFill/>
          <a:ln w="19050">
            <a:solidFill>
              <a:srgbClr val="E8552D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3337560" y="1847088"/>
            <a:ext cx="0" cy="914400"/>
          </a:xfrm>
          <a:prstGeom prst="line">
            <a:avLst/>
          </a:prstGeom>
          <a:noFill/>
          <a:ln w="19050">
            <a:solidFill>
              <a:srgbClr val="E8552D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3337560" y="2761488"/>
            <a:ext cx="2697480" cy="0"/>
          </a:xfrm>
          <a:prstGeom prst="line">
            <a:avLst/>
          </a:prstGeom>
          <a:noFill/>
          <a:ln w="19050">
            <a:solidFill>
              <a:srgbClr val="E8552D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6355080" y="5074920"/>
            <a:ext cx="-1490472" cy="0"/>
          </a:xfrm>
          <a:prstGeom prst="line">
            <a:avLst/>
          </a:prstGeom>
          <a:noFill/>
          <a:ln w="19050">
            <a:solidFill>
              <a:srgbClr val="2B6CB0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4864608" y="5074920"/>
            <a:ext cx="0" cy="-941832"/>
          </a:xfrm>
          <a:prstGeom prst="line">
            <a:avLst/>
          </a:prstGeom>
          <a:noFill/>
          <a:ln w="19050">
            <a:solidFill>
              <a:srgbClr val="2B6CB0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4864608" y="4133088"/>
            <a:ext cx="-2578608" cy="0"/>
          </a:xfrm>
          <a:prstGeom prst="line">
            <a:avLst/>
          </a:prstGeom>
          <a:noFill/>
          <a:ln w="19050">
            <a:solidFill>
              <a:srgbClr val="2B6CB0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2834640" y="2889504"/>
            <a:ext cx="457200" cy="411480"/>
          </a:xfrm>
          <a:prstGeom prst="rect">
            <a:avLst/>
          </a:prstGeom>
          <a:solidFill>
            <a:srgbClr val="FBEAEA"/>
          </a:solidFill>
          <a:ln w="8890">
            <a:solidFill>
              <a:srgbClr val="D8DEE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590288" y="3456432"/>
            <a:ext cx="457200" cy="411480"/>
          </a:xfrm>
          <a:prstGeom prst="rect">
            <a:avLst/>
          </a:prstGeom>
          <a:solidFill>
            <a:srgbClr val="FBEAEA"/>
          </a:solidFill>
          <a:ln w="8890">
            <a:solidFill>
              <a:srgbClr val="D8DEE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955280" y="1463040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Resultado validado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7955280" y="19933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B6CB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16</a:t>
            </a:r>
            <a:endParaRPr lang="en-US" sz="2600" dirty="0"/>
          </a:p>
        </p:txBody>
      </p:sp>
      <p:sp>
        <p:nvSpPr>
          <p:cNvPr id="53" name="Text 51"/>
          <p:cNvSpPr/>
          <p:nvPr/>
        </p:nvSpPr>
        <p:spPr>
          <a:xfrm>
            <a:off x="7955280" y="239572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planes A* generados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7955280" y="281635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855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</a:t>
            </a:r>
            <a:endParaRPr lang="en-US" sz="2600" dirty="0"/>
          </a:p>
        </p:txBody>
      </p:sp>
      <p:sp>
        <p:nvSpPr>
          <p:cNvPr id="55" name="Text 53"/>
          <p:cNvSpPr/>
          <p:nvPr/>
        </p:nvSpPr>
        <p:spPr>
          <a:xfrm>
            <a:off x="7955280" y="32186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conflictos evitados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7955280" y="363931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68B8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2600" dirty="0"/>
          </a:p>
        </p:txBody>
      </p:sp>
      <p:sp>
        <p:nvSpPr>
          <p:cNvPr id="57" name="Text 55"/>
          <p:cNvSpPr/>
          <p:nvPr/>
        </p:nvSpPr>
        <p:spPr>
          <a:xfrm>
            <a:off x="7955280" y="40416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eventos de carga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7955280" y="44622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D8A4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3/3</a:t>
            </a:r>
            <a:endParaRPr lang="en-US" sz="2600" dirty="0"/>
          </a:p>
        </p:txBody>
      </p:sp>
      <p:sp>
        <p:nvSpPr>
          <p:cNvPr id="59" name="Text 57"/>
          <p:cNvSpPr/>
          <p:nvPr/>
        </p:nvSpPr>
        <p:spPr>
          <a:xfrm>
            <a:off x="7955280" y="486460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robots READY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"/>
            <a:ext cx="12191695" cy="0"/>
          </a:xfrm>
          <a:prstGeom prst="line">
            <a:avLst/>
          </a:prstGeom>
          <a:noFill/>
          <a:ln w="7620">
            <a:solidFill>
              <a:srgbClr val="D8DEE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18872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446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 cuantitativa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Validacion: indicadores que sostienen la defensa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6601968"/>
            <a:ext cx="4114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 ·  Sistemas Roboticos Moviles  ·  CoppeliaSim/Lua</a:t>
            </a:r>
            <a:endParaRPr lang="en-US" sz="600" dirty="0"/>
          </a:p>
        </p:txBody>
      </p:sp>
      <p:sp>
        <p:nvSpPr>
          <p:cNvPr id="7" name="Text 5"/>
          <p:cNvSpPr/>
          <p:nvPr/>
        </p:nvSpPr>
        <p:spPr>
          <a:xfrm>
            <a:off x="11356848" y="6583680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6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12/15</a:t>
            </a:r>
            <a:endParaRPr lang="en-US" sz="600" dirty="0"/>
          </a:p>
        </p:txBody>
      </p:sp>
      <p:sp>
        <p:nvSpPr>
          <p:cNvPr id="8" name="Shape 6"/>
          <p:cNvSpPr/>
          <p:nvPr/>
        </p:nvSpPr>
        <p:spPr>
          <a:xfrm>
            <a:off x="822960" y="1234440"/>
            <a:ext cx="10561320" cy="4498848"/>
          </a:xfrm>
          <a:prstGeom prst="rect">
            <a:avLst/>
          </a:prstGeom>
          <a:solidFill>
            <a:srgbClr val="F7F8FA"/>
          </a:solidFill>
          <a:ln w="8890">
            <a:solidFill>
              <a:srgbClr val="D8DE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18745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5717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4.328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143000" y="227685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inicial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807208" y="18745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D8A4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0.739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807208" y="227685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471416" y="18745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68B8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22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71416" y="227685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sensores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135624" y="18745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855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135624" y="227685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escenarios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799832" y="18745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B6CB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799832" y="227685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READY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464040" y="18745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B832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0.191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9464040" y="227685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min. obstaculo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097280" y="3246120"/>
            <a:ext cx="9692640" cy="0"/>
          </a:xfrm>
          <a:prstGeom prst="line">
            <a:avLst/>
          </a:prstGeom>
          <a:noFill/>
          <a:ln w="10160">
            <a:solidFill>
              <a:srgbClr val="D8DEE6"/>
            </a:solidFill>
            <a:prstDash val="solid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1143000" y="3803904"/>
            <a:ext cx="64008" cy="64008"/>
          </a:xfrm>
          <a:prstGeom prst="ellipse">
            <a:avLst/>
          </a:prstGeom>
          <a:solidFill>
            <a:srgbClr val="2D8A4E"/>
          </a:solidFill>
          <a:ln w="8890">
            <a:solidFill>
              <a:srgbClr val="2D8A4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07592" y="376732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reduce distancia y termina en ARRIVED.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143000" y="4261104"/>
            <a:ext cx="64008" cy="64008"/>
          </a:xfrm>
          <a:prstGeom prst="ellipse">
            <a:avLst/>
          </a:prstGeom>
          <a:solidFill>
            <a:srgbClr val="168B8F"/>
          </a:solidFill>
          <a:ln w="8890">
            <a:solidFill>
              <a:srgbClr val="168B8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07592" y="422452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Sensores cubren proximidad, ruido y fallo intermitente.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143000" y="4718304"/>
            <a:ext cx="64008" cy="64008"/>
          </a:xfrm>
          <a:prstGeom prst="ellipse">
            <a:avLst/>
          </a:prstGeom>
          <a:solidFill>
            <a:srgbClr val="2B6CB0"/>
          </a:solidFill>
          <a:ln w="8890">
            <a:solidFill>
              <a:srgbClr val="2B6CB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07592" y="468172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flota auxiliar completa rutas y recarga.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143000" y="5175504"/>
            <a:ext cx="64008" cy="64008"/>
          </a:xfrm>
          <a:prstGeom prst="ellipse">
            <a:avLst/>
          </a:prstGeom>
          <a:solidFill>
            <a:srgbClr val="E8552D"/>
          </a:solidFill>
          <a:ln w="8890">
            <a:solidFill>
              <a:srgbClr val="E8552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07592" y="513892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JSON permite reproducir la evidencia sin depender de una captura.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"/>
            <a:ext cx="12191695" cy="0"/>
          </a:xfrm>
          <a:prstGeom prst="line">
            <a:avLst/>
          </a:prstGeom>
          <a:noFill/>
          <a:ln w="7620">
            <a:solidFill>
              <a:srgbClr val="D8DEE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18872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446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guion de presentacion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Entregables y como defenderlos en 3 minutos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6601968"/>
            <a:ext cx="4114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 ·  Sistemas Roboticos Moviles  ·  CoppeliaSim/Lua</a:t>
            </a:r>
            <a:endParaRPr lang="en-US" sz="600" dirty="0"/>
          </a:p>
        </p:txBody>
      </p:sp>
      <p:sp>
        <p:nvSpPr>
          <p:cNvPr id="7" name="Text 5"/>
          <p:cNvSpPr/>
          <p:nvPr/>
        </p:nvSpPr>
        <p:spPr>
          <a:xfrm>
            <a:off x="11356848" y="6583680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6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13/15</a:t>
            </a:r>
            <a:endParaRPr lang="en-US" sz="600" dirty="0"/>
          </a:p>
        </p:txBody>
      </p:sp>
      <p:sp>
        <p:nvSpPr>
          <p:cNvPr id="8" name="Text 6"/>
          <p:cNvSpPr/>
          <p:nvPr/>
        </p:nvSpPr>
        <p:spPr>
          <a:xfrm>
            <a:off x="777240" y="15544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Archivos principales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121408"/>
            <a:ext cx="5440680" cy="420624"/>
          </a:xfrm>
          <a:prstGeom prst="rect">
            <a:avLst/>
          </a:prstGeom>
          <a:solidFill>
            <a:srgbClr val="E6F4F4"/>
          </a:solidFill>
          <a:ln w="8890">
            <a:solidFill>
              <a:srgbClr val="E6F4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2194560"/>
            <a:ext cx="4937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70" b="1" dirty="0">
                <a:solidFill>
                  <a:srgbClr val="168B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Actividad2_Pioneer_Profesional_10_10.ttt</a:t>
            </a:r>
            <a:endParaRPr lang="en-US" sz="670" dirty="0"/>
          </a:p>
        </p:txBody>
      </p:sp>
      <p:sp>
        <p:nvSpPr>
          <p:cNvPr id="11" name="Text 9"/>
          <p:cNvSpPr/>
          <p:nvPr/>
        </p:nvSpPr>
        <p:spPr>
          <a:xfrm>
            <a:off x="960120" y="2350008"/>
            <a:ext cx="49377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54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 final para abrir y ejecutar en CoppeliaSim</a:t>
            </a:r>
            <a:endParaRPr lang="en-US" sz="540" dirty="0"/>
          </a:p>
        </p:txBody>
      </p:sp>
      <p:sp>
        <p:nvSpPr>
          <p:cNvPr id="12" name="Shape 10"/>
          <p:cNvSpPr/>
          <p:nvPr/>
        </p:nvSpPr>
        <p:spPr>
          <a:xfrm>
            <a:off x="777240" y="2743200"/>
            <a:ext cx="5440680" cy="420624"/>
          </a:xfrm>
          <a:prstGeom prst="rect">
            <a:avLst/>
          </a:prstGeom>
          <a:solidFill>
            <a:srgbClr val="FDEDE8"/>
          </a:solidFill>
          <a:ln w="8890">
            <a:solidFill>
              <a:srgbClr val="FDED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2816352"/>
            <a:ext cx="4937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7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Actividad2_Pioneer_Profesional_10_10_validation.json</a:t>
            </a:r>
            <a:endParaRPr lang="en-US" sz="670" dirty="0"/>
          </a:p>
        </p:txBody>
      </p:sp>
      <p:sp>
        <p:nvSpPr>
          <p:cNvPr id="14" name="Text 12"/>
          <p:cNvSpPr/>
          <p:nvPr/>
        </p:nvSpPr>
        <p:spPr>
          <a:xfrm>
            <a:off x="960120" y="2971800"/>
            <a:ext cx="49377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54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 reproducible de resultados</a:t>
            </a:r>
            <a:endParaRPr lang="en-US" sz="540" dirty="0"/>
          </a:p>
        </p:txBody>
      </p:sp>
      <p:sp>
        <p:nvSpPr>
          <p:cNvPr id="15" name="Shape 13"/>
          <p:cNvSpPr/>
          <p:nvPr/>
        </p:nvSpPr>
        <p:spPr>
          <a:xfrm>
            <a:off x="777240" y="3364992"/>
            <a:ext cx="5440680" cy="420624"/>
          </a:xfrm>
          <a:prstGeom prst="rect">
            <a:avLst/>
          </a:prstGeom>
          <a:solidFill>
            <a:srgbClr val="EAF1FA"/>
          </a:solidFill>
          <a:ln w="8890">
            <a:solidFill>
              <a:srgbClr val="EAF1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3438144"/>
            <a:ext cx="4937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7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main.pdf</a:t>
            </a:r>
            <a:endParaRPr lang="en-US" sz="670" dirty="0"/>
          </a:p>
        </p:txBody>
      </p:sp>
      <p:sp>
        <p:nvSpPr>
          <p:cNvPr id="17" name="Text 15"/>
          <p:cNvSpPr/>
          <p:nvPr/>
        </p:nvSpPr>
        <p:spPr>
          <a:xfrm>
            <a:off x="960120" y="3593592"/>
            <a:ext cx="49377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54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informe tecnico con trazabilidad y validacion</a:t>
            </a:r>
            <a:endParaRPr lang="en-US" sz="540" dirty="0"/>
          </a:p>
        </p:txBody>
      </p:sp>
      <p:sp>
        <p:nvSpPr>
          <p:cNvPr id="18" name="Shape 16"/>
          <p:cNvSpPr/>
          <p:nvPr/>
        </p:nvSpPr>
        <p:spPr>
          <a:xfrm>
            <a:off x="777240" y="3986784"/>
            <a:ext cx="5440680" cy="420624"/>
          </a:xfrm>
          <a:prstGeom prst="rect">
            <a:avLst/>
          </a:prstGeom>
          <a:solidFill>
            <a:srgbClr val="EAF5EE"/>
          </a:solidFill>
          <a:ln w="8890">
            <a:solidFill>
              <a:srgbClr val="EAF5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4059936"/>
            <a:ext cx="4937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70" b="1" dirty="0">
                <a:solidFill>
                  <a:srgbClr val="2D8A4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Actividad2_Pioneer_CoppeliaSim.pptx</a:t>
            </a:r>
            <a:endParaRPr lang="en-US" sz="670" dirty="0"/>
          </a:p>
        </p:txBody>
      </p:sp>
      <p:sp>
        <p:nvSpPr>
          <p:cNvPr id="20" name="Text 18"/>
          <p:cNvSpPr/>
          <p:nvPr/>
        </p:nvSpPr>
        <p:spPr>
          <a:xfrm>
            <a:off x="960120" y="4215384"/>
            <a:ext cx="49377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54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presentacion editable profesional</a:t>
            </a:r>
            <a:endParaRPr lang="en-US" sz="540" dirty="0"/>
          </a:p>
        </p:txBody>
      </p:sp>
      <p:sp>
        <p:nvSpPr>
          <p:cNvPr id="21" name="Text 19"/>
          <p:cNvSpPr/>
          <p:nvPr/>
        </p:nvSpPr>
        <p:spPr>
          <a:xfrm>
            <a:off x="7360920" y="15544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Orden recomendado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360920" y="2157984"/>
            <a:ext cx="182880" cy="182880"/>
          </a:xfrm>
          <a:prstGeom prst="ellipse">
            <a:avLst/>
          </a:prstGeom>
          <a:solidFill>
            <a:srgbClr val="C44624"/>
          </a:solidFill>
          <a:ln w="8890">
            <a:solidFill>
              <a:srgbClr val="C4462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640" y="2212848"/>
            <a:ext cx="54864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5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520" dirty="0"/>
          </a:p>
        </p:txBody>
      </p:sp>
      <p:sp>
        <p:nvSpPr>
          <p:cNvPr id="24" name="Text 22"/>
          <p:cNvSpPr/>
          <p:nvPr/>
        </p:nvSpPr>
        <p:spPr>
          <a:xfrm>
            <a:off x="7699248" y="21031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Explicar guia: Pioneer, campos potenciales, anticolision.</a:t>
            </a:r>
            <a:endParaRPr lang="en-US" sz="820" dirty="0"/>
          </a:p>
        </p:txBody>
      </p:sp>
      <p:sp>
        <p:nvSpPr>
          <p:cNvPr id="25" name="Shape 23"/>
          <p:cNvSpPr/>
          <p:nvPr/>
        </p:nvSpPr>
        <p:spPr>
          <a:xfrm>
            <a:off x="7360920" y="2843784"/>
            <a:ext cx="182880" cy="182880"/>
          </a:xfrm>
          <a:prstGeom prst="ellipse">
            <a:avLst/>
          </a:prstGeom>
          <a:solidFill>
            <a:srgbClr val="C44624"/>
          </a:solidFill>
          <a:ln w="8890">
            <a:solidFill>
              <a:srgbClr val="C4462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06640" y="2898648"/>
            <a:ext cx="54864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5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520" dirty="0"/>
          </a:p>
        </p:txBody>
      </p:sp>
      <p:sp>
        <p:nvSpPr>
          <p:cNvPr id="27" name="Text 25"/>
          <p:cNvSpPr/>
          <p:nvPr/>
        </p:nvSpPr>
        <p:spPr>
          <a:xfrm>
            <a:off x="7699248" y="27889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Mostrar celda: ruta, sensores, HMI y bateria.</a:t>
            </a:r>
            <a:endParaRPr lang="en-US" sz="820" dirty="0"/>
          </a:p>
        </p:txBody>
      </p:sp>
      <p:sp>
        <p:nvSpPr>
          <p:cNvPr id="28" name="Shape 26"/>
          <p:cNvSpPr/>
          <p:nvPr/>
        </p:nvSpPr>
        <p:spPr>
          <a:xfrm>
            <a:off x="7360920" y="3529584"/>
            <a:ext cx="182880" cy="182880"/>
          </a:xfrm>
          <a:prstGeom prst="ellipse">
            <a:avLst/>
          </a:prstGeom>
          <a:solidFill>
            <a:srgbClr val="C44624"/>
          </a:solidFill>
          <a:ln w="8890">
            <a:solidFill>
              <a:srgbClr val="C4462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06640" y="3584448"/>
            <a:ext cx="54864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5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520" dirty="0"/>
          </a:p>
        </p:txBody>
      </p:sp>
      <p:sp>
        <p:nvSpPr>
          <p:cNvPr id="30" name="Text 28"/>
          <p:cNvSpPr/>
          <p:nvPr/>
        </p:nvSpPr>
        <p:spPr>
          <a:xfrm>
            <a:off x="7699248" y="34747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Ejecutar o ensenar validacion: S1-S8 y ARRIVED.</a:t>
            </a:r>
            <a:endParaRPr lang="en-US" sz="820" dirty="0"/>
          </a:p>
        </p:txBody>
      </p:sp>
      <p:sp>
        <p:nvSpPr>
          <p:cNvPr id="31" name="Shape 29"/>
          <p:cNvSpPr/>
          <p:nvPr/>
        </p:nvSpPr>
        <p:spPr>
          <a:xfrm>
            <a:off x="7360920" y="4215384"/>
            <a:ext cx="182880" cy="182880"/>
          </a:xfrm>
          <a:prstGeom prst="ellipse">
            <a:avLst/>
          </a:prstGeom>
          <a:solidFill>
            <a:srgbClr val="C44624"/>
          </a:solidFill>
          <a:ln w="8890">
            <a:solidFill>
              <a:srgbClr val="C4462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06640" y="4270248"/>
            <a:ext cx="54864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5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520" dirty="0"/>
          </a:p>
        </p:txBody>
      </p:sp>
      <p:sp>
        <p:nvSpPr>
          <p:cNvPr id="33" name="Text 31"/>
          <p:cNvSpPr/>
          <p:nvPr/>
        </p:nvSpPr>
        <p:spPr>
          <a:xfrm>
            <a:off x="7699248" y="41605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Cerrar con extension A*: flota, reservas y carga.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"/>
            <a:ext cx="12191695" cy="0"/>
          </a:xfrm>
          <a:prstGeom prst="line">
            <a:avLst/>
          </a:prstGeom>
          <a:noFill/>
          <a:ln w="7620">
            <a:solidFill>
              <a:srgbClr val="D8DEE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18872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446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criterio tecnico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Limitaciones reconocidas y mitigacion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6601968"/>
            <a:ext cx="4114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 ·  Sistemas Roboticos Moviles  ·  CoppeliaSim/Lua</a:t>
            </a:r>
            <a:endParaRPr lang="en-US" sz="600" dirty="0"/>
          </a:p>
        </p:txBody>
      </p:sp>
      <p:sp>
        <p:nvSpPr>
          <p:cNvPr id="7" name="Text 5"/>
          <p:cNvSpPr/>
          <p:nvPr/>
        </p:nvSpPr>
        <p:spPr>
          <a:xfrm>
            <a:off x="11356848" y="6583680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6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14/15</a:t>
            </a:r>
            <a:endParaRPr lang="en-US" sz="600" dirty="0"/>
          </a:p>
        </p:txBody>
      </p:sp>
      <p:sp>
        <p:nvSpPr>
          <p:cNvPr id="8" name="Shape 6"/>
          <p:cNvSpPr/>
          <p:nvPr/>
        </p:nvSpPr>
        <p:spPr>
          <a:xfrm>
            <a:off x="804672" y="1993392"/>
            <a:ext cx="3063240" cy="3154680"/>
          </a:xfrm>
          <a:prstGeom prst="rect">
            <a:avLst/>
          </a:prstGeom>
          <a:solidFill>
            <a:srgbClr val="FDEDE8"/>
          </a:solidFill>
          <a:ln w="8890">
            <a:solidFill>
              <a:srgbClr val="E855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2176272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Minimos locales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87552" y="2651760"/>
            <a:ext cx="2697480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Riesgo: campo potencial puede oscilar o bloquearse.</a:t>
            </a:r>
            <a:endParaRPr lang="en-US" sz="840" dirty="0"/>
          </a:p>
          <a:p>
            <a:pPr algn="l" indent="0" marL="0">
              <a:buNone/>
            </a:pPr>
            <a:endParaRPr lang="en-US" sz="840" dirty="0"/>
          </a:p>
          <a:p>
            <a:pPr algn="l" indent="0" marL="0">
              <a:buNone/>
            </a:pPr>
            <a:r>
              <a:rPr lang="en-US" sz="84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Mitigacion: FSM RECOVERY y ruta por waypoints.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4553712" y="1993392"/>
            <a:ext cx="3063240" cy="3154680"/>
          </a:xfrm>
          <a:prstGeom prst="rect">
            <a:avLst/>
          </a:prstGeom>
          <a:solidFill>
            <a:srgbClr val="FBEAEA"/>
          </a:solidFill>
          <a:ln w="8890">
            <a:solidFill>
              <a:srgbClr val="B832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36592" y="2176272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832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Sensor imperfecto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36592" y="2651760"/>
            <a:ext cx="2697480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Riesgo: ruido o fallo intermitente en proximidad.</a:t>
            </a:r>
            <a:endParaRPr lang="en-US" sz="840" dirty="0"/>
          </a:p>
          <a:p>
            <a:pPr algn="l" indent="0" marL="0">
              <a:buNone/>
            </a:pPr>
            <a:endParaRPr lang="en-US" sz="840" dirty="0"/>
          </a:p>
          <a:p>
            <a:pPr algn="l" indent="0" marL="0">
              <a:buNone/>
            </a:pPr>
            <a:r>
              <a:rPr lang="en-US" sz="84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Mitigacion: filtro, degradacion simulada y margen de seguridad.</a:t>
            </a:r>
            <a:endParaRPr lang="en-US" sz="840" dirty="0"/>
          </a:p>
        </p:txBody>
      </p:sp>
      <p:sp>
        <p:nvSpPr>
          <p:cNvPr id="14" name="Shape 12"/>
          <p:cNvSpPr/>
          <p:nvPr/>
        </p:nvSpPr>
        <p:spPr>
          <a:xfrm>
            <a:off x="8302752" y="1993392"/>
            <a:ext cx="3063240" cy="3154680"/>
          </a:xfrm>
          <a:prstGeom prst="rect">
            <a:avLst/>
          </a:prstGeom>
          <a:solidFill>
            <a:srgbClr val="EAF1FA"/>
          </a:solidFill>
          <a:ln w="8890">
            <a:solidFill>
              <a:srgbClr val="2B6CB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85632" y="2176272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Simulacion vs planta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485632" y="2651760"/>
            <a:ext cx="2697480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Riesgo: la escena no equivale a certificacion industrial.</a:t>
            </a:r>
            <a:endParaRPr lang="en-US" sz="840" dirty="0"/>
          </a:p>
          <a:p>
            <a:pPr algn="l" indent="0" marL="0">
              <a:buNone/>
            </a:pPr>
            <a:endParaRPr lang="en-US" sz="840" dirty="0"/>
          </a:p>
          <a:p>
            <a:pPr algn="l" indent="0" marL="0">
              <a:buNone/>
            </a:pPr>
            <a:r>
              <a:rPr lang="en-US" sz="84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Mitigacion: validar primero en CoppeliaSim y documentar supuestos.</a:t>
            </a:r>
            <a:endParaRPr lang="en-US" sz="84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"/>
            <a:ext cx="12191695" cy="0"/>
          </a:xfrm>
          <a:prstGeom prst="line">
            <a:avLst/>
          </a:prstGeom>
          <a:noFill/>
          <a:ln w="7620">
            <a:solidFill>
              <a:srgbClr val="D8DEE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18872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446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Conclusion: una entrega defendible, no decorativa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6601968"/>
            <a:ext cx="4114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 ·  Sistemas Roboticos Moviles  ·  CoppeliaSim/Lua</a:t>
            </a:r>
            <a:endParaRPr lang="en-US" sz="600" dirty="0"/>
          </a:p>
        </p:txBody>
      </p:sp>
      <p:sp>
        <p:nvSpPr>
          <p:cNvPr id="7" name="Text 5"/>
          <p:cNvSpPr/>
          <p:nvPr/>
        </p:nvSpPr>
        <p:spPr>
          <a:xfrm>
            <a:off x="11356848" y="6583680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600" dirty="0">
                <a:solidFill>
                  <a:srgbClr val="6571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15/15</a:t>
            </a:r>
            <a:endParaRPr lang="en-US" sz="600" dirty="0"/>
          </a:p>
        </p:txBody>
      </p:sp>
      <p:sp>
        <p:nvSpPr>
          <p:cNvPr id="8" name="Text 6"/>
          <p:cNvSpPr/>
          <p:nvPr/>
        </p:nvSpPr>
        <p:spPr>
          <a:xfrm>
            <a:off x="685800" y="1188720"/>
            <a:ext cx="58521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mejora visual sirve a la evaluacion: cada diagrama apunta a un requisito, un modulo o una prueba.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713232" y="2834640"/>
            <a:ext cx="5669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escena final muestra el Pioneer moviendose con campos potenciales, evitando obstaculos, publicando estado, operando dentro de una celda y extendiendose a una flota auxiliar con A* cooperativo.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13232" y="5349240"/>
            <a:ext cx="5367528" cy="0"/>
          </a:xfrm>
          <a:prstGeom prst="line">
            <a:avLst/>
          </a:prstGeom>
          <a:noFill/>
          <a:ln w="15240">
            <a:solidFill>
              <a:srgbClr val="C44624"/>
            </a:solidFill>
            <a:prstDash val="solid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731520" y="55961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446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Mensaje de defensa: obligatorio resuelto, mejora profesional justificada y evidencia reproducible.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845552" y="1627632"/>
            <a:ext cx="3429000" cy="3703320"/>
          </a:xfrm>
          <a:prstGeom prst="rect">
            <a:avLst/>
          </a:prstGeom>
          <a:solidFill>
            <a:srgbClr val="F7F8FA"/>
          </a:solidFill>
          <a:ln w="8890">
            <a:solidFill>
              <a:srgbClr val="D8DE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75320" y="2029968"/>
            <a:ext cx="1481328" cy="292608"/>
          </a:xfrm>
          <a:prstGeom prst="rect">
            <a:avLst/>
          </a:prstGeom>
          <a:solidFill>
            <a:srgbClr val="EAF5EE"/>
          </a:solidFill>
          <a:ln w="8890">
            <a:solidFill>
              <a:srgbClr val="2D8A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48472" y="2103120"/>
            <a:ext cx="13350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2D8A4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 passed</a:t>
            </a:r>
            <a:endParaRPr lang="en-US" sz="620" dirty="0"/>
          </a:p>
        </p:txBody>
      </p:sp>
      <p:sp>
        <p:nvSpPr>
          <p:cNvPr id="15" name="Shape 13"/>
          <p:cNvSpPr/>
          <p:nvPr/>
        </p:nvSpPr>
        <p:spPr>
          <a:xfrm>
            <a:off x="8275320" y="2487168"/>
            <a:ext cx="1481328" cy="292608"/>
          </a:xfrm>
          <a:prstGeom prst="rect">
            <a:avLst/>
          </a:prstGeom>
          <a:solidFill>
            <a:srgbClr val="E6F4F4"/>
          </a:solidFill>
          <a:ln w="8890">
            <a:solidFill>
              <a:srgbClr val="168B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48472" y="2560320"/>
            <a:ext cx="13350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168B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 sensores</a:t>
            </a:r>
            <a:endParaRPr lang="en-US" sz="620" dirty="0"/>
          </a:p>
        </p:txBody>
      </p:sp>
      <p:sp>
        <p:nvSpPr>
          <p:cNvPr id="17" name="Shape 15"/>
          <p:cNvSpPr/>
          <p:nvPr/>
        </p:nvSpPr>
        <p:spPr>
          <a:xfrm>
            <a:off x="8275320" y="2944368"/>
            <a:ext cx="1481328" cy="292608"/>
          </a:xfrm>
          <a:prstGeom prst="rect">
            <a:avLst/>
          </a:prstGeom>
          <a:solidFill>
            <a:srgbClr val="FDEDE8"/>
          </a:solidFill>
          <a:ln w="8890">
            <a:solidFill>
              <a:srgbClr val="E8552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48472" y="3017520"/>
            <a:ext cx="13350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S1-S8</a:t>
            </a:r>
            <a:endParaRPr lang="en-US" sz="620" dirty="0"/>
          </a:p>
        </p:txBody>
      </p:sp>
      <p:sp>
        <p:nvSpPr>
          <p:cNvPr id="19" name="Shape 17"/>
          <p:cNvSpPr/>
          <p:nvPr/>
        </p:nvSpPr>
        <p:spPr>
          <a:xfrm>
            <a:off x="8415040" y="4581510"/>
            <a:ext cx="269199" cy="163860"/>
          </a:xfrm>
          <a:prstGeom prst="rect">
            <a:avLst/>
          </a:prstGeom>
          <a:solidFill>
            <a:srgbClr val="E6F4F4"/>
          </a:solidFill>
          <a:ln w="8890">
            <a:solidFill>
              <a:srgbClr val="168B8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79414" y="4628327"/>
            <a:ext cx="140452" cy="70226"/>
          </a:xfrm>
          <a:prstGeom prst="rect">
            <a:avLst/>
          </a:prstGeom>
          <a:solidFill>
            <a:srgbClr val="FFFFFF"/>
          </a:solidFill>
          <a:ln w="8890">
            <a:solidFill>
              <a:srgbClr val="168B8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4240" y="4663440"/>
            <a:ext cx="111191" cy="0"/>
          </a:xfrm>
          <a:prstGeom prst="line">
            <a:avLst/>
          </a:prstGeom>
          <a:noFill/>
          <a:ln w="13970">
            <a:solidFill>
              <a:srgbClr val="168B8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315554" y="4429354"/>
            <a:ext cx="468173" cy="468173"/>
          </a:xfrm>
          <a:prstGeom prst="ellipse">
            <a:avLst/>
          </a:prstGeom>
          <a:solidFill>
            <a:srgbClr val="FFFFFF"/>
          </a:solidFill>
          <a:ln w="8890">
            <a:solidFill>
              <a:srgbClr val="168B8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80954" y="4294754"/>
            <a:ext cx="737372" cy="737372"/>
          </a:xfrm>
          <a:prstGeom prst="ellipse">
            <a:avLst/>
          </a:prstGeom>
          <a:solidFill>
            <a:srgbClr val="FFFFFF"/>
          </a:solidFill>
          <a:ln w="8890">
            <a:solidFill>
              <a:srgbClr val="168B8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49640" y="4663440"/>
            <a:ext cx="1069848" cy="0"/>
          </a:xfrm>
          <a:prstGeom prst="line">
            <a:avLst/>
          </a:prstGeom>
          <a:noFill/>
          <a:ln w="20320">
            <a:solidFill>
              <a:srgbClr val="E8552D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619488" y="4663440"/>
            <a:ext cx="0" cy="-1280160"/>
          </a:xfrm>
          <a:prstGeom prst="line">
            <a:avLst/>
          </a:prstGeom>
          <a:noFill/>
          <a:ln w="20320">
            <a:solidFill>
              <a:srgbClr val="E8552D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619488" y="3383280"/>
            <a:ext cx="941832" cy="0"/>
          </a:xfrm>
          <a:prstGeom prst="line">
            <a:avLst/>
          </a:prstGeom>
          <a:noFill/>
          <a:ln w="20320">
            <a:solidFill>
              <a:srgbClr val="E8552D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10488168" y="3310128"/>
            <a:ext cx="146304" cy="146304"/>
          </a:xfrm>
          <a:prstGeom prst="ellipse">
            <a:avLst/>
          </a:prstGeom>
          <a:solidFill>
            <a:srgbClr val="2D8A4E"/>
          </a:solidFill>
          <a:ln w="8890">
            <a:solidFill>
              <a:srgbClr val="2D8A4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222992" y="3063240"/>
            <a:ext cx="640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D8A4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ARRIVED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Universidad Internacional de Valencia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Programacion y control de un robot Pioneer P3DX</dc:title>
  <dc:subject>Actividad 2 - CoppeliaSim/Lua</dc:subject>
  <dc:creator>Jorge Luis Mayorga Taborda</dc:creator>
  <cp:lastModifiedBy>Jorge Luis Mayorga Taborda</cp:lastModifiedBy>
  <cp:revision>1</cp:revision>
  <dcterms:created xsi:type="dcterms:W3CDTF">2026-05-20T00:34:18Z</dcterms:created>
  <dcterms:modified xsi:type="dcterms:W3CDTF">2026-05-20T00:34:18Z</dcterms:modified>
</cp:coreProperties>
</file>