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video" Target="../media/media-3-3.mp4"/><Relationship Id="rId4" Type="http://schemas.microsoft.com/office/2007/relationships/media" Target="../media/media-3-3.mp4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342"/>
          </a:solidFill>
          <a:ln w="8890">
            <a:solidFill>
              <a:srgbClr val="0A2342"/>
            </a:solidFill>
            <a:prstDash val="solid"/>
          </a:ln>
        </p:spPr>
      </p:sp>
      <p:pic>
        <p:nvPicPr>
          <p:cNvPr id="3" name="Image 0" descr="C:\Users\walla\Documents\Master VIU\C9_SistRobMoviles\viu-mrob-sistemas-roboticos-moviles\actividad2\figures\phase1\phase1_layout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-822"/>
            <a:ext cx="6931152" cy="685964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102352" y="0"/>
            <a:ext cx="7086600" cy="6858000"/>
          </a:xfrm>
          <a:prstGeom prst="rect">
            <a:avLst/>
          </a:prstGeom>
          <a:solidFill>
            <a:srgbClr val="0A2342">
              <a:alpha val="50000"/>
            </a:srgbClr>
          </a:solidFill>
          <a:ln w="8890">
            <a:solidFill>
              <a:srgbClr val="0A234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102352" y="0"/>
            <a:ext cx="73152" cy="6858000"/>
          </a:xfrm>
          <a:prstGeom prst="rect">
            <a:avLst/>
          </a:prstGeom>
          <a:solidFill>
            <a:srgbClr val="E8552D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475488"/>
            <a:ext cx="42062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VIU · SISTEMAS ROBÓTICOS MÓVILES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640080" y="960120"/>
            <a:ext cx="4709160" cy="11338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Pioneer P3DX</a:t>
            </a:r>
            <a:endParaRPr lang="en-US" sz="3550" dirty="0"/>
          </a:p>
          <a:p>
            <a:pPr algn="l" indent="0" marL="0">
              <a:buNone/>
            </a:pPr>
            <a:r>
              <a:rPr lang="en-US" sz="3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CoppeliaSim/Lua</a:t>
            </a:r>
            <a:endParaRPr lang="en-US" sz="3550" dirty="0"/>
          </a:p>
        </p:txBody>
      </p:sp>
      <p:sp>
        <p:nvSpPr>
          <p:cNvPr id="8" name="Text 5"/>
          <p:cNvSpPr/>
          <p:nvPr/>
        </p:nvSpPr>
        <p:spPr>
          <a:xfrm>
            <a:off x="676656" y="2487168"/>
            <a:ext cx="425196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D9E2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Follower de Bill, campos potenciales,</a:t>
            </a:r>
            <a:endParaRPr lang="en-US" sz="1220" dirty="0"/>
          </a:p>
          <a:p>
            <a:pPr algn="l" indent="0" marL="0">
              <a:buNone/>
            </a:pPr>
            <a:r>
              <a:rPr lang="en-US" sz="1220" dirty="0">
                <a:solidFill>
                  <a:srgbClr val="D9E2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anticolisión y celda robotizada.</a:t>
            </a:r>
            <a:endParaRPr lang="en-US" sz="1220" dirty="0"/>
          </a:p>
        </p:txBody>
      </p:sp>
      <p:sp>
        <p:nvSpPr>
          <p:cNvPr id="9" name="Shape 6"/>
          <p:cNvSpPr/>
          <p:nvPr/>
        </p:nvSpPr>
        <p:spPr>
          <a:xfrm>
            <a:off x="676656" y="3429000"/>
            <a:ext cx="3575304" cy="9144"/>
          </a:xfrm>
          <a:prstGeom prst="line">
            <a:avLst/>
          </a:prstGeom>
          <a:noFill/>
          <a:ln w="27940">
            <a:solidFill>
              <a:srgbClr val="E8552D"/>
            </a:solidFill>
            <a:prstDash val="solid"/>
            <a:tailEnd type="none"/>
          </a:ln>
        </p:spPr>
      </p:sp>
      <p:sp>
        <p:nvSpPr>
          <p:cNvPr id="10" name="Text 7"/>
          <p:cNvSpPr/>
          <p:nvPr/>
        </p:nvSpPr>
        <p:spPr>
          <a:xfrm>
            <a:off x="676656" y="3712464"/>
            <a:ext cx="15544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FINAL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76656" y="4023360"/>
            <a:ext cx="45720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1: follower · Parte 2: celda, anticolisión y SLAM reducido</a:t>
            </a:r>
            <a:endParaRPr lang="en-US" sz="1420" dirty="0"/>
          </a:p>
        </p:txBody>
      </p:sp>
      <p:sp>
        <p:nvSpPr>
          <p:cNvPr id="12" name="Shape 9"/>
          <p:cNvSpPr/>
          <p:nvPr/>
        </p:nvSpPr>
        <p:spPr>
          <a:xfrm>
            <a:off x="676656" y="4901184"/>
            <a:ext cx="1040130" cy="475488"/>
          </a:xfrm>
          <a:prstGeom prst="roundRect">
            <a:avLst>
              <a:gd name="adj" fmla="val 23077"/>
            </a:avLst>
          </a:prstGeom>
          <a:solidFill>
            <a:srgbClr val="EAF7FC"/>
          </a:solidFill>
          <a:ln w="9525">
            <a:solidFill>
              <a:srgbClr val="2DB7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9808" y="5056632"/>
            <a:ext cx="89382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 .ttt</a:t>
            </a:r>
            <a:endParaRPr lang="en-US" sz="740" dirty="0"/>
          </a:p>
        </p:txBody>
      </p:sp>
      <p:sp>
        <p:nvSpPr>
          <p:cNvPr id="14" name="Shape 11"/>
          <p:cNvSpPr/>
          <p:nvPr/>
        </p:nvSpPr>
        <p:spPr>
          <a:xfrm>
            <a:off x="1808226" y="4901184"/>
            <a:ext cx="1040130" cy="475488"/>
          </a:xfrm>
          <a:prstGeom prst="roundRect">
            <a:avLst>
              <a:gd name="adj" fmla="val 23077"/>
            </a:avLst>
          </a:prstGeom>
          <a:solidFill>
            <a:srgbClr val="EAF7FC"/>
          </a:solidFill>
          <a:ln w="9525">
            <a:solidFill>
              <a:srgbClr val="2DB7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881378" y="5056632"/>
            <a:ext cx="89382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Lua embebido</a:t>
            </a:r>
            <a:endParaRPr lang="en-US" sz="740" dirty="0"/>
          </a:p>
        </p:txBody>
      </p:sp>
      <p:sp>
        <p:nvSpPr>
          <p:cNvPr id="16" name="Shape 13"/>
          <p:cNvSpPr/>
          <p:nvPr/>
        </p:nvSpPr>
        <p:spPr>
          <a:xfrm>
            <a:off x="2939796" y="4901184"/>
            <a:ext cx="1040130" cy="475488"/>
          </a:xfrm>
          <a:prstGeom prst="roundRect">
            <a:avLst>
              <a:gd name="adj" fmla="val 23077"/>
            </a:avLst>
          </a:prstGeom>
          <a:solidFill>
            <a:srgbClr val="EAF7FC"/>
          </a:solidFill>
          <a:ln w="9525">
            <a:solidFill>
              <a:srgbClr val="2DB7E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12948" y="5056632"/>
            <a:ext cx="89382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video</a:t>
            </a:r>
            <a:endParaRPr lang="en-US" sz="740" dirty="0"/>
          </a:p>
        </p:txBody>
      </p:sp>
      <p:sp>
        <p:nvSpPr>
          <p:cNvPr id="18" name="Shape 15"/>
          <p:cNvSpPr/>
          <p:nvPr/>
        </p:nvSpPr>
        <p:spPr>
          <a:xfrm>
            <a:off x="4071366" y="4901184"/>
            <a:ext cx="1040130" cy="475488"/>
          </a:xfrm>
          <a:prstGeom prst="roundRect">
            <a:avLst>
              <a:gd name="adj" fmla="val 23077"/>
            </a:avLst>
          </a:prstGeom>
          <a:solidFill>
            <a:srgbClr val="EAF7FC"/>
          </a:solidFill>
          <a:ln w="9525">
            <a:solidFill>
              <a:srgbClr val="2DB7E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44518" y="5056632"/>
            <a:ext cx="89382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PDF/PPTX</a:t>
            </a:r>
            <a:endParaRPr lang="en-US" sz="740" dirty="0"/>
          </a:p>
        </p:txBody>
      </p:sp>
      <p:sp>
        <p:nvSpPr>
          <p:cNvPr id="20" name="Shape 17"/>
          <p:cNvSpPr/>
          <p:nvPr/>
        </p:nvSpPr>
        <p:spPr>
          <a:xfrm>
            <a:off x="5650992" y="5212080"/>
            <a:ext cx="5166360" cy="749808"/>
          </a:xfrm>
          <a:prstGeom prst="roundRect">
            <a:avLst>
              <a:gd name="adj" fmla="val 14634"/>
            </a:avLst>
          </a:prstGeom>
          <a:solidFill>
            <a:srgbClr val="0A2342"/>
          </a:solidFill>
          <a:ln w="9525">
            <a:solidFill>
              <a:srgbClr val="0A234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52160" y="5376672"/>
            <a:ext cx="4764024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</a:t>
            </a:r>
            <a:endParaRPr lang="en-US" sz="720" dirty="0"/>
          </a:p>
        </p:txBody>
      </p:sp>
      <p:sp>
        <p:nvSpPr>
          <p:cNvPr id="22" name="Text 19"/>
          <p:cNvSpPr/>
          <p:nvPr/>
        </p:nvSpPr>
        <p:spPr>
          <a:xfrm>
            <a:off x="5852160" y="5650992"/>
            <a:ext cx="476402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guía base está cubierta y las extensiones se miden con logs, métricas y replay.</a:t>
            </a:r>
            <a:endParaRPr lang="en-US" sz="1120" dirty="0"/>
          </a:p>
        </p:txBody>
      </p:sp>
      <p:sp>
        <p:nvSpPr>
          <p:cNvPr id="23" name="Text 20"/>
          <p:cNvSpPr/>
          <p:nvPr/>
        </p:nvSpPr>
        <p:spPr>
          <a:xfrm>
            <a:off x="676656" y="5806440"/>
            <a:ext cx="38404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C7D3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Jorge Luis Mayorga Taborda · 26 mayo 2026</a:t>
            </a:r>
            <a:endParaRPr lang="en-US" sz="860" dirty="0"/>
          </a:p>
        </p:txBody>
      </p:sp>
      <p:sp>
        <p:nvSpPr>
          <p:cNvPr id="24" name="Text 21"/>
          <p:cNvSpPr/>
          <p:nvPr/>
        </p:nvSpPr>
        <p:spPr>
          <a:xfrm>
            <a:off x="10835640" y="6327648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9E2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1/22</a:t>
            </a:r>
            <a:endParaRPr lang="en-US" sz="7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trazabilidad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pide la guía y dónde se cumple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entrega se organiza por requisito evaluable: implementación en CoppeliaSim/Lua, evidencia y extensión técnica.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694944" y="1481328"/>
            <a:ext cx="10835640" cy="457200"/>
          </a:xfrm>
          <a:prstGeom prst="roundRect">
            <a:avLst>
              <a:gd name="adj" fmla="val 16000"/>
            </a:avLst>
          </a:prstGeom>
          <a:solidFill>
            <a:srgbClr val="FBFCFE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94944" y="1481328"/>
            <a:ext cx="50292" cy="45720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" y="1600200"/>
            <a:ext cx="201168" cy="201168"/>
          </a:xfrm>
          <a:prstGeom prst="ellipse">
            <a:avLst/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548" y="1664208"/>
            <a:ext cx="82296" cy="73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670" dirty="0"/>
          </a:p>
        </p:txBody>
      </p:sp>
      <p:sp>
        <p:nvSpPr>
          <p:cNvPr id="16" name="Text 14"/>
          <p:cNvSpPr/>
          <p:nvPr/>
        </p:nvSpPr>
        <p:spPr>
          <a:xfrm>
            <a:off x="1207008" y="1572768"/>
            <a:ext cx="24871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9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en CoppeliaSim/Lua</a:t>
            </a:r>
            <a:endParaRPr lang="en-US" sz="890" dirty="0"/>
          </a:p>
        </p:txBody>
      </p:sp>
      <p:sp>
        <p:nvSpPr>
          <p:cNvPr id="17" name="Text 15"/>
          <p:cNvSpPr/>
          <p:nvPr/>
        </p:nvSpPr>
        <p:spPr>
          <a:xfrm>
            <a:off x="3858768" y="1572768"/>
            <a:ext cx="40690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Follower y celda con scripts Lua embebidos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8275320" y="1572768"/>
            <a:ext cx="2514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Follower.ttt + Phase1.ttt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94944" y="2066544"/>
            <a:ext cx="108356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4944" y="2066544"/>
            <a:ext cx="50292" cy="457200"/>
          </a:xfrm>
          <a:prstGeom prst="rect">
            <a:avLst/>
          </a:prstGeom>
          <a:solidFill>
            <a:srgbClr val="E8552D"/>
          </a:solidFill>
          <a:ln w="12700">
            <a:solidFill>
              <a:srgbClr val="E8552D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" y="2185416"/>
            <a:ext cx="201168" cy="201168"/>
          </a:xfrm>
          <a:prstGeom prst="ellipse">
            <a:avLst/>
          </a:prstGeom>
          <a:solidFill>
            <a:srgbClr val="FDEDE8"/>
          </a:solidFill>
          <a:ln w="9525">
            <a:solidFill>
              <a:srgbClr val="E8552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5548" y="2249424"/>
            <a:ext cx="82296" cy="73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670" dirty="0"/>
          </a:p>
        </p:txBody>
      </p:sp>
      <p:sp>
        <p:nvSpPr>
          <p:cNvPr id="23" name="Text 21"/>
          <p:cNvSpPr/>
          <p:nvPr/>
        </p:nvSpPr>
        <p:spPr>
          <a:xfrm>
            <a:off x="1207008" y="2157984"/>
            <a:ext cx="24871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9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Atracción hacia mannequin/Bill</a:t>
            </a:r>
            <a:endParaRPr lang="en-US" sz="890" dirty="0"/>
          </a:p>
        </p:txBody>
      </p:sp>
      <p:sp>
        <p:nvSpPr>
          <p:cNvPr id="24" name="Text 22"/>
          <p:cNvSpPr/>
          <p:nvPr/>
        </p:nvSpPr>
        <p:spPr>
          <a:xfrm>
            <a:off x="3858768" y="2157984"/>
            <a:ext cx="40690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p* detrás de Bill + campo potencial atractivo</a:t>
            </a:r>
            <a:endParaRPr lang="en-US" sz="840" dirty="0"/>
          </a:p>
        </p:txBody>
      </p:sp>
      <p:sp>
        <p:nvSpPr>
          <p:cNvPr id="25" name="Text 23"/>
          <p:cNvSpPr/>
          <p:nvPr/>
        </p:nvSpPr>
        <p:spPr>
          <a:xfrm>
            <a:off x="8275320" y="2157984"/>
            <a:ext cx="2514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replay + ecuaciones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94944" y="2651760"/>
            <a:ext cx="10835640" cy="457200"/>
          </a:xfrm>
          <a:prstGeom prst="roundRect">
            <a:avLst>
              <a:gd name="adj" fmla="val 16000"/>
            </a:avLst>
          </a:prstGeom>
          <a:solidFill>
            <a:srgbClr val="FBFCFE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94944" y="2651760"/>
            <a:ext cx="50292" cy="4572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6112" y="2770632"/>
            <a:ext cx="201168" cy="201168"/>
          </a:xfrm>
          <a:prstGeom prst="ellipse">
            <a:avLst/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55548" y="2834640"/>
            <a:ext cx="82296" cy="73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670" dirty="0"/>
          </a:p>
        </p:txBody>
      </p:sp>
      <p:sp>
        <p:nvSpPr>
          <p:cNvPr id="30" name="Text 28"/>
          <p:cNvSpPr/>
          <p:nvPr/>
        </p:nvSpPr>
        <p:spPr>
          <a:xfrm>
            <a:off x="1207008" y="2743200"/>
            <a:ext cx="24871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9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Evitación de colisiones</a:t>
            </a:r>
            <a:endParaRPr lang="en-US" sz="890" dirty="0"/>
          </a:p>
        </p:txBody>
      </p:sp>
      <p:sp>
        <p:nvSpPr>
          <p:cNvPr id="31" name="Text 29"/>
          <p:cNvSpPr/>
          <p:nvPr/>
        </p:nvSpPr>
        <p:spPr>
          <a:xfrm>
            <a:off x="3858768" y="2743200"/>
            <a:ext cx="40690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ultrasonidos + fuerza repulsiva + modo AVOIDING</a:t>
            </a:r>
            <a:endParaRPr lang="en-US" sz="840" dirty="0"/>
          </a:p>
        </p:txBody>
      </p:sp>
      <p:sp>
        <p:nvSpPr>
          <p:cNvPr id="32" name="Text 30"/>
          <p:cNvSpPr/>
          <p:nvPr/>
        </p:nvSpPr>
        <p:spPr>
          <a:xfrm>
            <a:off x="8275320" y="2743200"/>
            <a:ext cx="2514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riesgo, distancia mínima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94944" y="3236976"/>
            <a:ext cx="108356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94944" y="3236976"/>
            <a:ext cx="50292" cy="4572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6112" y="3355848"/>
            <a:ext cx="201168" cy="201168"/>
          </a:xfrm>
          <a:prstGeom prst="ellipse">
            <a:avLst/>
          </a:prstGeom>
          <a:solidFill>
            <a:srgbClr val="EAF7F4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5548" y="3419856"/>
            <a:ext cx="82296" cy="73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670" dirty="0"/>
          </a:p>
        </p:txBody>
      </p:sp>
      <p:sp>
        <p:nvSpPr>
          <p:cNvPr id="37" name="Text 35"/>
          <p:cNvSpPr/>
          <p:nvPr/>
        </p:nvSpPr>
        <p:spPr>
          <a:xfrm>
            <a:off x="1207008" y="3328416"/>
            <a:ext cx="24871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9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Integración en celda robotizada</a:t>
            </a:r>
            <a:endParaRPr lang="en-US" sz="890" dirty="0"/>
          </a:p>
        </p:txBody>
      </p:sp>
      <p:sp>
        <p:nvSpPr>
          <p:cNvPr id="38" name="Text 36"/>
          <p:cNvSpPr/>
          <p:nvPr/>
        </p:nvSpPr>
        <p:spPr>
          <a:xfrm>
            <a:off x="3858768" y="3328416"/>
            <a:ext cx="40690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WS1/WS2, shelves, tool flow, Bill móvil y carga</a:t>
            </a:r>
            <a:endParaRPr lang="en-US" sz="840" dirty="0"/>
          </a:p>
        </p:txBody>
      </p:sp>
      <p:sp>
        <p:nvSpPr>
          <p:cNvPr id="39" name="Text 37"/>
          <p:cNvSpPr/>
          <p:nvPr/>
        </p:nvSpPr>
        <p:spPr>
          <a:xfrm>
            <a:off x="8275320" y="3328416"/>
            <a:ext cx="2514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FSM + timeline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94944" y="3822192"/>
            <a:ext cx="10835640" cy="457200"/>
          </a:xfrm>
          <a:prstGeom prst="roundRect">
            <a:avLst>
              <a:gd name="adj" fmla="val 16000"/>
            </a:avLst>
          </a:prstGeom>
          <a:solidFill>
            <a:srgbClr val="FBFCFE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94944" y="3822192"/>
            <a:ext cx="50292" cy="45720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96112" y="3941064"/>
            <a:ext cx="201168" cy="201168"/>
          </a:xfrm>
          <a:prstGeom prst="ellipse">
            <a:avLst/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55548" y="4005072"/>
            <a:ext cx="82296" cy="73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670" dirty="0"/>
          </a:p>
        </p:txBody>
      </p:sp>
      <p:sp>
        <p:nvSpPr>
          <p:cNvPr id="44" name="Text 42"/>
          <p:cNvSpPr/>
          <p:nvPr/>
        </p:nvSpPr>
        <p:spPr>
          <a:xfrm>
            <a:off x="1207008" y="3913632"/>
            <a:ext cx="24871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9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 y PowerPoint</a:t>
            </a:r>
            <a:endParaRPr lang="en-US" sz="890" dirty="0"/>
          </a:p>
        </p:txBody>
      </p:sp>
      <p:sp>
        <p:nvSpPr>
          <p:cNvPr id="45" name="Text 43"/>
          <p:cNvSpPr/>
          <p:nvPr/>
        </p:nvSpPr>
        <p:spPr>
          <a:xfrm>
            <a:off x="3858768" y="3913632"/>
            <a:ext cx="40690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informe, PPTX editable, PDF exportado y video embebido</a:t>
            </a:r>
            <a:endParaRPr lang="en-US" sz="840" dirty="0"/>
          </a:p>
        </p:txBody>
      </p:sp>
      <p:sp>
        <p:nvSpPr>
          <p:cNvPr id="46" name="Text 44"/>
          <p:cNvSpPr/>
          <p:nvPr/>
        </p:nvSpPr>
        <p:spPr>
          <a:xfrm>
            <a:off x="8275320" y="3913632"/>
            <a:ext cx="2514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artefactos finales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94944" y="4407408"/>
            <a:ext cx="108356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94944" y="4407408"/>
            <a:ext cx="50292" cy="457200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6112" y="4526280"/>
            <a:ext cx="201168" cy="201168"/>
          </a:xfrm>
          <a:prstGeom prst="ellipse">
            <a:avLst/>
          </a:prstGeom>
          <a:solidFill>
            <a:srgbClr val="EAF7FC"/>
          </a:solidFill>
          <a:ln w="9525">
            <a:solidFill>
              <a:srgbClr val="2DB7E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55548" y="4590288"/>
            <a:ext cx="82296" cy="73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670" dirty="0"/>
          </a:p>
        </p:txBody>
      </p:sp>
      <p:sp>
        <p:nvSpPr>
          <p:cNvPr id="51" name="Text 49"/>
          <p:cNvSpPr/>
          <p:nvPr/>
        </p:nvSpPr>
        <p:spPr>
          <a:xfrm>
            <a:off x="1207008" y="4498848"/>
            <a:ext cx="24871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9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Mejoras sobre código de clase</a:t>
            </a:r>
            <a:endParaRPr lang="en-US" sz="890" dirty="0"/>
          </a:p>
        </p:txBody>
      </p:sp>
      <p:sp>
        <p:nvSpPr>
          <p:cNvPr id="52" name="Text 50"/>
          <p:cNvSpPr/>
          <p:nvPr/>
        </p:nvSpPr>
        <p:spPr>
          <a:xfrm>
            <a:off x="3858768" y="4498848"/>
            <a:ext cx="40690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 P/PI/PID/LQR/NMPC + SLAM/Kalman + logs</a:t>
            </a:r>
            <a:endParaRPr lang="en-US" sz="840" dirty="0"/>
          </a:p>
        </p:txBody>
      </p:sp>
      <p:sp>
        <p:nvSpPr>
          <p:cNvPr id="53" name="Text 51"/>
          <p:cNvSpPr/>
          <p:nvPr/>
        </p:nvSpPr>
        <p:spPr>
          <a:xfrm>
            <a:off x="8275320" y="4498848"/>
            <a:ext cx="2514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métricas reproducibles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822960" y="5230368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822960" y="5230368"/>
            <a:ext cx="50292" cy="9601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87552" y="5376672"/>
            <a:ext cx="13624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2100" dirty="0"/>
          </a:p>
        </p:txBody>
      </p:sp>
      <p:sp>
        <p:nvSpPr>
          <p:cNvPr id="57" name="Text 55"/>
          <p:cNvSpPr/>
          <p:nvPr/>
        </p:nvSpPr>
        <p:spPr>
          <a:xfrm>
            <a:off x="987552" y="5687568"/>
            <a:ext cx="136245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controladores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987552" y="5888736"/>
            <a:ext cx="136245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P, PI, PID, LQR, NMPC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2743200" y="5230368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2743200" y="5230368"/>
            <a:ext cx="50292" cy="9601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907792" y="5376672"/>
            <a:ext cx="13624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2100" dirty="0"/>
          </a:p>
        </p:txBody>
      </p:sp>
      <p:sp>
        <p:nvSpPr>
          <p:cNvPr id="62" name="Text 60"/>
          <p:cNvSpPr/>
          <p:nvPr/>
        </p:nvSpPr>
        <p:spPr>
          <a:xfrm>
            <a:off x="2907792" y="5687568"/>
            <a:ext cx="136245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sensores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2907792" y="5888736"/>
            <a:ext cx="136245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+ rayos visibles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663440" y="5230368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4663440" y="5230368"/>
            <a:ext cx="50292" cy="9601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828032" y="5376672"/>
            <a:ext cx="172821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2100" dirty="0"/>
          </a:p>
        </p:txBody>
      </p:sp>
      <p:sp>
        <p:nvSpPr>
          <p:cNvPr id="67" name="Text 65"/>
          <p:cNvSpPr/>
          <p:nvPr/>
        </p:nvSpPr>
        <p:spPr>
          <a:xfrm>
            <a:off x="4828032" y="5687568"/>
            <a:ext cx="172821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828032" y="5888736"/>
            <a:ext cx="17282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Kalman, GMapping, Hector, Cartographer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6949440" y="5230368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6949440" y="5230368"/>
            <a:ext cx="50292" cy="960120"/>
          </a:xfrm>
          <a:prstGeom prst="rect">
            <a:avLst/>
          </a:prstGeom>
          <a:solidFill>
            <a:srgbClr val="E8552D"/>
          </a:solidFill>
          <a:ln w="12700">
            <a:solidFill>
              <a:srgbClr val="E8552D">
                <a:alpha val="0"/>
              </a:srgbClr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114032" y="5376672"/>
            <a:ext cx="15453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855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OK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7114032" y="5687568"/>
            <a:ext cx="154533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entregables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7114032" y="5888736"/>
            <a:ext cx="15453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 + PDF + PPTX + video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9052560" y="5230368"/>
            <a:ext cx="21031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9052560" y="5230368"/>
            <a:ext cx="50292" cy="960120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>
                <a:alpha val="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217152" y="5376672"/>
            <a:ext cx="17739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DB7E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10/10</a:t>
            </a:r>
            <a:endParaRPr lang="en-US" sz="2100" dirty="0"/>
          </a:p>
        </p:txBody>
      </p:sp>
      <p:sp>
        <p:nvSpPr>
          <p:cNvPr id="77" name="Text 75"/>
          <p:cNvSpPr/>
          <p:nvPr/>
        </p:nvSpPr>
        <p:spPr>
          <a:xfrm>
            <a:off x="9217152" y="5687568"/>
            <a:ext cx="177393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9217152" y="5888736"/>
            <a:ext cx="17739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cumplida + extensiones medidas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E8552D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artefactos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Simulación, video y datos exportados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resultados salen de la misma escena: replay visual, CSV/JSON y métricas de control/SLAM.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E855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658368" y="1572768"/>
            <a:ext cx="53492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" y="1572768"/>
            <a:ext cx="50292" cy="374904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1691640"/>
            <a:ext cx="502005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1: follower de Bill</a:t>
            </a:r>
            <a:endParaRPr lang="en-US" sz="800" dirty="0"/>
          </a:p>
        </p:txBody>
      </p:sp>
      <p:pic>
        <p:nvPicPr>
          <p:cNvPr id="15" name="Image 0" descr="C:\Users\walla\Documents\Master VIU\C9_SistRobMoviles\viu-mrob-sistemas-roboticos-moviles\actividad2\slides\assets\follower_replay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81869"/>
            <a:ext cx="5202936" cy="2986871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327648" y="1572768"/>
            <a:ext cx="53492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27648" y="1572768"/>
            <a:ext cx="50292" cy="3749040"/>
          </a:xfrm>
          <a:prstGeom prst="rect">
            <a:avLst/>
          </a:prstGeom>
          <a:solidFill>
            <a:srgbClr val="E8552D"/>
          </a:solidFill>
          <a:ln w="12700">
            <a:solidFill>
              <a:srgbClr val="E8552D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64808" y="1682496"/>
            <a:ext cx="5074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2: misión en celda + SLAM</a:t>
            </a:r>
            <a:endParaRPr lang="en-US" sz="780" dirty="0"/>
          </a:p>
        </p:txBody>
      </p:sp>
      <p:pic>
        <p:nvPicPr>
          <p:cNvPr id="19" name="Image 1" descr="C:\Users\walla\Documents\Master VIU\C9_SistRobMoviles\viu-mrob-sistemas-roboticos-moviles\actividad2\slides\assets\phase1_replay_clean_c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11978"/>
            <a:ext cx="5202936" cy="2926652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400800" y="1920240"/>
            <a:ext cx="5202936" cy="3310128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8837676" y="3355848"/>
            <a:ext cx="329184" cy="329184"/>
          </a:xfrm>
          <a:prstGeom prst="ellipse">
            <a:avLst/>
          </a:prstGeom>
          <a:solidFill>
            <a:srgbClr val="0A2342">
              <a:alpha val="92000"/>
            </a:srgbClr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 rot="5400000">
            <a:off x="8965692" y="3438144"/>
            <a:ext cx="164592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1005840" y="5504688"/>
            <a:ext cx="101955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1005840" y="5504688"/>
            <a:ext cx="50292" cy="658368"/>
          </a:xfrm>
          <a:prstGeom prst="rect">
            <a:avLst/>
          </a:prstGeom>
          <a:solidFill>
            <a:srgbClr val="E8552D"/>
          </a:solidFill>
          <a:ln w="12700">
            <a:solidFill>
              <a:srgbClr val="E8552D">
                <a:alpha val="0"/>
              </a:srgbClr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207008" y="5650992"/>
            <a:ext cx="979322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Cadena reproducible</a:t>
            </a:r>
            <a:endParaRPr lang="en-US" sz="940" dirty="0"/>
          </a:p>
        </p:txBody>
      </p:sp>
      <p:sp>
        <p:nvSpPr>
          <p:cNvPr id="26" name="Text 21"/>
          <p:cNvSpPr/>
          <p:nvPr/>
        </p:nvSpPr>
        <p:spPr>
          <a:xfrm>
            <a:off x="1207008" y="5980176"/>
            <a:ext cx="9793224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escena .ttt -&gt; script Lua -&gt; señales CoppeliaSim -&gt; CSV/JSON -&gt; gráficas -&gt; PPTX/PDF</a:t>
            </a:r>
            <a:endParaRPr lang="en-US" sz="9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1 · follower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Bill define el objetivo; el Pioneer regula distancia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objetivo real no es el centro de Bill: se calcula un punto p* detrás de la persona.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658368" y="1444752"/>
            <a:ext cx="653796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" y="1444752"/>
            <a:ext cx="50292" cy="457200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" y="1719072"/>
            <a:ext cx="60350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50492" y="1792224"/>
            <a:ext cx="9144" cy="387705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2404872" y="1792224"/>
            <a:ext cx="9144" cy="387705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3159252" y="1792224"/>
            <a:ext cx="9144" cy="387705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3913632" y="1792224"/>
            <a:ext cx="9144" cy="387705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4668012" y="1792224"/>
            <a:ext cx="9144" cy="387705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5422392" y="1792224"/>
            <a:ext cx="9144" cy="387705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6176772" y="1792224"/>
            <a:ext cx="9144" cy="387705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69264" y="2389632"/>
            <a:ext cx="5888736" cy="9144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969264" y="3060192"/>
            <a:ext cx="5888736" cy="9144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69264" y="3730752"/>
            <a:ext cx="5888736" cy="9144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69264" y="4401312"/>
            <a:ext cx="5888736" cy="9144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69264" y="5071872"/>
            <a:ext cx="5888736" cy="9144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1606784" y="4304264"/>
            <a:ext cx="901233" cy="9012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783812" y="4577852"/>
            <a:ext cx="547177" cy="354056"/>
          </a:xfrm>
          <a:prstGeom prst="roundRect">
            <a:avLst>
              <a:gd name="adj" fmla="val 30992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87251" y="4513478"/>
            <a:ext cx="120701" cy="482803"/>
          </a:xfrm>
          <a:prstGeom prst="rect">
            <a:avLst/>
          </a:prstGeom>
          <a:solidFill>
            <a:srgbClr val="17202A"/>
          </a:solidFill>
          <a:ln w="8890">
            <a:solidFill>
              <a:srgbClr val="17202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06848" y="4513478"/>
            <a:ext cx="120701" cy="482803"/>
          </a:xfrm>
          <a:prstGeom prst="rect">
            <a:avLst/>
          </a:prstGeom>
          <a:solidFill>
            <a:srgbClr val="17202A"/>
          </a:solidFill>
          <a:ln w="8890">
            <a:solidFill>
              <a:srgbClr val="17202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57400" y="4754880"/>
            <a:ext cx="643738" cy="9144"/>
          </a:xfrm>
          <a:prstGeom prst="line">
            <a:avLst/>
          </a:prstGeom>
          <a:noFill/>
          <a:ln w="2032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2057400" y="4111142"/>
            <a:ext cx="9144" cy="643738"/>
          </a:xfrm>
          <a:prstGeom prst="line">
            <a:avLst/>
          </a:prstGeom>
          <a:noFill/>
          <a:ln w="2032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2411456" y="4650273"/>
            <a:ext cx="27358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x_R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2105680" y="4191610"/>
            <a:ext cx="27358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y_R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1655064" y="5253777"/>
            <a:ext cx="80467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4995550" y="1850014"/>
            <a:ext cx="579364" cy="579364"/>
          </a:xfrm>
          <a:prstGeom prst="ellipse">
            <a:avLst/>
          </a:prstGeom>
          <a:solidFill>
            <a:srgbClr val="FFF3E6"/>
          </a:solidFill>
          <a:ln w="9525">
            <a:solidFill>
              <a:srgbClr val="F4A26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72578" y="2027042"/>
            <a:ext cx="225308" cy="225308"/>
          </a:xfrm>
          <a:prstGeom prst="ellipse">
            <a:avLst/>
          </a:prstGeom>
          <a:solidFill>
            <a:srgbClr val="F4A261"/>
          </a:solidFill>
          <a:ln w="9525">
            <a:solidFill>
              <a:srgbClr val="F4A26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85232" y="2139696"/>
            <a:ext cx="579364" cy="9144"/>
          </a:xfrm>
          <a:prstGeom prst="line">
            <a:avLst/>
          </a:prstGeom>
          <a:noFill/>
          <a:ln w="20320">
            <a:solidFill>
              <a:srgbClr val="F4A261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H="1">
            <a:off x="4931176" y="2139696"/>
            <a:ext cx="354056" cy="9144"/>
          </a:xfrm>
          <a:prstGeom prst="line">
            <a:avLst/>
          </a:prstGeom>
          <a:noFill/>
          <a:ln w="11430">
            <a:solidFill>
              <a:srgbClr val="D5DEE8"/>
            </a:solidFill>
            <a:prstDash val="solid"/>
            <a:tailEnd type="none"/>
          </a:ln>
        </p:spPr>
      </p:sp>
      <p:sp>
        <p:nvSpPr>
          <p:cNvPr id="40" name="Text 38"/>
          <p:cNvSpPr/>
          <p:nvPr/>
        </p:nvSpPr>
        <p:spPr>
          <a:xfrm>
            <a:off x="5140391" y="1672986"/>
            <a:ext cx="370149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p_B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591007" y="1978762"/>
            <a:ext cx="56327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theta_B</a:t>
            </a:r>
            <a:endParaRPr lang="en-US" sz="740" dirty="0"/>
          </a:p>
        </p:txBody>
      </p:sp>
      <p:sp>
        <p:nvSpPr>
          <p:cNvPr id="42" name="Text 40"/>
          <p:cNvSpPr/>
          <p:nvPr/>
        </p:nvSpPr>
        <p:spPr>
          <a:xfrm>
            <a:off x="5027737" y="2525939"/>
            <a:ext cx="51499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Bill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443984" y="2889504"/>
            <a:ext cx="164592" cy="164592"/>
          </a:xfrm>
          <a:prstGeom prst="ellipse">
            <a:avLst/>
          </a:prstGeom>
          <a:solidFill>
            <a:srgbClr val="6D5BD0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279392" y="2633472"/>
            <a:ext cx="3200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p*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 flipV="1">
            <a:off x="2542032" y="2999232"/>
            <a:ext cx="1810512" cy="1554480"/>
          </a:xfrm>
          <a:prstGeom prst="line">
            <a:avLst/>
          </a:prstGeom>
          <a:noFill/>
          <a:ln w="2794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>
            <a:off x="4535424" y="2734056"/>
            <a:ext cx="749808" cy="228600"/>
          </a:xfrm>
          <a:prstGeom prst="line">
            <a:avLst/>
          </a:prstGeom>
          <a:noFill/>
          <a:ln w="16510">
            <a:solidFill>
              <a:srgbClr val="6D5BD0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3017520" y="3675888"/>
            <a:ext cx="658368" cy="292608"/>
          </a:xfrm>
          <a:prstGeom prst="roundRect">
            <a:avLst>
              <a:gd name="adj" fmla="val 37500"/>
            </a:avLst>
          </a:prstGeom>
          <a:solidFill>
            <a:srgbClr val="FDEDE8"/>
          </a:solidFill>
          <a:ln w="9525">
            <a:solidFill>
              <a:srgbClr val="E8552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2384" y="3753612"/>
            <a:ext cx="54864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F_att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4617720" y="2578608"/>
            <a:ext cx="749808" cy="292608"/>
          </a:xfrm>
          <a:prstGeom prst="roundRect">
            <a:avLst>
              <a:gd name="adj" fmla="val 37500"/>
            </a:avLst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72584" y="2656332"/>
            <a:ext cx="64008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d_des</a:t>
            </a:r>
            <a:endParaRPr lang="en-US" sz="740" dirty="0"/>
          </a:p>
        </p:txBody>
      </p:sp>
      <p:sp>
        <p:nvSpPr>
          <p:cNvPr id="51" name="Shape 49"/>
          <p:cNvSpPr/>
          <p:nvPr/>
        </p:nvSpPr>
        <p:spPr>
          <a:xfrm>
            <a:off x="7543800" y="1554480"/>
            <a:ext cx="3429000" cy="868680"/>
          </a:xfrm>
          <a:prstGeom prst="roundRect">
            <a:avLst>
              <a:gd name="adj" fmla="val 12632"/>
            </a:avLst>
          </a:prstGeom>
          <a:solidFill>
            <a:srgbClr val="0A2342"/>
          </a:solidFill>
          <a:ln w="9525">
            <a:solidFill>
              <a:srgbClr val="0A234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744968" y="1719072"/>
            <a:ext cx="3026664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7744968" y="1993392"/>
            <a:ext cx="3026664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Mantener distancia y orientación respecto a Bill, no “perseguir” su centro.</a:t>
            </a:r>
            <a:endParaRPr lang="en-US" sz="1120" dirty="0"/>
          </a:p>
        </p:txBody>
      </p:sp>
      <p:sp>
        <p:nvSpPr>
          <p:cNvPr id="54" name="Shape 52"/>
          <p:cNvSpPr/>
          <p:nvPr/>
        </p:nvSpPr>
        <p:spPr>
          <a:xfrm>
            <a:off x="7543800" y="2743200"/>
            <a:ext cx="34290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7543800" y="2743200"/>
            <a:ext cx="50292" cy="107899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26680" y="2907792"/>
            <a:ext cx="658368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7726680" y="3273552"/>
            <a:ext cx="30632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Medición</a:t>
            </a:r>
            <a:endParaRPr lang="en-US" sz="1020" dirty="0"/>
          </a:p>
        </p:txBody>
      </p:sp>
      <p:sp>
        <p:nvSpPr>
          <p:cNvPr id="58" name="Text 56"/>
          <p:cNvSpPr/>
          <p:nvPr/>
        </p:nvSpPr>
        <p:spPr>
          <a:xfrm>
            <a:off x="7726680" y="3493008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p_B, theta_B, p_R, theta_R</a:t>
            </a:r>
            <a:endParaRPr lang="en-US" sz="880" dirty="0"/>
          </a:p>
        </p:txBody>
      </p:sp>
      <p:sp>
        <p:nvSpPr>
          <p:cNvPr id="59" name="Shape 57"/>
          <p:cNvSpPr/>
          <p:nvPr/>
        </p:nvSpPr>
        <p:spPr>
          <a:xfrm>
            <a:off x="7543800" y="3858768"/>
            <a:ext cx="34290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7543800" y="3858768"/>
            <a:ext cx="50292" cy="107899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26680" y="4023360"/>
            <a:ext cx="658368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7726680" y="4389120"/>
            <a:ext cx="30632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Referencia</a:t>
            </a:r>
            <a:endParaRPr lang="en-US" sz="1020" dirty="0"/>
          </a:p>
        </p:txBody>
      </p:sp>
      <p:sp>
        <p:nvSpPr>
          <p:cNvPr id="63" name="Text 61"/>
          <p:cNvSpPr/>
          <p:nvPr/>
        </p:nvSpPr>
        <p:spPr>
          <a:xfrm>
            <a:off x="7726680" y="4608576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p* = p_B - d_des e_B</a:t>
            </a:r>
            <a:endParaRPr lang="en-US" sz="880" dirty="0"/>
          </a:p>
        </p:txBody>
      </p:sp>
      <p:sp>
        <p:nvSpPr>
          <p:cNvPr id="64" name="Shape 62"/>
          <p:cNvSpPr/>
          <p:nvPr/>
        </p:nvSpPr>
        <p:spPr>
          <a:xfrm>
            <a:off x="7543800" y="4974336"/>
            <a:ext cx="34290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7543800" y="4974336"/>
            <a:ext cx="50292" cy="1078992"/>
          </a:xfrm>
          <a:prstGeom prst="rect">
            <a:avLst/>
          </a:prstGeom>
          <a:solidFill>
            <a:srgbClr val="E8552D"/>
          </a:solidFill>
          <a:ln w="12700">
            <a:solidFill>
              <a:srgbClr val="E8552D">
                <a:alpha val="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726680" y="5138928"/>
            <a:ext cx="658368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55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800" dirty="0"/>
          </a:p>
        </p:txBody>
      </p:sp>
      <p:sp>
        <p:nvSpPr>
          <p:cNvPr id="67" name="Text 65"/>
          <p:cNvSpPr/>
          <p:nvPr/>
        </p:nvSpPr>
        <p:spPr>
          <a:xfrm>
            <a:off x="7726680" y="5504688"/>
            <a:ext cx="30632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Actuación</a:t>
            </a:r>
            <a:endParaRPr lang="en-US" sz="1020" dirty="0"/>
          </a:p>
        </p:txBody>
      </p:sp>
      <p:sp>
        <p:nvSpPr>
          <p:cNvPr id="68" name="Text 66"/>
          <p:cNvSpPr/>
          <p:nvPr/>
        </p:nvSpPr>
        <p:spPr>
          <a:xfrm>
            <a:off x="7726680" y="5724144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v, omega -&gt; ruedas L/R</a:t>
            </a:r>
            <a:endParaRPr lang="en-US" sz="8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geometría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Variables de seguimiento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Todas las leyes de control reciben el mismo error; lo que cambia es cómo reaccionan.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658368" y="141732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" y="1417320"/>
            <a:ext cx="50292" cy="448056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1536192"/>
            <a:ext cx="49743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trayectoria exportada</a:t>
            </a:r>
            <a:endParaRPr lang="en-US" sz="800" dirty="0"/>
          </a:p>
        </p:txBody>
      </p:sp>
      <p:pic>
        <p:nvPicPr>
          <p:cNvPr id="15" name="Image 0" descr="C:\Users\walla\Documents\Master VIU\C9_SistRobMoviles\viu-mrob-sistemas-roboticos-moviles\actividad2\slides\assets\follower_replay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305304"/>
            <a:ext cx="5157216" cy="2960624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309360" y="1536192"/>
            <a:ext cx="4663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09360" y="1536192"/>
            <a:ext cx="50292" cy="123444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10528" y="1682496"/>
            <a:ext cx="42611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 deseado</a:t>
            </a:r>
            <a:endParaRPr lang="en-US" sz="940" dirty="0"/>
          </a:p>
        </p:txBody>
      </p:sp>
      <p:sp>
        <p:nvSpPr>
          <p:cNvPr id="19" name="Text 16"/>
          <p:cNvSpPr/>
          <p:nvPr/>
        </p:nvSpPr>
        <p:spPr>
          <a:xfrm>
            <a:off x="6510528" y="2011680"/>
            <a:ext cx="4261104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p* = p_B - d_des [cos(theta_B), sin(theta_B)]^T</a:t>
            </a:r>
            <a:endParaRPr lang="en-US" sz="1020" dirty="0"/>
          </a:p>
          <a:p>
            <a:pPr algn="l" indent="0" marL="0">
              <a:buNone/>
            </a:pP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d_des = 0.82 m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6309360" y="3072384"/>
            <a:ext cx="46634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309360" y="3072384"/>
            <a:ext cx="50292" cy="1097280"/>
          </a:xfrm>
          <a:prstGeom prst="rect">
            <a:avLst/>
          </a:prstGeom>
          <a:solidFill>
            <a:srgbClr val="E8552D"/>
          </a:solidFill>
          <a:ln w="12700">
            <a:solidFill>
              <a:srgbClr val="E8552D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10528" y="3218688"/>
            <a:ext cx="42611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Errores clásicos</a:t>
            </a:r>
            <a:endParaRPr lang="en-US" sz="940" dirty="0"/>
          </a:p>
        </p:txBody>
      </p:sp>
      <p:sp>
        <p:nvSpPr>
          <p:cNvPr id="23" name="Text 20"/>
          <p:cNvSpPr/>
          <p:nvPr/>
        </p:nvSpPr>
        <p:spPr>
          <a:xfrm>
            <a:off x="6510528" y="3547872"/>
            <a:ext cx="4261104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e_d   = ||p_B - p_R|| - d_des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e_psi = atan2(y_B-y_R, x_B-x_R) - theta_R</a:t>
            </a:r>
            <a:endParaRPr lang="en-US" sz="1020" dirty="0"/>
          </a:p>
        </p:txBody>
      </p:sp>
      <p:sp>
        <p:nvSpPr>
          <p:cNvPr id="24" name="Shape 21"/>
          <p:cNvSpPr/>
          <p:nvPr/>
        </p:nvSpPr>
        <p:spPr>
          <a:xfrm>
            <a:off x="6309360" y="4480560"/>
            <a:ext cx="46634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309360" y="4480560"/>
            <a:ext cx="50292" cy="114300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510528" y="4626864"/>
            <a:ext cx="42611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local para LQR</a:t>
            </a:r>
            <a:endParaRPr lang="en-US" sz="940" dirty="0"/>
          </a:p>
        </p:txBody>
      </p:sp>
      <p:sp>
        <p:nvSpPr>
          <p:cNvPr id="27" name="Text 24"/>
          <p:cNvSpPr/>
          <p:nvPr/>
        </p:nvSpPr>
        <p:spPr>
          <a:xfrm>
            <a:off x="6510528" y="4956048"/>
            <a:ext cx="4261104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x_LQR = [e_long, e_lat, e_yaw]^T</a:t>
            </a:r>
            <a:endParaRPr lang="en-US" sz="1020" dirty="0"/>
          </a:p>
          <a:p>
            <a:pPr algn="l" indent="0" marL="0">
              <a:buNone/>
            </a:pP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error expresado en el marco del robot</a:t>
            </a:r>
            <a:endParaRPr lang="en-US" sz="10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2DB7E5"/>
          </a:solidFill>
          <a:ln w="8890">
            <a:solidFill>
              <a:srgbClr val="2DB7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Cinemática diferencial del Pioneer P3DX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simulación publica velocidades de rueda; la comparación de control se expresa en v y omega.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2DB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749808" y="1417320"/>
            <a:ext cx="5166360" cy="466344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7859" y="1490472"/>
            <a:ext cx="9144" cy="451713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2225911" y="1490472"/>
            <a:ext cx="9144" cy="451713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2963962" y="1490472"/>
            <a:ext cx="9144" cy="451713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3702014" y="1490472"/>
            <a:ext cx="9144" cy="451713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440065" y="1490472"/>
            <a:ext cx="9144" cy="451713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5178117" y="1490472"/>
            <a:ext cx="9144" cy="451713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822960" y="2194560"/>
            <a:ext cx="5020056" cy="9144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822960" y="2971800"/>
            <a:ext cx="5020056" cy="9144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822960" y="3749040"/>
            <a:ext cx="5020056" cy="9144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822960" y="4526280"/>
            <a:ext cx="5020056" cy="9144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822960" y="5303520"/>
            <a:ext cx="5020056" cy="9144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2682850" y="3094330"/>
            <a:ext cx="1126541" cy="1126541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04134" y="3436315"/>
            <a:ext cx="683971" cy="442570"/>
          </a:xfrm>
          <a:prstGeom prst="roundRect">
            <a:avLst>
              <a:gd name="adj" fmla="val 24793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83434" y="3355848"/>
            <a:ext cx="150876" cy="603504"/>
          </a:xfrm>
          <a:prstGeom prst="rect">
            <a:avLst/>
          </a:prstGeom>
          <a:solidFill>
            <a:srgbClr val="17202A"/>
          </a:solidFill>
          <a:ln w="8890">
            <a:solidFill>
              <a:srgbClr val="17202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57930" y="3355848"/>
            <a:ext cx="150876" cy="603504"/>
          </a:xfrm>
          <a:prstGeom prst="rect">
            <a:avLst/>
          </a:prstGeom>
          <a:solidFill>
            <a:srgbClr val="17202A"/>
          </a:solidFill>
          <a:ln w="8890">
            <a:solidFill>
              <a:srgbClr val="17202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46120" y="3657600"/>
            <a:ext cx="804672" cy="9144"/>
          </a:xfrm>
          <a:prstGeom prst="line">
            <a:avLst/>
          </a:prstGeom>
          <a:noFill/>
          <a:ln w="2032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V="1">
            <a:off x="3246120" y="2852928"/>
            <a:ext cx="9144" cy="804672"/>
          </a:xfrm>
          <a:prstGeom prst="line">
            <a:avLst/>
          </a:prstGeom>
          <a:noFill/>
          <a:ln w="2032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3688690" y="3526841"/>
            <a:ext cx="34198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x_R</a:t>
            </a:r>
            <a:endParaRPr lang="en-US" sz="740" dirty="0"/>
          </a:p>
        </p:txBody>
      </p:sp>
      <p:sp>
        <p:nvSpPr>
          <p:cNvPr id="31" name="Text 29"/>
          <p:cNvSpPr/>
          <p:nvPr/>
        </p:nvSpPr>
        <p:spPr>
          <a:xfrm>
            <a:off x="3306470" y="2953512"/>
            <a:ext cx="34198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y_R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2743200" y="4281221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3246120" y="3657600"/>
            <a:ext cx="1645920" cy="9144"/>
          </a:xfrm>
          <a:prstGeom prst="line">
            <a:avLst/>
          </a:prstGeom>
          <a:noFill/>
          <a:ln w="2286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4956048" y="3529584"/>
            <a:ext cx="228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6400800" y="1508760"/>
            <a:ext cx="44348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0" y="1508760"/>
            <a:ext cx="50292" cy="1234440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01968" y="1655064"/>
            <a:ext cx="40325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continuo</a:t>
            </a:r>
            <a:endParaRPr lang="en-US" sz="940" dirty="0"/>
          </a:p>
        </p:txBody>
      </p:sp>
      <p:sp>
        <p:nvSpPr>
          <p:cNvPr id="38" name="Text 36"/>
          <p:cNvSpPr/>
          <p:nvPr/>
        </p:nvSpPr>
        <p:spPr>
          <a:xfrm>
            <a:off x="6601968" y="1984248"/>
            <a:ext cx="4032504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x_dot     = v cos(theta)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y_dot     = v sin(theta)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theta_dot = omega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00800" y="3127248"/>
            <a:ext cx="4434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0" y="3127248"/>
            <a:ext cx="50292" cy="14173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01968" y="3273552"/>
            <a:ext cx="40325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v, omega a ruedas</a:t>
            </a:r>
            <a:endParaRPr lang="en-US" sz="940" dirty="0"/>
          </a:p>
        </p:txBody>
      </p:sp>
      <p:sp>
        <p:nvSpPr>
          <p:cNvPr id="42" name="Text 40"/>
          <p:cNvSpPr/>
          <p:nvPr/>
        </p:nvSpPr>
        <p:spPr>
          <a:xfrm>
            <a:off x="6601968" y="3602736"/>
            <a:ext cx="4032504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omega_L = (v - L omega / 2) / r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omega_R = (v + L omega / 2) / r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 = 0.0975 m, L = 0.331 m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400800" y="4864608"/>
            <a:ext cx="44348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400800" y="4864608"/>
            <a:ext cx="50292" cy="78638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01968" y="5010912"/>
            <a:ext cx="40325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Salida común</a:t>
            </a:r>
            <a:endParaRPr lang="en-US" sz="940" dirty="0"/>
          </a:p>
        </p:txBody>
      </p:sp>
      <p:sp>
        <p:nvSpPr>
          <p:cNvPr id="46" name="Text 44"/>
          <p:cNvSpPr/>
          <p:nvPr/>
        </p:nvSpPr>
        <p:spPr>
          <a:xfrm>
            <a:off x="6601968" y="5340096"/>
            <a:ext cx="403250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controlador -&gt; v, omega -&gt; saturación -&gt; ruedas -&gt; CSV logger</a:t>
            </a:r>
            <a:endParaRPr lang="en-US" sz="8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E8552D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campo potencial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Fuerza hacia Bill y repulsión local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vector de guía combina atracción al punto p* con seguridad ante obstáculos.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E855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713232" y="1371600"/>
            <a:ext cx="5349240" cy="466344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77409" y="1444752"/>
            <a:ext cx="9144" cy="451713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2241586" y="1444752"/>
            <a:ext cx="9144" cy="451713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3005763" y="1444752"/>
            <a:ext cx="9144" cy="451713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3769941" y="1444752"/>
            <a:ext cx="9144" cy="451713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534118" y="1444752"/>
            <a:ext cx="9144" cy="451713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5298295" y="1444752"/>
            <a:ext cx="9144" cy="4517136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86384" y="2148840"/>
            <a:ext cx="5202936" cy="9144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786384" y="2926080"/>
            <a:ext cx="5202936" cy="9144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786384" y="3703320"/>
            <a:ext cx="5202936" cy="9144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786384" y="4480560"/>
            <a:ext cx="5202936" cy="9144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786384" y="5257800"/>
            <a:ext cx="5202936" cy="9144"/>
          </a:xfrm>
          <a:prstGeom prst="line">
            <a:avLst/>
          </a:prstGeom>
          <a:noFill/>
          <a:ln w="4445">
            <a:solidFill>
              <a:srgbClr val="D5DEE8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500348" y="4197828"/>
            <a:ext cx="839785" cy="83978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5305" y="4452762"/>
            <a:ext cx="509869" cy="329916"/>
          </a:xfrm>
          <a:prstGeom prst="roundRect">
            <a:avLst>
              <a:gd name="adj" fmla="val 33259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75328" y="4392778"/>
            <a:ext cx="112471" cy="449885"/>
          </a:xfrm>
          <a:prstGeom prst="rect">
            <a:avLst/>
          </a:prstGeom>
          <a:solidFill>
            <a:srgbClr val="17202A"/>
          </a:solidFill>
          <a:ln w="8890">
            <a:solidFill>
              <a:srgbClr val="17202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52680" y="4392778"/>
            <a:ext cx="112471" cy="449885"/>
          </a:xfrm>
          <a:prstGeom prst="rect">
            <a:avLst/>
          </a:prstGeom>
          <a:solidFill>
            <a:srgbClr val="17202A"/>
          </a:solidFill>
          <a:ln w="8890">
            <a:solidFill>
              <a:srgbClr val="17202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20240" y="4617720"/>
            <a:ext cx="599846" cy="9144"/>
          </a:xfrm>
          <a:prstGeom prst="line">
            <a:avLst/>
          </a:prstGeom>
          <a:noFill/>
          <a:ln w="2032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V="1">
            <a:off x="1920240" y="4017874"/>
            <a:ext cx="9144" cy="599846"/>
          </a:xfrm>
          <a:prstGeom prst="line">
            <a:avLst/>
          </a:prstGeom>
          <a:noFill/>
          <a:ln w="2032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2250156" y="4520245"/>
            <a:ext cx="25493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x_R</a:t>
            </a:r>
            <a:endParaRPr lang="en-US" sz="740" dirty="0"/>
          </a:p>
        </p:txBody>
      </p:sp>
      <p:sp>
        <p:nvSpPr>
          <p:cNvPr id="31" name="Text 29"/>
          <p:cNvSpPr/>
          <p:nvPr/>
        </p:nvSpPr>
        <p:spPr>
          <a:xfrm>
            <a:off x="1965228" y="4092854"/>
            <a:ext cx="25493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y_R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1545336" y="5082601"/>
            <a:ext cx="74980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4375221" y="1741749"/>
            <a:ext cx="539862" cy="539862"/>
          </a:xfrm>
          <a:prstGeom prst="ellipse">
            <a:avLst/>
          </a:prstGeom>
          <a:solidFill>
            <a:srgbClr val="FFF3E6"/>
          </a:solidFill>
          <a:ln w="9525">
            <a:solidFill>
              <a:srgbClr val="F4A26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40179" y="1906707"/>
            <a:ext cx="209946" cy="209946"/>
          </a:xfrm>
          <a:prstGeom prst="ellipse">
            <a:avLst/>
          </a:prstGeom>
          <a:solidFill>
            <a:srgbClr val="F4A261"/>
          </a:solidFill>
          <a:ln w="9525">
            <a:solidFill>
              <a:srgbClr val="F4A26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45152" y="2011680"/>
            <a:ext cx="539862" cy="9144"/>
          </a:xfrm>
          <a:prstGeom prst="line">
            <a:avLst/>
          </a:prstGeom>
          <a:noFill/>
          <a:ln w="20320">
            <a:solidFill>
              <a:srgbClr val="F4A261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H="1">
            <a:off x="4315236" y="2011680"/>
            <a:ext cx="329916" cy="9144"/>
          </a:xfrm>
          <a:prstGeom prst="line">
            <a:avLst/>
          </a:prstGeom>
          <a:noFill/>
          <a:ln w="11430">
            <a:solidFill>
              <a:srgbClr val="D5DEE8"/>
            </a:solidFill>
            <a:prstDash val="solid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4510187" y="1576791"/>
            <a:ext cx="34491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p_B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930079" y="1861718"/>
            <a:ext cx="52486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theta_B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4405213" y="2371588"/>
            <a:ext cx="479877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Bill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913632" y="2788920"/>
            <a:ext cx="164592" cy="164592"/>
          </a:xfrm>
          <a:prstGeom prst="ellipse">
            <a:avLst/>
          </a:prstGeom>
          <a:solidFill>
            <a:srgbClr val="6D5BD0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43200" y="2788920"/>
            <a:ext cx="502920" cy="438912"/>
          </a:xfrm>
          <a:prstGeom prst="rect">
            <a:avLst/>
          </a:prstGeom>
          <a:solidFill>
            <a:srgbClr val="FDECE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2331720" y="2907792"/>
            <a:ext cx="1490472" cy="1499616"/>
          </a:xfrm>
          <a:prstGeom prst="line">
            <a:avLst/>
          </a:prstGeom>
          <a:noFill/>
          <a:ln w="25400">
            <a:solidFill>
              <a:srgbClr val="E8552D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2578608" y="3072384"/>
            <a:ext cx="438912" cy="457200"/>
          </a:xfrm>
          <a:prstGeom prst="line">
            <a:avLst/>
          </a:prstGeom>
          <a:noFill/>
          <a:ln w="16510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2926080" y="3456432"/>
            <a:ext cx="640080" cy="256032"/>
          </a:xfrm>
          <a:prstGeom prst="roundRect">
            <a:avLst>
              <a:gd name="adj" fmla="val 42857"/>
            </a:avLst>
          </a:prstGeom>
          <a:solidFill>
            <a:srgbClr val="FDEDE8"/>
          </a:solidFill>
          <a:ln w="9525">
            <a:solidFill>
              <a:srgbClr val="E8552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511296"/>
            <a:ext cx="54864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F_att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2359152" y="3072384"/>
            <a:ext cx="694944" cy="256032"/>
          </a:xfrm>
          <a:prstGeom prst="roundRect">
            <a:avLst>
              <a:gd name="adj" fmla="val 42857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404872" y="3127248"/>
            <a:ext cx="603504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F_rep</a:t>
            </a:r>
            <a:endParaRPr lang="en-US" sz="720" dirty="0"/>
          </a:p>
        </p:txBody>
      </p:sp>
      <p:sp>
        <p:nvSpPr>
          <p:cNvPr id="48" name="Shape 46"/>
          <p:cNvSpPr/>
          <p:nvPr/>
        </p:nvSpPr>
        <p:spPr>
          <a:xfrm>
            <a:off x="6446520" y="1554480"/>
            <a:ext cx="44348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446520" y="1554480"/>
            <a:ext cx="50292" cy="841248"/>
          </a:xfrm>
          <a:prstGeom prst="rect">
            <a:avLst/>
          </a:prstGeom>
          <a:solidFill>
            <a:srgbClr val="E8552D"/>
          </a:solidFill>
          <a:ln w="12700">
            <a:solidFill>
              <a:srgbClr val="E8552D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47688" y="1700784"/>
            <a:ext cx="40325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Atracción</a:t>
            </a:r>
            <a:endParaRPr lang="en-US" sz="940" dirty="0"/>
          </a:p>
        </p:txBody>
      </p:sp>
      <p:sp>
        <p:nvSpPr>
          <p:cNvPr id="51" name="Text 49"/>
          <p:cNvSpPr/>
          <p:nvPr/>
        </p:nvSpPr>
        <p:spPr>
          <a:xfrm>
            <a:off x="6647688" y="2029968"/>
            <a:ext cx="4032504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F_att = k_att (p* - p_R)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46520" y="2743200"/>
            <a:ext cx="443484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446520" y="2743200"/>
            <a:ext cx="50292" cy="162763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47688" y="2889504"/>
            <a:ext cx="40325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Repulsión</a:t>
            </a:r>
            <a:endParaRPr lang="en-US" sz="940" dirty="0"/>
          </a:p>
        </p:txBody>
      </p:sp>
      <p:sp>
        <p:nvSpPr>
          <p:cNvPr id="55" name="Text 53"/>
          <p:cNvSpPr/>
          <p:nvPr/>
        </p:nvSpPr>
        <p:spPr>
          <a:xfrm>
            <a:off x="6647688" y="3218688"/>
            <a:ext cx="4032504" cy="10607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si rho_i &lt; rho_0: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F_rep,i = eta(1/rho_i - 1/rho_0)(1/rho_i^2)n_i</a:t>
            </a:r>
            <a:endParaRPr lang="en-US" sz="930" dirty="0"/>
          </a:p>
          <a:p>
            <a:pPr algn="l" indent="0" marL="0">
              <a:buNone/>
            </a:pP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si rho_i &gt;= rho_0: F_rep,i = 0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6446520" y="4709160"/>
            <a:ext cx="4434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446520" y="4709160"/>
            <a:ext cx="50292" cy="91440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47688" y="4855464"/>
            <a:ext cx="40325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Vector de guía</a:t>
            </a:r>
            <a:endParaRPr lang="en-US" sz="940" dirty="0"/>
          </a:p>
        </p:txBody>
      </p:sp>
      <p:sp>
        <p:nvSpPr>
          <p:cNvPr id="59" name="Text 57"/>
          <p:cNvSpPr/>
          <p:nvPr/>
        </p:nvSpPr>
        <p:spPr>
          <a:xfrm>
            <a:off x="6647688" y="5184648"/>
            <a:ext cx="4032504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 = F_att + sum_i F_rep,i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alpha = atan2(F_y, F_x)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E8552D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clásico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P, PI y PID: memoria incremental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niveles de realimentación sobre el mismo error: presente, acumulado y cambio temporal.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E855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749808" y="1554480"/>
            <a:ext cx="3246120" cy="1993392"/>
          </a:xfrm>
          <a:prstGeom prst="roundRect">
            <a:avLst>
              <a:gd name="adj" fmla="val 5505"/>
            </a:avLst>
          </a:prstGeom>
          <a:solidFill>
            <a:srgbClr val="FFF3E6"/>
          </a:solidFill>
          <a:ln w="9525">
            <a:solidFill>
              <a:srgbClr val="F4A2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1700784"/>
            <a:ext cx="54864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72768" y="1764792"/>
            <a:ext cx="210312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presente</a:t>
            </a:r>
            <a:endParaRPr lang="en-US" sz="770" dirty="0"/>
          </a:p>
        </p:txBody>
      </p:sp>
      <p:sp>
        <p:nvSpPr>
          <p:cNvPr id="15" name="Text 13"/>
          <p:cNvSpPr/>
          <p:nvPr/>
        </p:nvSpPr>
        <p:spPr>
          <a:xfrm>
            <a:off x="950976" y="2212848"/>
            <a:ext cx="2816352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v = Kp e_d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omega = Kpsi e_psi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950976" y="2971800"/>
            <a:ext cx="27889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corrige rápido, deja offset si Bill se mueve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4059936" y="2542032"/>
            <a:ext cx="347472" cy="9144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480560" y="1719072"/>
            <a:ext cx="3246120" cy="1993392"/>
          </a:xfrm>
          <a:prstGeom prst="roundRect">
            <a:avLst>
              <a:gd name="adj" fmla="val 5505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81728" y="1865376"/>
            <a:ext cx="54864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303520" y="1929384"/>
            <a:ext cx="210312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presente + acumulado</a:t>
            </a:r>
            <a:endParaRPr lang="en-US" sz="770" dirty="0"/>
          </a:p>
        </p:txBody>
      </p:sp>
      <p:sp>
        <p:nvSpPr>
          <p:cNvPr id="21" name="Text 19"/>
          <p:cNvSpPr/>
          <p:nvPr/>
        </p:nvSpPr>
        <p:spPr>
          <a:xfrm>
            <a:off x="4681728" y="2377440"/>
            <a:ext cx="2816352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v = Kp e_d + Ki integral(e_d)dt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omega = Kpsi e_psi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4681728" y="3136392"/>
            <a:ext cx="27889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error sostenido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7790688" y="2706624"/>
            <a:ext cx="347472" cy="9144"/>
          </a:xfrm>
          <a:prstGeom prst="line">
            <a:avLst/>
          </a:prstGeom>
          <a:noFill/>
          <a:ln w="1905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211312" y="1883664"/>
            <a:ext cx="3246120" cy="1993392"/>
          </a:xfrm>
          <a:prstGeom prst="roundRect">
            <a:avLst>
              <a:gd name="adj" fmla="val 5505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2480" y="2029968"/>
            <a:ext cx="54864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91C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PID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034272" y="2093976"/>
            <a:ext cx="210312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presente + acumulado + cambio</a:t>
            </a:r>
            <a:endParaRPr lang="en-US" sz="770" dirty="0"/>
          </a:p>
        </p:txBody>
      </p:sp>
      <p:sp>
        <p:nvSpPr>
          <p:cNvPr id="27" name="Text 25"/>
          <p:cNvSpPr/>
          <p:nvPr/>
        </p:nvSpPr>
        <p:spPr>
          <a:xfrm>
            <a:off x="8412480" y="2542032"/>
            <a:ext cx="2816352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v = Kp e_d + Ki integral(e_d)dt + Kd de_d/dt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8412480" y="3300984"/>
            <a:ext cx="27889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 error final, más esfuerzo de ruedas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804672" y="4005072"/>
            <a:ext cx="10305288" cy="9144"/>
          </a:xfrm>
          <a:prstGeom prst="line">
            <a:avLst/>
          </a:prstGeom>
          <a:noFill/>
          <a:ln w="12700">
            <a:solidFill>
              <a:srgbClr val="D5DEE8"/>
            </a:solidFill>
            <a:prstDash val="solid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822960" y="4261104"/>
            <a:ext cx="2011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CON DATOS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68680" y="4572000"/>
            <a:ext cx="15087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A26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0.098</a:t>
            </a:r>
            <a:endParaRPr lang="en-US" sz="2700" dirty="0"/>
          </a:p>
        </p:txBody>
      </p:sp>
      <p:sp>
        <p:nvSpPr>
          <p:cNvPr id="32" name="Text 30"/>
          <p:cNvSpPr/>
          <p:nvPr/>
        </p:nvSpPr>
        <p:spPr>
          <a:xfrm>
            <a:off x="868680" y="5010912"/>
            <a:ext cx="15087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final [m]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68680" y="5321808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679192" y="5349240"/>
            <a:ext cx="1051560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79192" y="5349240"/>
            <a:ext cx="1014373" cy="109728"/>
          </a:xfrm>
          <a:prstGeom prst="rect">
            <a:avLst/>
          </a:prstGeom>
          <a:solidFill>
            <a:srgbClr val="F4A261"/>
          </a:solidFill>
          <a:ln w="8890">
            <a:solidFill>
              <a:srgbClr val="F4A26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03904" y="5312664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0.098</a:t>
            </a:r>
            <a:endParaRPr lang="en-US" sz="780" dirty="0"/>
          </a:p>
        </p:txBody>
      </p:sp>
      <p:sp>
        <p:nvSpPr>
          <p:cNvPr id="37" name="Text 35"/>
          <p:cNvSpPr/>
          <p:nvPr/>
        </p:nvSpPr>
        <p:spPr>
          <a:xfrm>
            <a:off x="868680" y="5596128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potencia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679192" y="5623560"/>
            <a:ext cx="1051560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679192" y="5623560"/>
            <a:ext cx="516883" cy="109728"/>
          </a:xfrm>
          <a:prstGeom prst="rect">
            <a:avLst/>
          </a:prstGeom>
          <a:solidFill>
            <a:srgbClr val="F4A261"/>
          </a:solidFill>
          <a:ln w="8890">
            <a:solidFill>
              <a:srgbClr val="F4A26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03904" y="5586984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0.375 W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4572000" y="4572000"/>
            <a:ext cx="15087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0.102</a:t>
            </a:r>
            <a:endParaRPr lang="en-US" sz="2700" dirty="0"/>
          </a:p>
        </p:txBody>
      </p:sp>
      <p:sp>
        <p:nvSpPr>
          <p:cNvPr id="42" name="Text 40"/>
          <p:cNvSpPr/>
          <p:nvPr/>
        </p:nvSpPr>
        <p:spPr>
          <a:xfrm>
            <a:off x="4572000" y="5010912"/>
            <a:ext cx="15087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final [m]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572000" y="5321808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382512" y="5349240"/>
            <a:ext cx="1051560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382512" y="5349240"/>
            <a:ext cx="1051560" cy="109728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07224" y="5312664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0.102</a:t>
            </a:r>
            <a:endParaRPr lang="en-US" sz="780" dirty="0"/>
          </a:p>
        </p:txBody>
      </p:sp>
      <p:sp>
        <p:nvSpPr>
          <p:cNvPr id="47" name="Text 45"/>
          <p:cNvSpPr/>
          <p:nvPr/>
        </p:nvSpPr>
        <p:spPr>
          <a:xfrm>
            <a:off x="4572000" y="5596128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potencia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382512" y="5623560"/>
            <a:ext cx="1051560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82512" y="5623560"/>
            <a:ext cx="663243" cy="109728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07224" y="5586984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0.481 W</a:t>
            </a:r>
            <a:endParaRPr lang="en-US" sz="780" dirty="0"/>
          </a:p>
        </p:txBody>
      </p:sp>
      <p:sp>
        <p:nvSpPr>
          <p:cNvPr id="51" name="Text 49"/>
          <p:cNvSpPr/>
          <p:nvPr/>
        </p:nvSpPr>
        <p:spPr>
          <a:xfrm>
            <a:off x="8275320" y="4572000"/>
            <a:ext cx="15087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B91C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0.032</a:t>
            </a:r>
            <a:endParaRPr lang="en-US" sz="2700" dirty="0"/>
          </a:p>
        </p:txBody>
      </p:sp>
      <p:sp>
        <p:nvSpPr>
          <p:cNvPr id="52" name="Text 50"/>
          <p:cNvSpPr/>
          <p:nvPr/>
        </p:nvSpPr>
        <p:spPr>
          <a:xfrm>
            <a:off x="8275320" y="5010912"/>
            <a:ext cx="15087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final [m]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8275320" y="5321808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10085832" y="5349240"/>
            <a:ext cx="1051560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085832" y="5349240"/>
            <a:ext cx="327450" cy="109728"/>
          </a:xfrm>
          <a:prstGeom prst="rect">
            <a:avLst/>
          </a:prstGeom>
          <a:solidFill>
            <a:srgbClr val="B91C1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210544" y="5312664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0.032</a:t>
            </a:r>
            <a:endParaRPr lang="en-US" sz="780" dirty="0"/>
          </a:p>
        </p:txBody>
      </p:sp>
      <p:sp>
        <p:nvSpPr>
          <p:cNvPr id="57" name="Text 55"/>
          <p:cNvSpPr/>
          <p:nvPr/>
        </p:nvSpPr>
        <p:spPr>
          <a:xfrm>
            <a:off x="8275320" y="5596128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potencia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0085832" y="5623560"/>
            <a:ext cx="1051560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085832" y="5623560"/>
            <a:ext cx="1051560" cy="109728"/>
          </a:xfrm>
          <a:prstGeom prst="rect">
            <a:avLst/>
          </a:prstGeom>
          <a:solidFill>
            <a:srgbClr val="B91C1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1210544" y="5586984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0.762 W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LQR real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 se calcula offline; Lua solo aplica u = -Kx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Q-learning ni una heurística: Q y R penalizan estados y mando; K sale de Riccati discreta.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749808" y="1463040"/>
            <a:ext cx="2212848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1618488"/>
            <a:ext cx="2743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225296" y="1554480"/>
            <a:ext cx="14173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linealizar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1225296" y="1792224"/>
            <a:ext cx="150876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A, B locales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2990088" y="1837944"/>
            <a:ext cx="484632" cy="9144"/>
          </a:xfrm>
          <a:prstGeom prst="line">
            <a:avLst/>
          </a:prstGeom>
          <a:noFill/>
          <a:ln w="17780">
            <a:solidFill>
              <a:srgbClr val="6D5BD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538728" y="1463040"/>
            <a:ext cx="2212848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85032" y="1618488"/>
            <a:ext cx="2743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014216" y="1554480"/>
            <a:ext cx="14173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pesar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4014216" y="1792224"/>
            <a:ext cx="150876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estados, R mando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5779008" y="1837944"/>
            <a:ext cx="484632" cy="9144"/>
          </a:xfrm>
          <a:prstGeom prst="line">
            <a:avLst/>
          </a:prstGeom>
          <a:noFill/>
          <a:ln w="17780">
            <a:solidFill>
              <a:srgbClr val="6D5BD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327648" y="1463040"/>
            <a:ext cx="2212848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1618488"/>
            <a:ext cx="2743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803136" y="1554480"/>
            <a:ext cx="14173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resolver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6803136" y="1792224"/>
            <a:ext cx="150876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Riccati discreta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8567928" y="1837944"/>
            <a:ext cx="484632" cy="9144"/>
          </a:xfrm>
          <a:prstGeom prst="line">
            <a:avLst/>
          </a:prstGeom>
          <a:noFill/>
          <a:ln w="17780">
            <a:solidFill>
              <a:srgbClr val="6D5BD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116568" y="1463040"/>
            <a:ext cx="2212848" cy="749808"/>
          </a:xfrm>
          <a:prstGeom prst="roundRect">
            <a:avLst>
              <a:gd name="adj" fmla="val 14634"/>
            </a:avLst>
          </a:prstGeom>
          <a:solidFill>
            <a:srgbClr val="6D5BD0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62872" y="1618488"/>
            <a:ext cx="2743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592056" y="1554480"/>
            <a:ext cx="14173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ejecutar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9592056" y="1792224"/>
            <a:ext cx="150876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EDE9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 = -Kx en Lua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749808" y="2578608"/>
            <a:ext cx="51663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49808" y="2578608"/>
            <a:ext cx="50292" cy="157276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" y="2724912"/>
            <a:ext cx="476402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local</a:t>
            </a:r>
            <a:endParaRPr lang="en-US" sz="940" dirty="0"/>
          </a:p>
        </p:txBody>
      </p:sp>
      <p:sp>
        <p:nvSpPr>
          <p:cNvPr id="34" name="Text 32"/>
          <p:cNvSpPr/>
          <p:nvPr/>
        </p:nvSpPr>
        <p:spPr>
          <a:xfrm>
            <a:off x="950976" y="3054096"/>
            <a:ext cx="4764024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 = [e_long, e_lat, e_yaw]^T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u = [delta_v, delta_omega]^T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 = [[0, omega_ref, 0], [-omega_ref, 0, v_ref], [0,0,0]]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B = [[-1,0], [0,0], [0,-1]]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263640" y="2578608"/>
            <a:ext cx="507492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63640" y="2578608"/>
            <a:ext cx="50292" cy="157276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64808" y="2724912"/>
            <a:ext cx="467258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Riccati y pesos</a:t>
            </a:r>
            <a:endParaRPr lang="en-US" sz="940" dirty="0"/>
          </a:p>
        </p:txBody>
      </p:sp>
      <p:sp>
        <p:nvSpPr>
          <p:cNvPr id="38" name="Text 36"/>
          <p:cNvSpPr/>
          <p:nvPr/>
        </p:nvSpPr>
        <p:spPr>
          <a:xfrm>
            <a:off x="6464808" y="3054096"/>
            <a:ext cx="4672584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A_d = I + dt A, B_d = dt B</a:t>
            </a:r>
            <a:endParaRPr lang="en-US" sz="830" dirty="0"/>
          </a:p>
          <a:p>
            <a:pPr algn="l" indent="0" marL="0">
              <a:buNone/>
            </a:pPr>
            <a:r>
              <a:rPr lang="en-US" sz="83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Q = diag(35, 80, 18)</a:t>
            </a:r>
            <a:endParaRPr lang="en-US" sz="830" dirty="0"/>
          </a:p>
          <a:p>
            <a:pPr algn="l" indent="0" marL="0">
              <a:buNone/>
            </a:pPr>
            <a:r>
              <a:rPr lang="en-US" sz="83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 = diag(6, 3)</a:t>
            </a:r>
            <a:endParaRPr lang="en-US" sz="830" dirty="0"/>
          </a:p>
          <a:p>
            <a:pPr algn="l" indent="0" marL="0">
              <a:buNone/>
            </a:pPr>
            <a:endParaRPr lang="en-US" sz="830" dirty="0"/>
          </a:p>
          <a:p>
            <a:pPr algn="l" indent="0" marL="0">
              <a:buNone/>
            </a:pPr>
            <a:r>
              <a:rPr lang="en-US" sz="83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 = dare(A_d, B_d, Q, R)</a:t>
            </a:r>
            <a:endParaRPr lang="en-US" sz="830" dirty="0"/>
          </a:p>
          <a:p>
            <a:pPr algn="l" indent="0" marL="0">
              <a:buNone/>
            </a:pPr>
            <a:r>
              <a:rPr lang="en-US" sz="83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K = (B_d^T P B_d + R)^-1 B_d^T P A_d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749808" y="4572000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49808" y="4572000"/>
            <a:ext cx="50292" cy="9144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50976" y="4718304"/>
            <a:ext cx="476402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Ganancia LQR</a:t>
            </a:r>
            <a:endParaRPr lang="en-US" sz="940" dirty="0"/>
          </a:p>
        </p:txBody>
      </p:sp>
      <p:sp>
        <p:nvSpPr>
          <p:cNvPr id="42" name="Text 40"/>
          <p:cNvSpPr/>
          <p:nvPr/>
        </p:nvSpPr>
        <p:spPr>
          <a:xfrm>
            <a:off x="950976" y="5047488"/>
            <a:ext cx="4764024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K = [[-2.3496,  1.2925,  0.1203],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 [ 0.2427, -4.3570, -2.6887]]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polos = 0.9741, 0.8884, 0.8856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263640" y="4498848"/>
            <a:ext cx="35204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263640" y="4498848"/>
            <a:ext cx="50292" cy="1097280"/>
          </a:xfrm>
          <a:prstGeom prst="rect">
            <a:avLst/>
          </a:prstGeom>
          <a:solidFill>
            <a:srgbClr val="E8552D"/>
          </a:solidFill>
          <a:ln w="12700">
            <a:solidFill>
              <a:srgbClr val="E8552D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64808" y="4645152"/>
            <a:ext cx="31181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Límite correcto</a:t>
            </a:r>
            <a:endParaRPr lang="en-US" sz="940" dirty="0"/>
          </a:p>
        </p:txBody>
      </p:sp>
      <p:sp>
        <p:nvSpPr>
          <p:cNvPr id="46" name="Text 44"/>
          <p:cNvSpPr/>
          <p:nvPr/>
        </p:nvSpPr>
        <p:spPr>
          <a:xfrm>
            <a:off x="6464808" y="4974336"/>
            <a:ext cx="3118104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No se usa como LQR global: la misión tiene saturaciones, Bill móvil, obstáculos y estados discretos. Se aplica alrededor del seguimiento nominal.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10012680" y="4553712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10012680" y="4553712"/>
            <a:ext cx="50292" cy="9601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177272" y="4700016"/>
            <a:ext cx="9052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0.023</a:t>
            </a:r>
            <a:endParaRPr lang="en-US" sz="2100" dirty="0"/>
          </a:p>
        </p:txBody>
      </p:sp>
      <p:sp>
        <p:nvSpPr>
          <p:cNvPr id="50" name="Text 48"/>
          <p:cNvSpPr/>
          <p:nvPr/>
        </p:nvSpPr>
        <p:spPr>
          <a:xfrm>
            <a:off x="10177272" y="5010912"/>
            <a:ext cx="90525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mov. [m]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0177272" y="5212080"/>
            <a:ext cx="90525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bajo durante seguimiento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NMPC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Predice, restringe y suaviza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NMPC evalúa secuencias futuras cortas y escoge la que reduce error sin castigar demasiado las ruedas.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713232" y="1536192"/>
            <a:ext cx="1065276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24128" y="1810512"/>
            <a:ext cx="118872" cy="11887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43000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737360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56232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450592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9464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163824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82696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877056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95928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90288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09160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303520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22392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016752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35624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729984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48856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443216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85632" y="171907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horizonte N = 10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485632" y="1938528"/>
            <a:ext cx="2286000" cy="137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se aplica el primer comando; luego se vuelve a medir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713232" y="2743200"/>
            <a:ext cx="37033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3232" y="2743200"/>
            <a:ext cx="50292" cy="12344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2889504"/>
            <a:ext cx="330098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predictivo</a:t>
            </a:r>
            <a:endParaRPr lang="en-US" sz="940" dirty="0"/>
          </a:p>
        </p:txBody>
      </p:sp>
      <p:sp>
        <p:nvSpPr>
          <p:cNvPr id="37" name="Text 35"/>
          <p:cNvSpPr/>
          <p:nvPr/>
        </p:nvSpPr>
        <p:spPr>
          <a:xfrm>
            <a:off x="914400" y="3218688"/>
            <a:ext cx="3300984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x_{k+1} = x_k + v_k cos(theta_k) dt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y_{k+1} = y_k + v_k sin(theta_k) dt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theta_{k+1} = theta_k + omega_k dt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63440" y="2743200"/>
            <a:ext cx="45262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663440" y="2743200"/>
            <a:ext cx="50292" cy="169164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64608" y="2889504"/>
            <a:ext cx="412394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Costo multiobjetivo</a:t>
            </a:r>
            <a:endParaRPr lang="en-US" sz="940" dirty="0"/>
          </a:p>
        </p:txBody>
      </p:sp>
      <p:sp>
        <p:nvSpPr>
          <p:cNvPr id="41" name="Text 39"/>
          <p:cNvSpPr/>
          <p:nvPr/>
        </p:nvSpPr>
        <p:spPr>
          <a:xfrm>
            <a:off x="4864608" y="3218688"/>
            <a:ext cx="4123944" cy="11247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min sum_k [ q_d e_d^2 + q_t ||p*_k-p_k||^2</a:t>
            </a:r>
            <a:endParaRPr lang="en-US" sz="790" dirty="0"/>
          </a:p>
          <a:p>
            <a:pPr algn="l" indent="0" marL="0">
              <a:buNone/>
            </a:pPr>
            <a:r>
              <a:rPr lang="en-US" sz="79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+ q_psi e_psi^2 + r_v v_k^2 + r_w omega_k^2</a:t>
            </a:r>
            <a:endParaRPr lang="en-US" sz="790" dirty="0"/>
          </a:p>
          <a:p>
            <a:pPr algn="l" indent="0" marL="0">
              <a:buNone/>
            </a:pPr>
            <a:r>
              <a:rPr lang="en-US" sz="79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+ r_wheel(omega_L^2+omega_R^2)</a:t>
            </a:r>
            <a:endParaRPr lang="en-US" sz="790" dirty="0"/>
          </a:p>
          <a:p>
            <a:pPr algn="l" indent="0" marL="0">
              <a:buNone/>
            </a:pPr>
            <a:r>
              <a:rPr lang="en-US" sz="79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+ s_v Delta v_k^2 + s_w Delta omega_k^2 ]</a:t>
            </a:r>
            <a:endParaRPr lang="en-US" sz="790" dirty="0"/>
          </a:p>
        </p:txBody>
      </p:sp>
      <p:sp>
        <p:nvSpPr>
          <p:cNvPr id="42" name="Shape 40"/>
          <p:cNvSpPr/>
          <p:nvPr/>
        </p:nvSpPr>
        <p:spPr>
          <a:xfrm>
            <a:off x="9464040" y="27432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9464040" y="2743200"/>
            <a:ext cx="50292" cy="1691640"/>
          </a:xfrm>
          <a:prstGeom prst="rect">
            <a:avLst/>
          </a:prstGeom>
          <a:solidFill>
            <a:srgbClr val="E8552D"/>
          </a:solidFill>
          <a:ln w="12700">
            <a:solidFill>
              <a:srgbClr val="E8552D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665208" y="2889504"/>
            <a:ext cx="142646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Restricciones</a:t>
            </a:r>
            <a:endParaRPr lang="en-US" sz="940" dirty="0"/>
          </a:p>
        </p:txBody>
      </p:sp>
      <p:sp>
        <p:nvSpPr>
          <p:cNvPr id="45" name="Text 43"/>
          <p:cNvSpPr/>
          <p:nvPr/>
        </p:nvSpPr>
        <p:spPr>
          <a:xfrm>
            <a:off x="9665208" y="3218688"/>
            <a:ext cx="1426464" cy="11247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v in [v_reverse_max, v_max]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omega in [-omega_max, omega_max]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búsqueda directa: 2 pasadas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841248" y="4956048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841248" y="4956048"/>
            <a:ext cx="50292" cy="9601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05840" y="5102352"/>
            <a:ext cx="15910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0.020</a:t>
            </a:r>
            <a:endParaRPr lang="en-US" sz="2100" dirty="0"/>
          </a:p>
        </p:txBody>
      </p:sp>
      <p:sp>
        <p:nvSpPr>
          <p:cNvPr id="49" name="Text 47"/>
          <p:cNvSpPr/>
          <p:nvPr/>
        </p:nvSpPr>
        <p:spPr>
          <a:xfrm>
            <a:off x="1005840" y="5413248"/>
            <a:ext cx="159105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mov. [m]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005840" y="5614416"/>
            <a:ext cx="159105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 durante Bill móvil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3063240" y="4956048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3063240" y="4956048"/>
            <a:ext cx="50292" cy="9601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27832" y="5102352"/>
            <a:ext cx="15910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0.058</a:t>
            </a:r>
            <a:endParaRPr lang="en-US" sz="2100" dirty="0"/>
          </a:p>
        </p:txBody>
      </p:sp>
      <p:sp>
        <p:nvSpPr>
          <p:cNvPr id="54" name="Text 52"/>
          <p:cNvSpPr/>
          <p:nvPr/>
        </p:nvSpPr>
        <p:spPr>
          <a:xfrm>
            <a:off x="3227832" y="5413248"/>
            <a:ext cx="159105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 delta-u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3227832" y="5614416"/>
            <a:ext cx="159105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mando suave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5285232" y="4956048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5285232" y="4956048"/>
            <a:ext cx="50292" cy="960120"/>
          </a:xfrm>
          <a:prstGeom prst="rect">
            <a:avLst/>
          </a:prstGeom>
          <a:solidFill>
            <a:srgbClr val="E8552D"/>
          </a:solidFill>
          <a:ln w="12700">
            <a:solidFill>
              <a:srgbClr val="E8552D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49824" y="5102352"/>
            <a:ext cx="15910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855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2100" dirty="0"/>
          </a:p>
        </p:txBody>
      </p:sp>
      <p:sp>
        <p:nvSpPr>
          <p:cNvPr id="59" name="Text 57"/>
          <p:cNvSpPr/>
          <p:nvPr/>
        </p:nvSpPr>
        <p:spPr>
          <a:xfrm>
            <a:off x="5449824" y="5413248"/>
            <a:ext cx="159105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flips al parar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5449824" y="5614416"/>
            <a:ext cx="159105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menos cambios bruscos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818120" y="4956048"/>
            <a:ext cx="3200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818120" y="4956048"/>
            <a:ext cx="50292" cy="9601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019288" y="5102352"/>
            <a:ext cx="279806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Uso recomendado</a:t>
            </a:r>
            <a:endParaRPr lang="en-US" sz="940" dirty="0"/>
          </a:p>
        </p:txBody>
      </p:sp>
      <p:sp>
        <p:nvSpPr>
          <p:cNvPr id="64" name="Text 62"/>
          <p:cNvSpPr/>
          <p:nvPr/>
        </p:nvSpPr>
        <p:spPr>
          <a:xfrm>
            <a:off x="8019288" y="5431536"/>
            <a:ext cx="2798064" cy="393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Adecuado cuando importan límites, suavidad y seguridad, no solo el error final.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resultados follower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Precisión, seguimiento y esfuerzo no coinciden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comparación usa la misma trayectoria de Bill y el mismo logger para todos los controladores.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658368" y="1444752"/>
            <a:ext cx="5806440" cy="4407408"/>
          </a:xfrm>
          <a:prstGeom prst="roundRect">
            <a:avLst>
              <a:gd name="adj" fmla="val 166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" y="1444752"/>
            <a:ext cx="50292" cy="44074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1563624"/>
            <a:ext cx="547725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temporal exportada</a:t>
            </a:r>
            <a:endParaRPr lang="en-US" sz="800" dirty="0"/>
          </a:p>
        </p:txBody>
      </p:sp>
      <p:pic>
        <p:nvPicPr>
          <p:cNvPr id="15" name="Image 0" descr="C:\Users\walla\Documents\Master VIU\C9_SistRobMoviles\viu-mrob-sistemas-roboticos-moviles\actividad2\coppeliasim\follower_pid_logs\follower_pid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99395"/>
            <a:ext cx="5660136" cy="3354155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784848" y="1481328"/>
            <a:ext cx="19659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784848" y="1481328"/>
            <a:ext cx="50292" cy="102412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67728" y="1609344"/>
            <a:ext cx="16002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B91C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PID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6967728" y="1975104"/>
            <a:ext cx="1600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 error final: 0.032 m</a:t>
            </a:r>
            <a:endParaRPr lang="en-US" sz="860" dirty="0"/>
          </a:p>
        </p:txBody>
      </p:sp>
      <p:sp>
        <p:nvSpPr>
          <p:cNvPr id="20" name="Text 17"/>
          <p:cNvSpPr/>
          <p:nvPr/>
        </p:nvSpPr>
        <p:spPr>
          <a:xfrm>
            <a:off x="6967728" y="2194560"/>
            <a:ext cx="16002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llegada al setpoint</a:t>
            </a:r>
            <a:endParaRPr lang="en-US" sz="740" dirty="0"/>
          </a:p>
        </p:txBody>
      </p:sp>
      <p:sp>
        <p:nvSpPr>
          <p:cNvPr id="21" name="Shape 18"/>
          <p:cNvSpPr/>
          <p:nvPr/>
        </p:nvSpPr>
        <p:spPr>
          <a:xfrm>
            <a:off x="8979408" y="1481328"/>
            <a:ext cx="19659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979408" y="1481328"/>
            <a:ext cx="50292" cy="102412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62288" y="1609344"/>
            <a:ext cx="16002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NMPC</a:t>
            </a:r>
            <a:endParaRPr lang="en-US" sz="2500" dirty="0"/>
          </a:p>
        </p:txBody>
      </p:sp>
      <p:sp>
        <p:nvSpPr>
          <p:cNvPr id="24" name="Text 21"/>
          <p:cNvSpPr/>
          <p:nvPr/>
        </p:nvSpPr>
        <p:spPr>
          <a:xfrm>
            <a:off x="9162288" y="1975104"/>
            <a:ext cx="1600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 error móvil: 0.020 m</a:t>
            </a:r>
            <a:endParaRPr lang="en-US" sz="860" dirty="0"/>
          </a:p>
        </p:txBody>
      </p:sp>
      <p:sp>
        <p:nvSpPr>
          <p:cNvPr id="25" name="Text 22"/>
          <p:cNvSpPr/>
          <p:nvPr/>
        </p:nvSpPr>
        <p:spPr>
          <a:xfrm>
            <a:off x="9162288" y="2194560"/>
            <a:ext cx="16002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Bill en movimiento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6784848" y="2761488"/>
            <a:ext cx="19659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784848" y="2761488"/>
            <a:ext cx="50292" cy="10241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967728" y="2889504"/>
            <a:ext cx="16002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</a:t>
            </a:r>
            <a:endParaRPr lang="en-US" sz="2500" dirty="0"/>
          </a:p>
        </p:txBody>
      </p:sp>
      <p:sp>
        <p:nvSpPr>
          <p:cNvPr id="29" name="Text 26"/>
          <p:cNvSpPr/>
          <p:nvPr/>
        </p:nvSpPr>
        <p:spPr>
          <a:xfrm>
            <a:off x="6967728" y="3255264"/>
            <a:ext cx="1600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mando más suave: 0.048</a:t>
            </a:r>
            <a:endParaRPr lang="en-US" sz="860" dirty="0"/>
          </a:p>
        </p:txBody>
      </p:sp>
      <p:sp>
        <p:nvSpPr>
          <p:cNvPr id="30" name="Text 27"/>
          <p:cNvSpPr/>
          <p:nvPr/>
        </p:nvSpPr>
        <p:spPr>
          <a:xfrm>
            <a:off x="6967728" y="3474720"/>
            <a:ext cx="16002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 delta-u</a:t>
            </a:r>
            <a:endParaRPr lang="en-US" sz="740" dirty="0"/>
          </a:p>
        </p:txBody>
      </p:sp>
      <p:sp>
        <p:nvSpPr>
          <p:cNvPr id="31" name="Shape 28"/>
          <p:cNvSpPr/>
          <p:nvPr/>
        </p:nvSpPr>
        <p:spPr>
          <a:xfrm>
            <a:off x="8979408" y="2761488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979408" y="2761488"/>
            <a:ext cx="50292" cy="18288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180576" y="2898648"/>
            <a:ext cx="1563624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final [m]</a:t>
            </a:r>
            <a:endParaRPr lang="en-US" sz="830" dirty="0"/>
          </a:p>
        </p:txBody>
      </p:sp>
      <p:sp>
        <p:nvSpPr>
          <p:cNvPr id="34" name="Text 31"/>
          <p:cNvSpPr/>
          <p:nvPr/>
        </p:nvSpPr>
        <p:spPr>
          <a:xfrm>
            <a:off x="9180576" y="3236976"/>
            <a:ext cx="70774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</a:t>
            </a:r>
            <a:endParaRPr lang="en-US" sz="720" dirty="0"/>
          </a:p>
        </p:txBody>
      </p:sp>
      <p:sp>
        <p:nvSpPr>
          <p:cNvPr id="35" name="Shape 32"/>
          <p:cNvSpPr/>
          <p:nvPr/>
        </p:nvSpPr>
        <p:spPr>
          <a:xfrm>
            <a:off x="9998050" y="3268980"/>
            <a:ext cx="18562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998050" y="3268980"/>
            <a:ext cx="179059" cy="96012"/>
          </a:xfrm>
          <a:prstGeom prst="rect">
            <a:avLst/>
          </a:prstGeom>
          <a:solidFill>
            <a:srgbClr val="F4A261"/>
          </a:solidFill>
          <a:ln w="8890">
            <a:solidFill>
              <a:srgbClr val="F4A261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329977" y="3226003"/>
            <a:ext cx="432511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0.098</a:t>
            </a:r>
            <a:endParaRPr lang="en-US" sz="690" dirty="0"/>
          </a:p>
        </p:txBody>
      </p:sp>
      <p:sp>
        <p:nvSpPr>
          <p:cNvPr id="38" name="Text 35"/>
          <p:cNvSpPr/>
          <p:nvPr/>
        </p:nvSpPr>
        <p:spPr>
          <a:xfrm>
            <a:off x="9180576" y="3471062"/>
            <a:ext cx="70774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9998050" y="3503066"/>
            <a:ext cx="18562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998050" y="3503066"/>
            <a:ext cx="185623" cy="96012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0329977" y="3460090"/>
            <a:ext cx="432511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0.102</a:t>
            </a:r>
            <a:endParaRPr lang="en-US" sz="690" dirty="0"/>
          </a:p>
        </p:txBody>
      </p:sp>
      <p:sp>
        <p:nvSpPr>
          <p:cNvPr id="42" name="Text 39"/>
          <p:cNvSpPr/>
          <p:nvPr/>
        </p:nvSpPr>
        <p:spPr>
          <a:xfrm>
            <a:off x="9180576" y="3705149"/>
            <a:ext cx="70774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</a:t>
            </a:r>
            <a:endParaRPr lang="en-US" sz="720" dirty="0"/>
          </a:p>
        </p:txBody>
      </p:sp>
      <p:sp>
        <p:nvSpPr>
          <p:cNvPr id="43" name="Shape 40"/>
          <p:cNvSpPr/>
          <p:nvPr/>
        </p:nvSpPr>
        <p:spPr>
          <a:xfrm>
            <a:off x="9998050" y="3737153"/>
            <a:ext cx="18562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998050" y="3737153"/>
            <a:ext cx="57802" cy="96012"/>
          </a:xfrm>
          <a:prstGeom prst="rect">
            <a:avLst/>
          </a:prstGeom>
          <a:solidFill>
            <a:srgbClr val="B91C1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0329977" y="3694176"/>
            <a:ext cx="432511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0.032</a:t>
            </a:r>
            <a:endParaRPr lang="en-US" sz="690" dirty="0"/>
          </a:p>
        </p:txBody>
      </p:sp>
      <p:sp>
        <p:nvSpPr>
          <p:cNvPr id="46" name="Text 43"/>
          <p:cNvSpPr/>
          <p:nvPr/>
        </p:nvSpPr>
        <p:spPr>
          <a:xfrm>
            <a:off x="9180576" y="3939235"/>
            <a:ext cx="70774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LQR</a:t>
            </a:r>
            <a:endParaRPr lang="en-US" sz="720" dirty="0"/>
          </a:p>
        </p:txBody>
      </p:sp>
      <p:sp>
        <p:nvSpPr>
          <p:cNvPr id="47" name="Shape 44"/>
          <p:cNvSpPr/>
          <p:nvPr/>
        </p:nvSpPr>
        <p:spPr>
          <a:xfrm>
            <a:off x="9998050" y="3971239"/>
            <a:ext cx="18562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998050" y="3971239"/>
            <a:ext cx="157725" cy="96012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329977" y="3928262"/>
            <a:ext cx="432511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0.086</a:t>
            </a:r>
            <a:endParaRPr lang="en-US" sz="690" dirty="0"/>
          </a:p>
        </p:txBody>
      </p:sp>
      <p:sp>
        <p:nvSpPr>
          <p:cNvPr id="50" name="Text 47"/>
          <p:cNvSpPr/>
          <p:nvPr/>
        </p:nvSpPr>
        <p:spPr>
          <a:xfrm>
            <a:off x="9180576" y="4173322"/>
            <a:ext cx="70774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NMPC</a:t>
            </a:r>
            <a:endParaRPr lang="en-US" sz="720" dirty="0"/>
          </a:p>
        </p:txBody>
      </p:sp>
      <p:sp>
        <p:nvSpPr>
          <p:cNvPr id="51" name="Shape 48"/>
          <p:cNvSpPr/>
          <p:nvPr/>
        </p:nvSpPr>
        <p:spPr>
          <a:xfrm>
            <a:off x="9998050" y="4205326"/>
            <a:ext cx="18562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998050" y="4205326"/>
            <a:ext cx="161737" cy="96012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0329977" y="4162349"/>
            <a:ext cx="432511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0.089</a:t>
            </a:r>
            <a:endParaRPr lang="en-US" sz="690" dirty="0"/>
          </a:p>
        </p:txBody>
      </p:sp>
      <p:sp>
        <p:nvSpPr>
          <p:cNvPr id="54" name="Shape 51"/>
          <p:cNvSpPr/>
          <p:nvPr/>
        </p:nvSpPr>
        <p:spPr>
          <a:xfrm>
            <a:off x="6784848" y="4718304"/>
            <a:ext cx="4160520" cy="1024128"/>
          </a:xfrm>
          <a:prstGeom prst="roundRect">
            <a:avLst>
              <a:gd name="adj" fmla="val 10714"/>
            </a:avLst>
          </a:prstGeom>
          <a:solidFill>
            <a:srgbClr val="0A2342"/>
          </a:solidFill>
          <a:ln w="9525">
            <a:solidFill>
              <a:srgbClr val="0A2342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6986016" y="4882896"/>
            <a:ext cx="3758184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6986016" y="5157216"/>
            <a:ext cx="3758184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 minimiza error final; LQR/NMPC explican mejor seguimiento móvil y costo de actuación.</a:t>
            </a:r>
            <a:endParaRPr lang="en-US" sz="11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costo de control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ruedas muestran lo que el error no cuenta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trayectoria precisa puede ser peor si exige más energía, oscilación o cambios bruscos de signo.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658368" y="1417320"/>
            <a:ext cx="548640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" y="1417320"/>
            <a:ext cx="50292" cy="2423160"/>
          </a:xfrm>
          <a:prstGeom prst="rect">
            <a:avLst/>
          </a:prstGeom>
          <a:solidFill>
            <a:srgbClr val="E8552D"/>
          </a:solidFill>
          <a:ln w="12700">
            <a:solidFill>
              <a:srgbClr val="E8552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1536192"/>
            <a:ext cx="51572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potencia instantánea y acumulada</a:t>
            </a:r>
            <a:endParaRPr lang="en-US" sz="800" dirty="0"/>
          </a:p>
        </p:txBody>
      </p:sp>
      <p:pic>
        <p:nvPicPr>
          <p:cNvPr id="15" name="Image 0" descr="C:\Users\walla\Documents\Master VIU\C9_SistRobMoviles\viu-mrob-sistemas-roboticos-moviles\actividad2\coppeliasim\follower_pid_logs\follower_wheel_power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7359" y="1764792"/>
            <a:ext cx="3348419" cy="198424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58368" y="4133088"/>
            <a:ext cx="54864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58368" y="4133088"/>
            <a:ext cx="50292" cy="171907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51960"/>
            <a:ext cx="51572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suavidad del comando de ruedas</a:t>
            </a:r>
            <a:endParaRPr lang="en-US" sz="800" dirty="0"/>
          </a:p>
        </p:txBody>
      </p:sp>
      <p:pic>
        <p:nvPicPr>
          <p:cNvPr id="19" name="Image 1" descr="C:\Users\walla\Documents\Master VIU\C9_SistRobMoviles\viu-mrob-sistemas-roboticos-moviles\actividad2\coppeliasim\follower_pid_logs\follower_wheel_command_smooth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433" y="4480560"/>
            <a:ext cx="2160270" cy="128016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510528" y="1444752"/>
            <a:ext cx="21488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510528" y="1444752"/>
            <a:ext cx="50292" cy="1920240"/>
          </a:xfrm>
          <a:prstGeom prst="rect">
            <a:avLst/>
          </a:prstGeom>
          <a:solidFill>
            <a:srgbClr val="E8552D"/>
          </a:solidFill>
          <a:ln w="12700">
            <a:solidFill>
              <a:srgbClr val="E8552D">
                <a:alpha val="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11696" y="1581912"/>
            <a:ext cx="1746504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energía [J]</a:t>
            </a:r>
            <a:endParaRPr lang="en-US" sz="830" dirty="0"/>
          </a:p>
        </p:txBody>
      </p:sp>
      <p:sp>
        <p:nvSpPr>
          <p:cNvPr id="23" name="Text 19"/>
          <p:cNvSpPr/>
          <p:nvPr/>
        </p:nvSpPr>
        <p:spPr>
          <a:xfrm>
            <a:off x="6711696" y="1920240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</a:t>
            </a:r>
            <a:endParaRPr lang="en-US" sz="720" dirty="0"/>
          </a:p>
        </p:txBody>
      </p:sp>
      <p:sp>
        <p:nvSpPr>
          <p:cNvPr id="24" name="Shape 20"/>
          <p:cNvSpPr/>
          <p:nvPr/>
        </p:nvSpPr>
        <p:spPr>
          <a:xfrm>
            <a:off x="7595006" y="1952244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595006" y="1952244"/>
            <a:ext cx="128037" cy="96012"/>
          </a:xfrm>
          <a:prstGeom prst="rect">
            <a:avLst/>
          </a:prstGeom>
          <a:solidFill>
            <a:srgbClr val="F4A261"/>
          </a:solidFill>
          <a:ln w="8890">
            <a:solidFill>
              <a:srgbClr val="F4A261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8003743" y="1909267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50.0</a:t>
            </a:r>
            <a:endParaRPr lang="en-US" sz="690" dirty="0"/>
          </a:p>
        </p:txBody>
      </p:sp>
      <p:sp>
        <p:nvSpPr>
          <p:cNvPr id="27" name="Text 23"/>
          <p:cNvSpPr/>
          <p:nvPr/>
        </p:nvSpPr>
        <p:spPr>
          <a:xfrm>
            <a:off x="6711696" y="2172614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</a:t>
            </a:r>
            <a:endParaRPr lang="en-US" sz="720" dirty="0"/>
          </a:p>
        </p:txBody>
      </p:sp>
      <p:sp>
        <p:nvSpPr>
          <p:cNvPr id="28" name="Shape 24"/>
          <p:cNvSpPr/>
          <p:nvPr/>
        </p:nvSpPr>
        <p:spPr>
          <a:xfrm>
            <a:off x="7595006" y="2204618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595006" y="2204618"/>
            <a:ext cx="165124" cy="96012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003743" y="2161642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64.4</a:t>
            </a:r>
            <a:endParaRPr lang="en-US" sz="690" dirty="0"/>
          </a:p>
        </p:txBody>
      </p:sp>
      <p:sp>
        <p:nvSpPr>
          <p:cNvPr id="31" name="Text 27"/>
          <p:cNvSpPr/>
          <p:nvPr/>
        </p:nvSpPr>
        <p:spPr>
          <a:xfrm>
            <a:off x="6711696" y="2424989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</a:t>
            </a:r>
            <a:endParaRPr lang="en-US" sz="720" dirty="0"/>
          </a:p>
        </p:txBody>
      </p:sp>
      <p:sp>
        <p:nvSpPr>
          <p:cNvPr id="32" name="Shape 28"/>
          <p:cNvSpPr/>
          <p:nvPr/>
        </p:nvSpPr>
        <p:spPr>
          <a:xfrm>
            <a:off x="7595006" y="2456993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595006" y="2456993"/>
            <a:ext cx="262433" cy="96012"/>
          </a:xfrm>
          <a:prstGeom prst="rect">
            <a:avLst/>
          </a:prstGeom>
          <a:solidFill>
            <a:srgbClr val="B91C1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003743" y="2414016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102.4</a:t>
            </a:r>
            <a:endParaRPr lang="en-US" sz="690" dirty="0"/>
          </a:p>
        </p:txBody>
      </p:sp>
      <p:sp>
        <p:nvSpPr>
          <p:cNvPr id="35" name="Text 31"/>
          <p:cNvSpPr/>
          <p:nvPr/>
        </p:nvSpPr>
        <p:spPr>
          <a:xfrm>
            <a:off x="6711696" y="2677363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LQR</a:t>
            </a:r>
            <a:endParaRPr lang="en-US" sz="720" dirty="0"/>
          </a:p>
        </p:txBody>
      </p:sp>
      <p:sp>
        <p:nvSpPr>
          <p:cNvPr id="36" name="Shape 32"/>
          <p:cNvSpPr/>
          <p:nvPr/>
        </p:nvSpPr>
        <p:spPr>
          <a:xfrm>
            <a:off x="7595006" y="2709367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595006" y="2709367"/>
            <a:ext cx="236558" cy="96012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8003743" y="2666390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92.3</a:t>
            </a:r>
            <a:endParaRPr lang="en-US" sz="690" dirty="0"/>
          </a:p>
        </p:txBody>
      </p:sp>
      <p:sp>
        <p:nvSpPr>
          <p:cNvPr id="39" name="Text 35"/>
          <p:cNvSpPr/>
          <p:nvPr/>
        </p:nvSpPr>
        <p:spPr>
          <a:xfrm>
            <a:off x="6711696" y="2929738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NMPC</a:t>
            </a:r>
            <a:endParaRPr lang="en-US" sz="720" dirty="0"/>
          </a:p>
        </p:txBody>
      </p:sp>
      <p:sp>
        <p:nvSpPr>
          <p:cNvPr id="40" name="Shape 36"/>
          <p:cNvSpPr/>
          <p:nvPr/>
        </p:nvSpPr>
        <p:spPr>
          <a:xfrm>
            <a:off x="7595006" y="2961742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595006" y="2961742"/>
            <a:ext cx="197820" cy="96012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003743" y="2918765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77.2</a:t>
            </a:r>
            <a:endParaRPr lang="en-US" sz="690" dirty="0"/>
          </a:p>
        </p:txBody>
      </p:sp>
      <p:sp>
        <p:nvSpPr>
          <p:cNvPr id="43" name="Shape 39"/>
          <p:cNvSpPr/>
          <p:nvPr/>
        </p:nvSpPr>
        <p:spPr>
          <a:xfrm>
            <a:off x="8979408" y="1444752"/>
            <a:ext cx="21488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44" name="Shape 40"/>
          <p:cNvSpPr/>
          <p:nvPr/>
        </p:nvSpPr>
        <p:spPr>
          <a:xfrm>
            <a:off x="8979408" y="1444752"/>
            <a:ext cx="50292" cy="192024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9180576" y="1581912"/>
            <a:ext cx="1746504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variación total</a:t>
            </a:r>
            <a:endParaRPr lang="en-US" sz="830" dirty="0"/>
          </a:p>
        </p:txBody>
      </p:sp>
      <p:sp>
        <p:nvSpPr>
          <p:cNvPr id="46" name="Text 42"/>
          <p:cNvSpPr/>
          <p:nvPr/>
        </p:nvSpPr>
        <p:spPr>
          <a:xfrm>
            <a:off x="9180576" y="1920240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</a:t>
            </a:r>
            <a:endParaRPr lang="en-US" sz="720" dirty="0"/>
          </a:p>
        </p:txBody>
      </p:sp>
      <p:sp>
        <p:nvSpPr>
          <p:cNvPr id="47" name="Shape 43"/>
          <p:cNvSpPr/>
          <p:nvPr/>
        </p:nvSpPr>
        <p:spPr>
          <a:xfrm>
            <a:off x="10063886" y="1952244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0063886" y="1952244"/>
            <a:ext cx="25379" cy="96012"/>
          </a:xfrm>
          <a:prstGeom prst="rect">
            <a:avLst/>
          </a:prstGeom>
          <a:solidFill>
            <a:srgbClr val="F4A261"/>
          </a:solidFill>
          <a:ln w="8890">
            <a:solidFill>
              <a:srgbClr val="F4A261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10472623" y="1909267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36.0</a:t>
            </a:r>
            <a:endParaRPr lang="en-US" sz="690" dirty="0"/>
          </a:p>
        </p:txBody>
      </p:sp>
      <p:sp>
        <p:nvSpPr>
          <p:cNvPr id="50" name="Text 46"/>
          <p:cNvSpPr/>
          <p:nvPr/>
        </p:nvSpPr>
        <p:spPr>
          <a:xfrm>
            <a:off x="9180576" y="2172614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</a:t>
            </a:r>
            <a:endParaRPr lang="en-US" sz="720" dirty="0"/>
          </a:p>
        </p:txBody>
      </p:sp>
      <p:sp>
        <p:nvSpPr>
          <p:cNvPr id="51" name="Shape 47"/>
          <p:cNvSpPr/>
          <p:nvPr/>
        </p:nvSpPr>
        <p:spPr>
          <a:xfrm>
            <a:off x="10063886" y="2204618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10063886" y="2204618"/>
            <a:ext cx="94216" cy="96012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10472623" y="2161642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133.7</a:t>
            </a:r>
            <a:endParaRPr lang="en-US" sz="690" dirty="0"/>
          </a:p>
        </p:txBody>
      </p:sp>
      <p:sp>
        <p:nvSpPr>
          <p:cNvPr id="54" name="Text 50"/>
          <p:cNvSpPr/>
          <p:nvPr/>
        </p:nvSpPr>
        <p:spPr>
          <a:xfrm>
            <a:off x="9180576" y="2424989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</a:t>
            </a:r>
            <a:endParaRPr lang="en-US" sz="720" dirty="0"/>
          </a:p>
        </p:txBody>
      </p:sp>
      <p:sp>
        <p:nvSpPr>
          <p:cNvPr id="55" name="Shape 51"/>
          <p:cNvSpPr/>
          <p:nvPr/>
        </p:nvSpPr>
        <p:spPr>
          <a:xfrm>
            <a:off x="10063886" y="2456993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10063886" y="2456993"/>
            <a:ext cx="262433" cy="96012"/>
          </a:xfrm>
          <a:prstGeom prst="rect">
            <a:avLst/>
          </a:prstGeom>
          <a:solidFill>
            <a:srgbClr val="B91C1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57" name="Text 53"/>
          <p:cNvSpPr/>
          <p:nvPr/>
        </p:nvSpPr>
        <p:spPr>
          <a:xfrm>
            <a:off x="10472623" y="2414016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372.5</a:t>
            </a:r>
            <a:endParaRPr lang="en-US" sz="690" dirty="0"/>
          </a:p>
        </p:txBody>
      </p:sp>
      <p:sp>
        <p:nvSpPr>
          <p:cNvPr id="58" name="Text 54"/>
          <p:cNvSpPr/>
          <p:nvPr/>
        </p:nvSpPr>
        <p:spPr>
          <a:xfrm>
            <a:off x="9180576" y="2677363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LQR</a:t>
            </a:r>
            <a:endParaRPr lang="en-US" sz="720" dirty="0"/>
          </a:p>
        </p:txBody>
      </p:sp>
      <p:sp>
        <p:nvSpPr>
          <p:cNvPr id="59" name="Shape 55"/>
          <p:cNvSpPr/>
          <p:nvPr/>
        </p:nvSpPr>
        <p:spPr>
          <a:xfrm>
            <a:off x="10063886" y="2709367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10063886" y="2709367"/>
            <a:ext cx="85884" cy="96012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10472623" y="2666390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121.9</a:t>
            </a:r>
            <a:endParaRPr lang="en-US" sz="690" dirty="0"/>
          </a:p>
        </p:txBody>
      </p:sp>
      <p:sp>
        <p:nvSpPr>
          <p:cNvPr id="62" name="Text 58"/>
          <p:cNvSpPr/>
          <p:nvPr/>
        </p:nvSpPr>
        <p:spPr>
          <a:xfrm>
            <a:off x="9180576" y="2929738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NMPC</a:t>
            </a:r>
            <a:endParaRPr lang="en-US" sz="720" dirty="0"/>
          </a:p>
        </p:txBody>
      </p:sp>
      <p:sp>
        <p:nvSpPr>
          <p:cNvPr id="63" name="Shape 59"/>
          <p:cNvSpPr/>
          <p:nvPr/>
        </p:nvSpPr>
        <p:spPr>
          <a:xfrm>
            <a:off x="10063886" y="2961742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0063886" y="2961742"/>
            <a:ext cx="48061" cy="96012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65" name="Text 61"/>
          <p:cNvSpPr/>
          <p:nvPr/>
        </p:nvSpPr>
        <p:spPr>
          <a:xfrm>
            <a:off x="10472623" y="2918765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68.2</a:t>
            </a:r>
            <a:endParaRPr lang="en-US" sz="690" dirty="0"/>
          </a:p>
        </p:txBody>
      </p:sp>
      <p:sp>
        <p:nvSpPr>
          <p:cNvPr id="66" name="Shape 62"/>
          <p:cNvSpPr/>
          <p:nvPr/>
        </p:nvSpPr>
        <p:spPr>
          <a:xfrm>
            <a:off x="6510528" y="3675888"/>
            <a:ext cx="2148840" cy="1682496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67" name="Shape 63"/>
          <p:cNvSpPr/>
          <p:nvPr/>
        </p:nvSpPr>
        <p:spPr>
          <a:xfrm>
            <a:off x="6510528" y="3675888"/>
            <a:ext cx="50292" cy="1682496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68" name="Text 64"/>
          <p:cNvSpPr/>
          <p:nvPr/>
        </p:nvSpPr>
        <p:spPr>
          <a:xfrm>
            <a:off x="6711696" y="3813048"/>
            <a:ext cx="1746504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flips al detenerse Bill</a:t>
            </a:r>
            <a:endParaRPr lang="en-US" sz="830" dirty="0"/>
          </a:p>
        </p:txBody>
      </p:sp>
      <p:sp>
        <p:nvSpPr>
          <p:cNvPr id="69" name="Text 65"/>
          <p:cNvSpPr/>
          <p:nvPr/>
        </p:nvSpPr>
        <p:spPr>
          <a:xfrm>
            <a:off x="6711696" y="4151376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</a:t>
            </a:r>
            <a:endParaRPr lang="en-US" sz="720" dirty="0"/>
          </a:p>
        </p:txBody>
      </p:sp>
      <p:sp>
        <p:nvSpPr>
          <p:cNvPr id="70" name="Shape 66"/>
          <p:cNvSpPr/>
          <p:nvPr/>
        </p:nvSpPr>
        <p:spPr>
          <a:xfrm>
            <a:off x="7595006" y="4183380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7595006" y="4183380"/>
            <a:ext cx="111029" cy="96012"/>
          </a:xfrm>
          <a:prstGeom prst="rect">
            <a:avLst/>
          </a:prstGeom>
          <a:solidFill>
            <a:srgbClr val="F4A261"/>
          </a:solidFill>
          <a:ln w="8890">
            <a:solidFill>
              <a:srgbClr val="F4A261"/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8003743" y="4140403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690" dirty="0"/>
          </a:p>
        </p:txBody>
      </p:sp>
      <p:sp>
        <p:nvSpPr>
          <p:cNvPr id="73" name="Text 69"/>
          <p:cNvSpPr/>
          <p:nvPr/>
        </p:nvSpPr>
        <p:spPr>
          <a:xfrm>
            <a:off x="6711696" y="4356202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</a:t>
            </a:r>
            <a:endParaRPr lang="en-US" sz="720" dirty="0"/>
          </a:p>
        </p:txBody>
      </p:sp>
      <p:sp>
        <p:nvSpPr>
          <p:cNvPr id="74" name="Shape 70"/>
          <p:cNvSpPr/>
          <p:nvPr/>
        </p:nvSpPr>
        <p:spPr>
          <a:xfrm>
            <a:off x="7595006" y="4388206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7595006" y="4388206"/>
            <a:ext cx="161497" cy="96012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8003743" y="4345229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690" dirty="0"/>
          </a:p>
        </p:txBody>
      </p:sp>
      <p:sp>
        <p:nvSpPr>
          <p:cNvPr id="77" name="Text 73"/>
          <p:cNvSpPr/>
          <p:nvPr/>
        </p:nvSpPr>
        <p:spPr>
          <a:xfrm>
            <a:off x="6711696" y="4561027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</a:t>
            </a:r>
            <a:endParaRPr lang="en-US" sz="720" dirty="0"/>
          </a:p>
        </p:txBody>
      </p:sp>
      <p:sp>
        <p:nvSpPr>
          <p:cNvPr id="78" name="Shape 74"/>
          <p:cNvSpPr/>
          <p:nvPr/>
        </p:nvSpPr>
        <p:spPr>
          <a:xfrm>
            <a:off x="7595006" y="4593031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595006" y="4593031"/>
            <a:ext cx="262433" cy="96012"/>
          </a:xfrm>
          <a:prstGeom prst="rect">
            <a:avLst/>
          </a:prstGeom>
          <a:solidFill>
            <a:srgbClr val="B91C1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80" name="Text 76"/>
          <p:cNvSpPr/>
          <p:nvPr/>
        </p:nvSpPr>
        <p:spPr>
          <a:xfrm>
            <a:off x="8003743" y="4550054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690" dirty="0"/>
          </a:p>
        </p:txBody>
      </p:sp>
      <p:sp>
        <p:nvSpPr>
          <p:cNvPr id="81" name="Text 77"/>
          <p:cNvSpPr/>
          <p:nvPr/>
        </p:nvSpPr>
        <p:spPr>
          <a:xfrm>
            <a:off x="6711696" y="4765853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LQR</a:t>
            </a:r>
            <a:endParaRPr lang="en-US" sz="720" dirty="0"/>
          </a:p>
        </p:txBody>
      </p:sp>
      <p:sp>
        <p:nvSpPr>
          <p:cNvPr id="82" name="Shape 78"/>
          <p:cNvSpPr/>
          <p:nvPr/>
        </p:nvSpPr>
        <p:spPr>
          <a:xfrm>
            <a:off x="7595006" y="4797857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7595006" y="4797857"/>
            <a:ext cx="121123" cy="96012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84" name="Text 80"/>
          <p:cNvSpPr/>
          <p:nvPr/>
        </p:nvSpPr>
        <p:spPr>
          <a:xfrm>
            <a:off x="8003743" y="4754880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690" dirty="0"/>
          </a:p>
        </p:txBody>
      </p:sp>
      <p:sp>
        <p:nvSpPr>
          <p:cNvPr id="85" name="Text 81"/>
          <p:cNvSpPr/>
          <p:nvPr/>
        </p:nvSpPr>
        <p:spPr>
          <a:xfrm>
            <a:off x="6711696" y="4970678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NMPC</a:t>
            </a:r>
            <a:endParaRPr lang="en-US" sz="720" dirty="0"/>
          </a:p>
        </p:txBody>
      </p:sp>
      <p:sp>
        <p:nvSpPr>
          <p:cNvPr id="86" name="Shape 82"/>
          <p:cNvSpPr/>
          <p:nvPr/>
        </p:nvSpPr>
        <p:spPr>
          <a:xfrm>
            <a:off x="7595006" y="5002682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7595006" y="5002682"/>
            <a:ext cx="40374" cy="96012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88" name="Text 84"/>
          <p:cNvSpPr/>
          <p:nvPr/>
        </p:nvSpPr>
        <p:spPr>
          <a:xfrm>
            <a:off x="8003743" y="4959706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690" dirty="0"/>
          </a:p>
        </p:txBody>
      </p:sp>
      <p:sp>
        <p:nvSpPr>
          <p:cNvPr id="89" name="Shape 85"/>
          <p:cNvSpPr/>
          <p:nvPr/>
        </p:nvSpPr>
        <p:spPr>
          <a:xfrm>
            <a:off x="8979408" y="3749040"/>
            <a:ext cx="2148840" cy="1325880"/>
          </a:xfrm>
          <a:prstGeom prst="roundRect">
            <a:avLst>
              <a:gd name="adj" fmla="val 8276"/>
            </a:avLst>
          </a:prstGeom>
          <a:solidFill>
            <a:srgbClr val="0A2342"/>
          </a:solidFill>
          <a:ln w="9525">
            <a:solidFill>
              <a:srgbClr val="0A2342"/>
            </a:solidFill>
            <a:prstDash val="solid"/>
          </a:ln>
        </p:spPr>
      </p:sp>
      <p:sp>
        <p:nvSpPr>
          <p:cNvPr id="90" name="Text 86"/>
          <p:cNvSpPr/>
          <p:nvPr/>
        </p:nvSpPr>
        <p:spPr>
          <a:xfrm>
            <a:off x="9180576" y="3913632"/>
            <a:ext cx="1746504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INTERPRETACIÓN</a:t>
            </a:r>
            <a:endParaRPr lang="en-US" sz="720" dirty="0"/>
          </a:p>
        </p:txBody>
      </p:sp>
      <p:sp>
        <p:nvSpPr>
          <p:cNvPr id="91" name="Text 87"/>
          <p:cNvSpPr/>
          <p:nvPr/>
        </p:nvSpPr>
        <p:spPr>
          <a:xfrm>
            <a:off x="9180576" y="4187952"/>
            <a:ext cx="1746504" cy="7955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controlador se elige por precisión y costo físico. Error bajo sin suavidad no es una buena solución operativa.</a:t>
            </a:r>
            <a:endParaRPr lang="en-US" sz="11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342"/>
          </a:solidFill>
          <a:ln w="8890">
            <a:solidFill>
              <a:srgbClr val="0A2342"/>
            </a:solidFill>
            <a:prstDash val="solid"/>
          </a:ln>
        </p:spPr>
      </p:sp>
      <p:pic>
        <p:nvPicPr>
          <p:cNvPr id="3" name="Image 0" descr="C:\Users\walla\Documents\Master VIU\C9_SistRobMoviles\viu-mrob-sistemas-roboticos-moviles\actividad2\figures\phase1\phase1_layout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8513" y="384048"/>
            <a:ext cx="5802294" cy="57424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376672" y="0"/>
            <a:ext cx="6812280" cy="6858000"/>
          </a:xfrm>
          <a:prstGeom prst="rect">
            <a:avLst/>
          </a:prstGeom>
          <a:solidFill>
            <a:srgbClr val="0A2342">
              <a:alpha val="42000"/>
            </a:srgbClr>
          </a:solidFill>
          <a:ln w="8890">
            <a:solidFill>
              <a:srgbClr val="0A234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85800" y="74980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2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85800" y="1243584"/>
            <a:ext cx="521208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follower a misión en celda</a:t>
            </a:r>
            <a:endParaRPr lang="en-US" sz="3100" dirty="0"/>
          </a:p>
        </p:txBody>
      </p:sp>
      <p:sp>
        <p:nvSpPr>
          <p:cNvPr id="7" name="Text 4"/>
          <p:cNvSpPr/>
          <p:nvPr/>
        </p:nvSpPr>
        <p:spPr>
          <a:xfrm>
            <a:off x="713232" y="2212848"/>
            <a:ext cx="480060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D9E2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Ahora el robot debe cumplir tarea, esquivar obstáculos, volver a carga y dejar evidencia de localización/mapa.</a:t>
            </a:r>
            <a:endParaRPr lang="en-US" sz="1220" dirty="0"/>
          </a:p>
        </p:txBody>
      </p:sp>
      <p:sp>
        <p:nvSpPr>
          <p:cNvPr id="8" name="Shape 5"/>
          <p:cNvSpPr/>
          <p:nvPr/>
        </p:nvSpPr>
        <p:spPr>
          <a:xfrm>
            <a:off x="749808" y="3657600"/>
            <a:ext cx="4526280" cy="18288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3913632"/>
            <a:ext cx="10515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misión</a:t>
            </a:r>
            <a:endParaRPr lang="en-US" sz="840" dirty="0"/>
          </a:p>
        </p:txBody>
      </p:sp>
      <p:sp>
        <p:nvSpPr>
          <p:cNvPr id="10" name="Text 7"/>
          <p:cNvSpPr/>
          <p:nvPr/>
        </p:nvSpPr>
        <p:spPr>
          <a:xfrm>
            <a:off x="1920240" y="3904488"/>
            <a:ext cx="28346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pickup, manipulación y retorno a carga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49808" y="4443984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seguridad</a:t>
            </a:r>
            <a:endParaRPr lang="en-US" sz="840" dirty="0"/>
          </a:p>
        </p:txBody>
      </p:sp>
      <p:sp>
        <p:nvSpPr>
          <p:cNvPr id="12" name="Text 9"/>
          <p:cNvSpPr/>
          <p:nvPr/>
        </p:nvSpPr>
        <p:spPr>
          <a:xfrm>
            <a:off x="1920240" y="4434840"/>
            <a:ext cx="28346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obstáculos, riesgo y distancia mínima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49808" y="4974336"/>
            <a:ext cx="10515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 SLAM</a:t>
            </a:r>
            <a:endParaRPr lang="en-US" sz="840" dirty="0"/>
          </a:p>
        </p:txBody>
      </p:sp>
      <p:sp>
        <p:nvSpPr>
          <p:cNvPr id="14" name="Text 11"/>
          <p:cNvSpPr/>
          <p:nvPr/>
        </p:nvSpPr>
        <p:spPr>
          <a:xfrm>
            <a:off x="1920240" y="4965192"/>
            <a:ext cx="28346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pose estimada, mapa y landmarks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400800" y="6172200"/>
            <a:ext cx="3886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E5ED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superior de la celda y flujo B1/R1</a:t>
            </a:r>
            <a:endParaRPr lang="en-US" sz="860" dirty="0"/>
          </a:p>
        </p:txBody>
      </p:sp>
      <p:sp>
        <p:nvSpPr>
          <p:cNvPr id="16" name="Text 13"/>
          <p:cNvSpPr/>
          <p:nvPr/>
        </p:nvSpPr>
        <p:spPr>
          <a:xfrm>
            <a:off x="10835640" y="6327648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9E2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13/22</a:t>
            </a:r>
            <a:endParaRPr lang="en-US" sz="7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2DB7E5"/>
          </a:solidFill>
          <a:ln w="8890">
            <a:solidFill>
              <a:srgbClr val="2DB7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1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misión se ejecuta como máquina de estados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transición tiene condición de paso; así se auditan duración, batería, riesgo y control.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2DB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713232" y="1417320"/>
            <a:ext cx="72694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13232" y="1417320"/>
            <a:ext cx="50292" cy="4297680"/>
          </a:xfrm>
          <a:prstGeom prst="rect">
            <a:avLst/>
          </a:prstGeom>
          <a:solidFill>
            <a:srgbClr val="E8552D"/>
          </a:solidFill>
          <a:ln w="12700">
            <a:solidFill>
              <a:srgbClr val="E8552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1536192"/>
            <a:ext cx="694029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operativo R1</a:t>
            </a:r>
            <a:endParaRPr lang="en-US" sz="800" dirty="0"/>
          </a:p>
        </p:txBody>
      </p:sp>
      <p:pic>
        <p:nvPicPr>
          <p:cNvPr id="15" name="Image 0" descr="C:\Users\walla\Documents\Master VIU\C9_SistRobMoviles\viu-mrob-sistemas-roboticos-moviles\actividad2\slides\assets\phase1_state_machine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2148303"/>
            <a:ext cx="7123176" cy="3091746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75320" y="1572768"/>
            <a:ext cx="26974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275320" y="1572768"/>
            <a:ext cx="50292" cy="74980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476488" y="1719072"/>
            <a:ext cx="229514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 del bucle</a:t>
            </a:r>
            <a:endParaRPr lang="en-US" sz="940" dirty="0"/>
          </a:p>
        </p:txBody>
      </p:sp>
      <p:sp>
        <p:nvSpPr>
          <p:cNvPr id="19" name="Text 16"/>
          <p:cNvSpPr/>
          <p:nvPr/>
        </p:nvSpPr>
        <p:spPr>
          <a:xfrm>
            <a:off x="8476488" y="2048256"/>
            <a:ext cx="2295144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pose + Bill + sensores + batería</a:t>
            </a:r>
            <a:endParaRPr lang="en-US" sz="870" dirty="0"/>
          </a:p>
        </p:txBody>
      </p:sp>
      <p:sp>
        <p:nvSpPr>
          <p:cNvPr id="20" name="Shape 17"/>
          <p:cNvSpPr/>
          <p:nvPr/>
        </p:nvSpPr>
        <p:spPr>
          <a:xfrm>
            <a:off x="8275320" y="2651760"/>
            <a:ext cx="26974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275320" y="2651760"/>
            <a:ext cx="50292" cy="74980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476488" y="2798064"/>
            <a:ext cx="229514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Decisión</a:t>
            </a:r>
            <a:endParaRPr lang="en-US" sz="940" dirty="0"/>
          </a:p>
        </p:txBody>
      </p:sp>
      <p:sp>
        <p:nvSpPr>
          <p:cNvPr id="23" name="Text 20"/>
          <p:cNvSpPr/>
          <p:nvPr/>
        </p:nvSpPr>
        <p:spPr>
          <a:xfrm>
            <a:off x="8476488" y="3127248"/>
            <a:ext cx="2295144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task_state -&gt; planner_mode -&gt; controlador</a:t>
            </a:r>
            <a:endParaRPr lang="en-US" sz="870" dirty="0"/>
          </a:p>
        </p:txBody>
      </p:sp>
      <p:sp>
        <p:nvSpPr>
          <p:cNvPr id="24" name="Shape 21"/>
          <p:cNvSpPr/>
          <p:nvPr/>
        </p:nvSpPr>
        <p:spPr>
          <a:xfrm>
            <a:off x="8275320" y="3730752"/>
            <a:ext cx="26974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275320" y="3730752"/>
            <a:ext cx="50292" cy="7498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476488" y="3877056"/>
            <a:ext cx="229514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Salida auditable</a:t>
            </a:r>
            <a:endParaRPr lang="en-US" sz="940" dirty="0"/>
          </a:p>
        </p:txBody>
      </p:sp>
      <p:sp>
        <p:nvSpPr>
          <p:cNvPr id="27" name="Text 24"/>
          <p:cNvSpPr/>
          <p:nvPr/>
        </p:nvSpPr>
        <p:spPr>
          <a:xfrm>
            <a:off x="8476488" y="4206240"/>
            <a:ext cx="2295144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CSV: estado, ruedas, riesgo, error y batería</a:t>
            </a:r>
            <a:endParaRPr lang="en-US" sz="870" dirty="0"/>
          </a:p>
        </p:txBody>
      </p:sp>
      <p:sp>
        <p:nvSpPr>
          <p:cNvPr id="28" name="Shape 25"/>
          <p:cNvSpPr/>
          <p:nvPr/>
        </p:nvSpPr>
        <p:spPr>
          <a:xfrm>
            <a:off x="8275320" y="4873752"/>
            <a:ext cx="2697480" cy="566928"/>
          </a:xfrm>
          <a:prstGeom prst="roundRect">
            <a:avLst>
              <a:gd name="adj" fmla="val 19355"/>
            </a:avLst>
          </a:prstGeom>
          <a:solidFill>
            <a:srgbClr val="0A2342"/>
          </a:solidFill>
          <a:ln w="9525">
            <a:solidFill>
              <a:srgbClr val="0A234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503920" y="5047488"/>
            <a:ext cx="224028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Criterio: completar misión y terminar en CHARGING.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1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 gana el score operativo de la tarea completa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la celda ya no basta seguir bien: importan tiempo activo, batería, riesgo y estabilidad.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713232" y="1444752"/>
            <a:ext cx="3246120" cy="4407408"/>
          </a:xfrm>
          <a:prstGeom prst="roundRect">
            <a:avLst>
              <a:gd name="adj" fmla="val 3380"/>
            </a:avLst>
          </a:prstGeom>
          <a:solidFill>
            <a:srgbClr val="0A2342"/>
          </a:solidFill>
          <a:ln w="9525">
            <a:solidFill>
              <a:srgbClr val="0A23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1755648"/>
            <a:ext cx="20574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SELECCIONADO</a:t>
            </a:r>
            <a:endParaRPr lang="en-US" sz="780" dirty="0"/>
          </a:p>
        </p:txBody>
      </p:sp>
      <p:sp>
        <p:nvSpPr>
          <p:cNvPr id="14" name="Text 12"/>
          <p:cNvSpPr/>
          <p:nvPr/>
        </p:nvSpPr>
        <p:spPr>
          <a:xfrm>
            <a:off x="941832" y="2084832"/>
            <a:ext cx="1298448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87552" y="2788920"/>
            <a:ext cx="2331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 balance operativo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87552" y="3310128"/>
            <a:ext cx="237744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DFF7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0.274</a:t>
            </a:r>
            <a:endParaRPr lang="en-US" sz="1080" dirty="0"/>
          </a:p>
          <a:p>
            <a:pPr algn="l" indent="0" marL="0">
              <a:buNone/>
            </a:pPr>
            <a:r>
              <a:rPr lang="en-US" sz="1080" dirty="0">
                <a:solidFill>
                  <a:srgbClr val="DFF7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duración 110.3 s</a:t>
            </a:r>
            <a:endParaRPr lang="en-US" sz="1080" dirty="0"/>
          </a:p>
          <a:p>
            <a:pPr algn="l" indent="0" marL="0">
              <a:buNone/>
            </a:pPr>
            <a:r>
              <a:rPr lang="en-US" sz="1080" dirty="0">
                <a:solidFill>
                  <a:srgbClr val="DFF7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batería 19.5 %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987552" y="4315968"/>
            <a:ext cx="2359152" cy="9144"/>
          </a:xfrm>
          <a:prstGeom prst="line">
            <a:avLst/>
          </a:prstGeom>
          <a:noFill/>
          <a:ln w="17780">
            <a:solidFill>
              <a:srgbClr val="2A9D8F"/>
            </a:solidFill>
            <a:prstDash val="solid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87552" y="4590288"/>
            <a:ext cx="246888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Todos los modos completan la misión y terminan en CHARGING; PI reduce tiempo activo y variación sin sacrificar pose.</a:t>
            </a:r>
            <a:endParaRPr lang="en-US" sz="910" dirty="0"/>
          </a:p>
        </p:txBody>
      </p:sp>
      <p:sp>
        <p:nvSpPr>
          <p:cNvPr id="19" name="Text 17"/>
          <p:cNvSpPr/>
          <p:nvPr/>
        </p:nvSpPr>
        <p:spPr>
          <a:xfrm>
            <a:off x="4315968" y="1572768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126480" y="1600200"/>
            <a:ext cx="2240280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1600200"/>
            <a:ext cx="1069740" cy="109728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39912" y="1563624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0.274</a:t>
            </a:r>
            <a:endParaRPr lang="en-US" sz="780" dirty="0"/>
          </a:p>
        </p:txBody>
      </p:sp>
      <p:sp>
        <p:nvSpPr>
          <p:cNvPr id="23" name="Text 21"/>
          <p:cNvSpPr/>
          <p:nvPr/>
        </p:nvSpPr>
        <p:spPr>
          <a:xfrm>
            <a:off x="4315968" y="1901952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NMPC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126480" y="1929384"/>
            <a:ext cx="2240280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1929384"/>
            <a:ext cx="1273686" cy="109728"/>
          </a:xfrm>
          <a:prstGeom prst="rect">
            <a:avLst/>
          </a:prstGeom>
          <a:solidFill>
            <a:srgbClr val="D5DEE8"/>
          </a:solidFill>
          <a:ln w="8890">
            <a:solidFill>
              <a:srgbClr val="D5DE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39912" y="1892808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0.326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315968" y="2231136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LQR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126480" y="2258568"/>
            <a:ext cx="2240280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26480" y="2258568"/>
            <a:ext cx="1704629" cy="109728"/>
          </a:xfrm>
          <a:prstGeom prst="rect">
            <a:avLst/>
          </a:prstGeom>
          <a:solidFill>
            <a:srgbClr val="D5DEE8"/>
          </a:solidFill>
          <a:ln w="8890">
            <a:solidFill>
              <a:srgbClr val="D5DE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39912" y="2221992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0.436</a:t>
            </a:r>
            <a:endParaRPr lang="en-US" sz="780" dirty="0"/>
          </a:p>
        </p:txBody>
      </p:sp>
      <p:sp>
        <p:nvSpPr>
          <p:cNvPr id="31" name="Text 29"/>
          <p:cNvSpPr/>
          <p:nvPr/>
        </p:nvSpPr>
        <p:spPr>
          <a:xfrm>
            <a:off x="4315968" y="2560320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26480" y="2587752"/>
            <a:ext cx="2240280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2587752"/>
            <a:ext cx="2216838" cy="109728"/>
          </a:xfrm>
          <a:prstGeom prst="rect">
            <a:avLst/>
          </a:prstGeom>
          <a:solidFill>
            <a:srgbClr val="D5DEE8"/>
          </a:solidFill>
          <a:ln w="8890">
            <a:solidFill>
              <a:srgbClr val="D5DE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439912" y="2551176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0.567</a:t>
            </a:r>
            <a:endParaRPr lang="en-US" sz="780" dirty="0"/>
          </a:p>
        </p:txBody>
      </p:sp>
      <p:sp>
        <p:nvSpPr>
          <p:cNvPr id="35" name="Text 33"/>
          <p:cNvSpPr/>
          <p:nvPr/>
        </p:nvSpPr>
        <p:spPr>
          <a:xfrm>
            <a:off x="4315968" y="2889504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26480" y="2916936"/>
            <a:ext cx="2240280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26480" y="2916936"/>
            <a:ext cx="2240280" cy="109728"/>
          </a:xfrm>
          <a:prstGeom prst="rect">
            <a:avLst/>
          </a:prstGeom>
          <a:solidFill>
            <a:srgbClr val="D5DEE8"/>
          </a:solidFill>
          <a:ln w="8890">
            <a:solidFill>
              <a:srgbClr val="D5DE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39912" y="2880360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0.573</a:t>
            </a:r>
            <a:endParaRPr lang="en-US" sz="780" dirty="0"/>
          </a:p>
        </p:txBody>
      </p:sp>
      <p:sp>
        <p:nvSpPr>
          <p:cNvPr id="39" name="Shape 37"/>
          <p:cNvSpPr/>
          <p:nvPr/>
        </p:nvSpPr>
        <p:spPr>
          <a:xfrm>
            <a:off x="7059168" y="1417320"/>
            <a:ext cx="4160520" cy="2304288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059168" y="1417320"/>
            <a:ext cx="50292" cy="23042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23760" y="1536192"/>
            <a:ext cx="38313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métricas por modo</a:t>
            </a:r>
            <a:endParaRPr lang="en-US" sz="800" dirty="0"/>
          </a:p>
        </p:txBody>
      </p:sp>
      <p:pic>
        <p:nvPicPr>
          <p:cNvPr id="42" name="Image 0" descr="C:\Users\walla\Documents\Master VIU\C9_SistRobMoviles\viu-mrob-sistemas-roboticos-moviles\actividad2\coppeliasim\phase1_controller_logs\phase1_controller_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2951" y="1764792"/>
            <a:ext cx="3352954" cy="1865376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4315968" y="3273552"/>
            <a:ext cx="254203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4315968" y="3273552"/>
            <a:ext cx="50292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98848" y="3383280"/>
            <a:ext cx="118872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CRITERIOS DE SCORE</a:t>
            </a:r>
            <a:endParaRPr lang="en-US" sz="680" dirty="0"/>
          </a:p>
        </p:txBody>
      </p:sp>
      <p:sp>
        <p:nvSpPr>
          <p:cNvPr id="46" name="Text 43"/>
          <p:cNvSpPr/>
          <p:nvPr/>
        </p:nvSpPr>
        <p:spPr>
          <a:xfrm>
            <a:off x="4498848" y="3566160"/>
            <a:ext cx="205740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tiempo · batería · riesgo · pose · suavidad</a:t>
            </a:r>
            <a:endParaRPr lang="en-US" sz="680" dirty="0"/>
          </a:p>
        </p:txBody>
      </p:sp>
      <p:sp>
        <p:nvSpPr>
          <p:cNvPr id="47" name="Shape 44"/>
          <p:cNvSpPr/>
          <p:nvPr/>
        </p:nvSpPr>
        <p:spPr>
          <a:xfrm>
            <a:off x="4224528" y="3977640"/>
            <a:ext cx="37033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4224528" y="3977640"/>
            <a:ext cx="50292" cy="173736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4389120" y="4096512"/>
            <a:ext cx="3374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trayectoria y señales</a:t>
            </a:r>
            <a:endParaRPr lang="en-US" sz="800" dirty="0"/>
          </a:p>
        </p:txBody>
      </p:sp>
      <p:pic>
        <p:nvPicPr>
          <p:cNvPr id="50" name="Image 1" descr="C:\Users\walla\Documents\Master VIU\C9_SistRobMoviles\viu-mrob-sistemas-roboticos-moviles\actividad2\coppeliasim\phase1_controller_logs\phase1_controller_comparis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2890" y="4325112"/>
            <a:ext cx="2186596" cy="1298448"/>
          </a:xfrm>
          <a:prstGeom prst="rect">
            <a:avLst/>
          </a:prstGeom>
        </p:spPr>
      </p:pic>
      <p:sp>
        <p:nvSpPr>
          <p:cNvPr id="51" name="Shape 47"/>
          <p:cNvSpPr/>
          <p:nvPr/>
        </p:nvSpPr>
        <p:spPr>
          <a:xfrm>
            <a:off x="8156448" y="4005072"/>
            <a:ext cx="2834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52" name="Shape 48"/>
          <p:cNvSpPr/>
          <p:nvPr/>
        </p:nvSpPr>
        <p:spPr>
          <a:xfrm>
            <a:off x="8156448" y="4005072"/>
            <a:ext cx="50292" cy="132588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8357616" y="4151376"/>
            <a:ext cx="24323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 de score</a:t>
            </a:r>
            <a:endParaRPr lang="en-US" sz="940" dirty="0"/>
          </a:p>
        </p:txBody>
      </p:sp>
      <p:sp>
        <p:nvSpPr>
          <p:cNvPr id="54" name="Text 50"/>
          <p:cNvSpPr/>
          <p:nvPr/>
        </p:nvSpPr>
        <p:spPr>
          <a:xfrm>
            <a:off x="8357616" y="4480560"/>
            <a:ext cx="2432304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score = combinación normalizada de duración, batería, riesgo, pose y suavidad</a:t>
            </a:r>
            <a:endParaRPr lang="en-US" sz="8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Estimación, mapa, planificación y control en ciclo cerrado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estimación alimenta el planner local y el planner vuelve al control diferencial de ruedas.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640080" y="1444752"/>
            <a:ext cx="74066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1444752"/>
            <a:ext cx="50292" cy="443484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1563624"/>
            <a:ext cx="707745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de estimación y control</a:t>
            </a:r>
            <a:endParaRPr lang="en-US" sz="800" dirty="0"/>
          </a:p>
        </p:txBody>
      </p:sp>
      <p:pic>
        <p:nvPicPr>
          <p:cNvPr id="15" name="Image 0" descr="C:\Users\walla\Documents\Master VIU\C9_SistRobMoviles\viu-mrob-sistemas-roboticos-moviles\actividad2\slides\assets\phase1_estimator_pipeline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439745"/>
            <a:ext cx="7260336" cy="2700886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366760" y="1627632"/>
            <a:ext cx="257860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366760" y="1627632"/>
            <a:ext cx="50292" cy="8686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567928" y="1773936"/>
            <a:ext cx="21762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Predicción</a:t>
            </a:r>
            <a:endParaRPr lang="en-US" sz="940" dirty="0"/>
          </a:p>
        </p:txBody>
      </p:sp>
      <p:sp>
        <p:nvSpPr>
          <p:cNvPr id="19" name="Text 16"/>
          <p:cNvSpPr/>
          <p:nvPr/>
        </p:nvSpPr>
        <p:spPr>
          <a:xfrm>
            <a:off x="8567928" y="2103120"/>
            <a:ext cx="217627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x_k^- = f(x_{k-1}, u_k)</a:t>
            </a:r>
            <a:endParaRPr lang="en-US" sz="820" dirty="0"/>
          </a:p>
          <a:p>
            <a:pPr algn="l" indent="0" marL="0">
              <a:buNone/>
            </a:pPr>
            <a:r>
              <a:rPr lang="en-US" sz="82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P_k^- = F_k P_{k-1} F_k^T + Q_k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8366760" y="2788920"/>
            <a:ext cx="257860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366760" y="2788920"/>
            <a:ext cx="50292" cy="109728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567928" y="2935224"/>
            <a:ext cx="21762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Corrección</a:t>
            </a:r>
            <a:endParaRPr lang="en-US" sz="940" dirty="0"/>
          </a:p>
        </p:txBody>
      </p:sp>
      <p:sp>
        <p:nvSpPr>
          <p:cNvPr id="23" name="Text 20"/>
          <p:cNvSpPr/>
          <p:nvPr/>
        </p:nvSpPr>
        <p:spPr>
          <a:xfrm>
            <a:off x="8567928" y="3264408"/>
            <a:ext cx="217627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K_k = P_k^- H_k^T (H_k P_k^- H_k^T + R_k)^-1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x_k = x_k^- + K_k(z_k - h(x_k^-))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8366760" y="4224528"/>
            <a:ext cx="2578608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366760" y="4224528"/>
            <a:ext cx="50292" cy="8229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567928" y="4370832"/>
            <a:ext cx="21762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</a:t>
            </a:r>
            <a:endParaRPr lang="en-US" sz="940" dirty="0"/>
          </a:p>
        </p:txBody>
      </p:sp>
      <p:sp>
        <p:nvSpPr>
          <p:cNvPr id="27" name="Text 24"/>
          <p:cNvSpPr/>
          <p:nvPr/>
        </p:nvSpPr>
        <p:spPr>
          <a:xfrm>
            <a:off x="8567928" y="4700016"/>
            <a:ext cx="217627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landmark/celda -&gt; planner -&gt; waypoint local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LiDAR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GMapping, Hector y Cartographer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formas de usar lecturas tipo LiDAR simuladas sobre el mismo recorrido.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685800" y="1508760"/>
            <a:ext cx="3246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85800" y="1508760"/>
            <a:ext cx="50292" cy="114300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" y="1655064"/>
            <a:ext cx="284378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LiDAR</a:t>
            </a:r>
            <a:endParaRPr lang="en-US" sz="940" dirty="0"/>
          </a:p>
        </p:txBody>
      </p:sp>
      <p:sp>
        <p:nvSpPr>
          <p:cNvPr id="15" name="Text 13"/>
          <p:cNvSpPr/>
          <p:nvPr/>
        </p:nvSpPr>
        <p:spPr>
          <a:xfrm>
            <a:off x="886968" y="1984248"/>
            <a:ext cx="2843784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z_i = [rho_i, phi_i]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p_i^W = R(theta)p_i^R + p_R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80560" y="1508760"/>
            <a:ext cx="3246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80560" y="1508760"/>
            <a:ext cx="50292" cy="1143000"/>
          </a:xfrm>
          <a:prstGeom prst="rect">
            <a:avLst/>
          </a:prstGeom>
          <a:solidFill>
            <a:srgbClr val="E8552D"/>
          </a:solidFill>
          <a:ln w="12700">
            <a:solidFill>
              <a:srgbClr val="E8552D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81728" y="1655064"/>
            <a:ext cx="284378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GMapping</a:t>
            </a:r>
            <a:endParaRPr lang="en-US" sz="940" dirty="0"/>
          </a:p>
        </p:txBody>
      </p:sp>
      <p:sp>
        <p:nvSpPr>
          <p:cNvPr id="19" name="Text 17"/>
          <p:cNvSpPr/>
          <p:nvPr/>
        </p:nvSpPr>
        <p:spPr>
          <a:xfrm>
            <a:off x="4681728" y="1984248"/>
            <a:ext cx="2843784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l_t(m)=l_{t-1}(m)+logit(P(m|z_t,x_t))-l_0</a:t>
            </a:r>
            <a:endParaRPr lang="en-US" sz="870" dirty="0"/>
          </a:p>
          <a:p>
            <a:pPr algn="l" indent="0" marL="0">
              <a:buNone/>
            </a:pPr>
            <a:endParaRPr lang="en-US" sz="870" dirty="0"/>
          </a:p>
          <a:p>
            <a:pPr algn="l" indent="0" marL="0">
              <a:buNone/>
            </a:pPr>
            <a:r>
              <a:rPr lang="en-US" sz="87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actualiza grilla de ocupación.</a:t>
            </a:r>
            <a:endParaRPr lang="en-US" sz="870" dirty="0"/>
          </a:p>
        </p:txBody>
      </p:sp>
      <p:sp>
        <p:nvSpPr>
          <p:cNvPr id="20" name="Shape 18"/>
          <p:cNvSpPr/>
          <p:nvPr/>
        </p:nvSpPr>
        <p:spPr>
          <a:xfrm>
            <a:off x="8275320" y="1508760"/>
            <a:ext cx="3246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75320" y="1508760"/>
            <a:ext cx="50292" cy="1143000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76488" y="1655064"/>
            <a:ext cx="284378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Hector</a:t>
            </a:r>
            <a:endParaRPr lang="en-US" sz="940" dirty="0"/>
          </a:p>
        </p:txBody>
      </p:sp>
      <p:sp>
        <p:nvSpPr>
          <p:cNvPr id="23" name="Text 21"/>
          <p:cNvSpPr/>
          <p:nvPr/>
        </p:nvSpPr>
        <p:spPr>
          <a:xfrm>
            <a:off x="8476488" y="1984248"/>
            <a:ext cx="2843784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x* = argmin_x sum_i [1 - M(T(x)p_i)]^2</a:t>
            </a:r>
            <a:endParaRPr lang="en-US" sz="870" dirty="0"/>
          </a:p>
          <a:p>
            <a:pPr algn="l" indent="0" marL="0">
              <a:buNone/>
            </a:pPr>
            <a:endParaRPr lang="en-US" sz="870" dirty="0"/>
          </a:p>
          <a:p>
            <a:pPr algn="l" indent="0" marL="0">
              <a:buNone/>
            </a:pPr>
            <a:r>
              <a:rPr lang="en-US" sz="87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scan matching contra grilla.</a:t>
            </a:r>
            <a:endParaRPr lang="en-US" sz="870" dirty="0"/>
          </a:p>
        </p:txBody>
      </p:sp>
      <p:sp>
        <p:nvSpPr>
          <p:cNvPr id="24" name="Shape 22"/>
          <p:cNvSpPr/>
          <p:nvPr/>
        </p:nvSpPr>
        <p:spPr>
          <a:xfrm>
            <a:off x="685800" y="3127248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85800" y="3127248"/>
            <a:ext cx="50292" cy="123444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" y="3273552"/>
            <a:ext cx="284378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Cartographer</a:t>
            </a:r>
            <a:endParaRPr lang="en-US" sz="940" dirty="0"/>
          </a:p>
        </p:txBody>
      </p:sp>
      <p:sp>
        <p:nvSpPr>
          <p:cNvPr id="27" name="Text 25"/>
          <p:cNvSpPr/>
          <p:nvPr/>
        </p:nvSpPr>
        <p:spPr>
          <a:xfrm>
            <a:off x="886968" y="3602736"/>
            <a:ext cx="2843784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scans locales -&gt; submap</a:t>
            </a:r>
            <a:endParaRPr lang="en-US" sz="920" dirty="0"/>
          </a:p>
          <a:p>
            <a:pPr algn="l" indent="0" marL="0">
              <a:buNone/>
            </a:pPr>
            <a:r>
              <a:rPr lang="en-US" sz="92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scan-to-submap constraints</a:t>
            </a:r>
            <a:endParaRPr lang="en-US" sz="920" dirty="0"/>
          </a:p>
          <a:p>
            <a:pPr algn="l" indent="0" marL="0">
              <a:buNone/>
            </a:pPr>
            <a:r>
              <a:rPr lang="en-US" sz="92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loop closure si error &lt; umbral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480560" y="2999232"/>
            <a:ext cx="32461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480560" y="2999232"/>
            <a:ext cx="50292" cy="19202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45152" y="3118104"/>
            <a:ext cx="29169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resumen visual</a:t>
            </a:r>
            <a:endParaRPr lang="en-US" sz="800" dirty="0"/>
          </a:p>
        </p:txBody>
      </p:sp>
      <p:pic>
        <p:nvPicPr>
          <p:cNvPr id="31" name="Image 0" descr="C:\Users\walla\Documents\Master VIU\C9_SistRobMoviles\viu-mrob-sistemas-roboticos-moviles\actividad2\coppeliasim\phase1_slam_logs\phase1_slam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6292" y="3346704"/>
            <a:ext cx="2494657" cy="1481328"/>
          </a:xfrm>
          <a:prstGeom prst="rect">
            <a:avLst/>
          </a:prstGeom>
        </p:spPr>
      </p:pic>
      <p:sp>
        <p:nvSpPr>
          <p:cNvPr id="32" name="Shape 29"/>
          <p:cNvSpPr/>
          <p:nvPr/>
        </p:nvSpPr>
        <p:spPr>
          <a:xfrm>
            <a:off x="8275320" y="2999232"/>
            <a:ext cx="32461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275320" y="2999232"/>
            <a:ext cx="50292" cy="1920240"/>
          </a:xfrm>
          <a:prstGeom prst="rect">
            <a:avLst/>
          </a:prstGeom>
          <a:solidFill>
            <a:srgbClr val="E8552D"/>
          </a:solidFill>
          <a:ln w="12700">
            <a:solidFill>
              <a:srgbClr val="E8552D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439912" y="3118104"/>
            <a:ext cx="29169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línea de tiempo</a:t>
            </a:r>
            <a:endParaRPr lang="en-US" sz="800" dirty="0"/>
          </a:p>
        </p:txBody>
      </p:sp>
      <p:pic>
        <p:nvPicPr>
          <p:cNvPr id="35" name="Image 1" descr="C:\Users\walla\Documents\Master VIU\C9_SistRobMoviles\viu-mrob-sistemas-roboticos-moviles\actividad2\coppeliasim\phase1_slam_logs\phase1_slam_task_tim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1052" y="3346704"/>
            <a:ext cx="2494657" cy="1481328"/>
          </a:xfrm>
          <a:prstGeom prst="rect">
            <a:avLst/>
          </a:prstGeom>
        </p:spPr>
      </p:pic>
      <p:sp>
        <p:nvSpPr>
          <p:cNvPr id="36" name="Shape 32"/>
          <p:cNvSpPr/>
          <p:nvPr/>
        </p:nvSpPr>
        <p:spPr>
          <a:xfrm>
            <a:off x="960120" y="5532120"/>
            <a:ext cx="101955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960120" y="5532120"/>
            <a:ext cx="50292" cy="65836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1161288" y="5678424"/>
            <a:ext cx="979322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Salida comparable</a:t>
            </a:r>
            <a:endParaRPr lang="en-US" sz="940" dirty="0"/>
          </a:p>
        </p:txBody>
      </p:sp>
      <p:sp>
        <p:nvSpPr>
          <p:cNvPr id="39" name="Text 35"/>
          <p:cNvSpPr/>
          <p:nvPr/>
        </p:nvSpPr>
        <p:spPr>
          <a:xfrm>
            <a:off x="1161288" y="6007608"/>
            <a:ext cx="9793224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RMSE + P95 + max + celdas/landmarks/submaps + batería.</a:t>
            </a:r>
            <a:endParaRPr lang="en-US" sz="84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 landmarks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Predicción, asociación y corrección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modo Kalman landmark mantiene landmarks puntuales y corrige la pose cuando la medición se asocia con un punto conocido.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685800" y="1508760"/>
            <a:ext cx="33375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85800" y="1508760"/>
            <a:ext cx="50292" cy="117043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" y="1655064"/>
            <a:ext cx="293522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· Predicción</a:t>
            </a:r>
            <a:endParaRPr lang="en-US" sz="940" dirty="0"/>
          </a:p>
        </p:txBody>
      </p:sp>
      <p:sp>
        <p:nvSpPr>
          <p:cNvPr id="15" name="Text 13"/>
          <p:cNvSpPr/>
          <p:nvPr/>
        </p:nvSpPr>
        <p:spPr>
          <a:xfrm>
            <a:off x="886968" y="1984248"/>
            <a:ext cx="2935224" cy="6035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x_k^- = f(x_{k-1}, u_k)</a:t>
            </a:r>
            <a:endParaRPr lang="en-US" sz="980" dirty="0"/>
          </a:p>
          <a:p>
            <a:pPr algn="l" indent="0" marL="0">
              <a:buNone/>
            </a:pPr>
            <a:r>
              <a:rPr lang="en-US" sz="98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P_k^- = F_k P_{k-1} F_k^T + Q_k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4434840" y="1508760"/>
            <a:ext cx="33375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34840" y="1508760"/>
            <a:ext cx="50292" cy="1170432"/>
          </a:xfrm>
          <a:prstGeom prst="rect">
            <a:avLst/>
          </a:prstGeom>
          <a:solidFill>
            <a:srgbClr val="E8552D"/>
          </a:solidFill>
          <a:ln w="12700">
            <a:solidFill>
              <a:srgbClr val="E8552D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36008" y="1655064"/>
            <a:ext cx="293522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· Asociación</a:t>
            </a:r>
            <a:endParaRPr lang="en-US" sz="940" dirty="0"/>
          </a:p>
        </p:txBody>
      </p:sp>
      <p:sp>
        <p:nvSpPr>
          <p:cNvPr id="19" name="Text 17"/>
          <p:cNvSpPr/>
          <p:nvPr/>
        </p:nvSpPr>
        <p:spPr>
          <a:xfrm>
            <a:off x="4636008" y="1984248"/>
            <a:ext cx="2935224" cy="6035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si ||z_i - l_j|| &lt; umbral: usar j</a:t>
            </a:r>
            <a:endParaRPr lang="en-US" sz="980" dirty="0"/>
          </a:p>
          <a:p>
            <a:pPr algn="l" indent="0" marL="0">
              <a:buNone/>
            </a:pPr>
            <a:r>
              <a:rPr lang="en-US" sz="98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si no: crear nuevo landmark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8183880" y="1508760"/>
            <a:ext cx="33375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83880" y="1508760"/>
            <a:ext cx="50292" cy="117043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85048" y="1655064"/>
            <a:ext cx="293522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· Corrección</a:t>
            </a:r>
            <a:endParaRPr lang="en-US" sz="940" dirty="0"/>
          </a:p>
        </p:txBody>
      </p:sp>
      <p:sp>
        <p:nvSpPr>
          <p:cNvPr id="23" name="Text 21"/>
          <p:cNvSpPr/>
          <p:nvPr/>
        </p:nvSpPr>
        <p:spPr>
          <a:xfrm>
            <a:off x="8385048" y="1984248"/>
            <a:ext cx="2935224" cy="6035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K_k = P_k^-H_k^T(H_kP_k^-H_k^T+R_k)^-1</a:t>
            </a:r>
            <a:endParaRPr lang="en-US" sz="870" dirty="0"/>
          </a:p>
          <a:p>
            <a:pPr algn="l" indent="0" marL="0">
              <a:buNone/>
            </a:pPr>
            <a:r>
              <a:rPr lang="en-US" sz="87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x_k = x_k^- + K_k(z_k-h(x_k^-))</a:t>
            </a:r>
            <a:endParaRPr lang="en-US" sz="870" dirty="0"/>
          </a:p>
        </p:txBody>
      </p:sp>
      <p:sp>
        <p:nvSpPr>
          <p:cNvPr id="24" name="Shape 22"/>
          <p:cNvSpPr/>
          <p:nvPr/>
        </p:nvSpPr>
        <p:spPr>
          <a:xfrm>
            <a:off x="841248" y="3218688"/>
            <a:ext cx="5166360" cy="2212848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41248" y="3218688"/>
            <a:ext cx="50292" cy="221284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" y="3337560"/>
            <a:ext cx="483717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desempeño del estimador</a:t>
            </a:r>
            <a:endParaRPr lang="en-US" sz="800" dirty="0"/>
          </a:p>
        </p:txBody>
      </p:sp>
      <p:pic>
        <p:nvPicPr>
          <p:cNvPr id="27" name="Image 0" descr="C:\Users\walla\Documents\Master VIU\C9_SistRobMoviles\viu-mrob-sistemas-roboticos-moviles\actividad2\coppeliasim\phase1_slam_logs\phase1_slam_estimator_perform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0714" y="3566160"/>
            <a:ext cx="2987428" cy="1773936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446520" y="3401568"/>
            <a:ext cx="44348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446520" y="3401568"/>
            <a:ext cx="50292" cy="14447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647688" y="3547872"/>
            <a:ext cx="40325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</a:t>
            </a:r>
            <a:endParaRPr lang="en-US" sz="940" dirty="0"/>
          </a:p>
        </p:txBody>
      </p:sp>
      <p:sp>
        <p:nvSpPr>
          <p:cNvPr id="31" name="Text 28"/>
          <p:cNvSpPr/>
          <p:nvPr/>
        </p:nvSpPr>
        <p:spPr>
          <a:xfrm>
            <a:off x="6647688" y="3877056"/>
            <a:ext cx="4032504" cy="8778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102033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Kalman landmarks obtiene el menor RMSE en esta celda compacta. Cartographer representa mejor estructura de mapa por submaps y cierre de ciclo.</a:t>
            </a:r>
            <a:endParaRPr lang="en-US" sz="920" dirty="0"/>
          </a:p>
        </p:txBody>
      </p:sp>
      <p:sp>
        <p:nvSpPr>
          <p:cNvPr id="32" name="Text 29"/>
          <p:cNvSpPr/>
          <p:nvPr/>
        </p:nvSpPr>
        <p:spPr>
          <a:xfrm>
            <a:off x="6629400" y="5212080"/>
            <a:ext cx="16459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0.0316</a:t>
            </a:r>
            <a:endParaRPr lang="en-US" sz="2700" dirty="0"/>
          </a:p>
        </p:txBody>
      </p:sp>
      <p:sp>
        <p:nvSpPr>
          <p:cNvPr id="33" name="Text 30"/>
          <p:cNvSpPr/>
          <p:nvPr/>
        </p:nvSpPr>
        <p:spPr>
          <a:xfrm>
            <a:off x="6629400" y="5650992"/>
            <a:ext cx="16459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 RMSE [m]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8549640" y="5212080"/>
            <a:ext cx="16459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2700" dirty="0"/>
          </a:p>
        </p:txBody>
      </p:sp>
      <p:sp>
        <p:nvSpPr>
          <p:cNvPr id="35" name="Text 32"/>
          <p:cNvSpPr/>
          <p:nvPr/>
        </p:nvSpPr>
        <p:spPr>
          <a:xfrm>
            <a:off x="8549640" y="5650992"/>
            <a:ext cx="16459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landmarks finales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 SLAM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Cuatro modos en la misma celda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Implementaciones reducidas en CoppeliaSim, comparadas con las mismas señales y recorrido.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713232" y="1444752"/>
            <a:ext cx="2788920" cy="2212848"/>
          </a:xfrm>
          <a:prstGeom prst="roundRect">
            <a:avLst>
              <a:gd name="adj" fmla="val 4959"/>
            </a:avLst>
          </a:prstGeom>
          <a:solidFill>
            <a:srgbClr val="0A2342"/>
          </a:solidFill>
          <a:ln w="9525">
            <a:solidFill>
              <a:srgbClr val="0A23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1719072"/>
            <a:ext cx="109728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 RMSE</a:t>
            </a:r>
            <a:endParaRPr lang="en-US" sz="760" dirty="0"/>
          </a:p>
        </p:txBody>
      </p:sp>
      <p:sp>
        <p:nvSpPr>
          <p:cNvPr id="14" name="Text 12"/>
          <p:cNvSpPr/>
          <p:nvPr/>
        </p:nvSpPr>
        <p:spPr>
          <a:xfrm>
            <a:off x="932688" y="2029968"/>
            <a:ext cx="19202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Kalman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32688" y="2542032"/>
            <a:ext cx="1207008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0.0316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2157984" y="2724912"/>
            <a:ext cx="73152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DFF7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 RMSE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32688" y="3127248"/>
            <a:ext cx="178308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DFF7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0.0496 · max 0.0643</a:t>
            </a:r>
            <a:endParaRPr lang="en-US" sz="770" dirty="0"/>
          </a:p>
        </p:txBody>
      </p:sp>
      <p:sp>
        <p:nvSpPr>
          <p:cNvPr id="18" name="Shape 16"/>
          <p:cNvSpPr/>
          <p:nvPr/>
        </p:nvSpPr>
        <p:spPr>
          <a:xfrm>
            <a:off x="3840480" y="1481328"/>
            <a:ext cx="1572768" cy="2084832"/>
          </a:xfrm>
          <a:prstGeom prst="roundRect">
            <a:avLst>
              <a:gd name="adj" fmla="val 6977"/>
            </a:avLst>
          </a:prstGeom>
          <a:solidFill>
            <a:srgbClr val="EAF7F4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68496" y="1682496"/>
            <a:ext cx="329184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#1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968496" y="1920240"/>
            <a:ext cx="120700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8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Kalman</a:t>
            </a:r>
            <a:endParaRPr lang="en-US" sz="1480" dirty="0"/>
          </a:p>
        </p:txBody>
      </p:sp>
      <p:sp>
        <p:nvSpPr>
          <p:cNvPr id="21" name="Text 19"/>
          <p:cNvSpPr/>
          <p:nvPr/>
        </p:nvSpPr>
        <p:spPr>
          <a:xfrm>
            <a:off x="3968496" y="2395728"/>
            <a:ext cx="8595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0.0316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4773168" y="2496312"/>
            <a:ext cx="475488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 [m]</a:t>
            </a:r>
            <a:endParaRPr lang="en-US" sz="670" dirty="0"/>
          </a:p>
        </p:txBody>
      </p:sp>
      <p:sp>
        <p:nvSpPr>
          <p:cNvPr id="23" name="Text 21"/>
          <p:cNvSpPr/>
          <p:nvPr/>
        </p:nvSpPr>
        <p:spPr>
          <a:xfrm>
            <a:off x="3968496" y="2834640"/>
            <a:ext cx="109728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0.0496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968496" y="3090672"/>
            <a:ext cx="120700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features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5687568" y="1481328"/>
            <a:ext cx="1572768" cy="2084832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15584" y="1682496"/>
            <a:ext cx="329184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815584" y="1920240"/>
            <a:ext cx="120700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8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Cartographer</a:t>
            </a:r>
            <a:endParaRPr lang="en-US" sz="1480" dirty="0"/>
          </a:p>
        </p:txBody>
      </p:sp>
      <p:sp>
        <p:nvSpPr>
          <p:cNvPr id="28" name="Text 26"/>
          <p:cNvSpPr/>
          <p:nvPr/>
        </p:nvSpPr>
        <p:spPr>
          <a:xfrm>
            <a:off x="5815584" y="2395728"/>
            <a:ext cx="8595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0.0384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6620256" y="2496312"/>
            <a:ext cx="475488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 [m]</a:t>
            </a:r>
            <a:endParaRPr lang="en-US" sz="670" dirty="0"/>
          </a:p>
        </p:txBody>
      </p:sp>
      <p:sp>
        <p:nvSpPr>
          <p:cNvPr id="30" name="Text 28"/>
          <p:cNvSpPr/>
          <p:nvPr/>
        </p:nvSpPr>
        <p:spPr>
          <a:xfrm>
            <a:off x="5815584" y="2834640"/>
            <a:ext cx="109728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0.0567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815584" y="3090672"/>
            <a:ext cx="120700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submaps · 1 cierre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7534656" y="1481328"/>
            <a:ext cx="1572768" cy="2084832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62672" y="1682496"/>
            <a:ext cx="329184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#3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662672" y="1920240"/>
            <a:ext cx="120700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8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Hector</a:t>
            </a:r>
            <a:endParaRPr lang="en-US" sz="1480" dirty="0"/>
          </a:p>
        </p:txBody>
      </p:sp>
      <p:sp>
        <p:nvSpPr>
          <p:cNvPr id="35" name="Text 33"/>
          <p:cNvSpPr/>
          <p:nvPr/>
        </p:nvSpPr>
        <p:spPr>
          <a:xfrm>
            <a:off x="7662672" y="2395728"/>
            <a:ext cx="8595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0.0407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8467344" y="2496312"/>
            <a:ext cx="475488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 [m]</a:t>
            </a:r>
            <a:endParaRPr lang="en-US" sz="670" dirty="0"/>
          </a:p>
        </p:txBody>
      </p:sp>
      <p:sp>
        <p:nvSpPr>
          <p:cNvPr id="37" name="Text 35"/>
          <p:cNvSpPr/>
          <p:nvPr/>
        </p:nvSpPr>
        <p:spPr>
          <a:xfrm>
            <a:off x="7662672" y="2834640"/>
            <a:ext cx="109728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0.0649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7662672" y="3090672"/>
            <a:ext cx="120700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56 features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9381744" y="1481328"/>
            <a:ext cx="1572768" cy="2084832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E8552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09760" y="1682496"/>
            <a:ext cx="329184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#4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9509760" y="1920240"/>
            <a:ext cx="120700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8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GMapping</a:t>
            </a:r>
            <a:endParaRPr lang="en-US" sz="1480" dirty="0"/>
          </a:p>
        </p:txBody>
      </p:sp>
      <p:sp>
        <p:nvSpPr>
          <p:cNvPr id="42" name="Text 40"/>
          <p:cNvSpPr/>
          <p:nvPr/>
        </p:nvSpPr>
        <p:spPr>
          <a:xfrm>
            <a:off x="9509760" y="2395728"/>
            <a:ext cx="8595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855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0.0413</a:t>
            </a:r>
            <a:endParaRPr lang="en-US" sz="2100" dirty="0"/>
          </a:p>
        </p:txBody>
      </p:sp>
      <p:sp>
        <p:nvSpPr>
          <p:cNvPr id="43" name="Text 41"/>
          <p:cNvSpPr/>
          <p:nvPr/>
        </p:nvSpPr>
        <p:spPr>
          <a:xfrm>
            <a:off x="10314432" y="2496312"/>
            <a:ext cx="475488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 [m]</a:t>
            </a:r>
            <a:endParaRPr lang="en-US" sz="670" dirty="0"/>
          </a:p>
        </p:txBody>
      </p:sp>
      <p:sp>
        <p:nvSpPr>
          <p:cNvPr id="44" name="Text 42"/>
          <p:cNvSpPr/>
          <p:nvPr/>
        </p:nvSpPr>
        <p:spPr>
          <a:xfrm>
            <a:off x="9509760" y="2834640"/>
            <a:ext cx="109728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0.0570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9509760" y="3090672"/>
            <a:ext cx="120700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63 features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713232" y="3913632"/>
            <a:ext cx="55778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13232" y="3913632"/>
            <a:ext cx="50292" cy="178308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7824" y="4032504"/>
            <a:ext cx="524865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trayectoria, error y mapa</a:t>
            </a:r>
            <a:endParaRPr lang="en-US" sz="800" dirty="0"/>
          </a:p>
        </p:txBody>
      </p:sp>
      <p:pic>
        <p:nvPicPr>
          <p:cNvPr id="49" name="Image 0" descr="C:\Users\walla\Documents\Master VIU\C9_SistRobMoviles\viu-mrob-sistemas-roboticos-moviles\actividad2\coppeliasim\phase1_slam_logs\phase1_slam_algorithm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7223" y="4261104"/>
            <a:ext cx="2309857" cy="1344168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5989320" y="3858768"/>
            <a:ext cx="2011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RANKING POR RMSE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5989320" y="4187952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</a:t>
            </a:r>
            <a:endParaRPr lang="en-US" sz="800" dirty="0"/>
          </a:p>
        </p:txBody>
      </p:sp>
      <p:sp>
        <p:nvSpPr>
          <p:cNvPr id="52" name="Shape 49"/>
          <p:cNvSpPr/>
          <p:nvPr/>
        </p:nvSpPr>
        <p:spPr>
          <a:xfrm>
            <a:off x="7799832" y="4215384"/>
            <a:ext cx="566928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799832" y="4215384"/>
            <a:ext cx="433251" cy="109728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439912" y="4178808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0.032 m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5989320" y="4517136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Cartographer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799832" y="4544568"/>
            <a:ext cx="566928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799832" y="4544568"/>
            <a:ext cx="526756" cy="109728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439912" y="4507992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0.038 m</a:t>
            </a:r>
            <a:endParaRPr lang="en-US" sz="780" dirty="0"/>
          </a:p>
        </p:txBody>
      </p:sp>
      <p:sp>
        <p:nvSpPr>
          <p:cNvPr id="59" name="Text 56"/>
          <p:cNvSpPr/>
          <p:nvPr/>
        </p:nvSpPr>
        <p:spPr>
          <a:xfrm>
            <a:off x="5989320" y="4846320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Hector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7799832" y="4873752"/>
            <a:ext cx="566928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7799832" y="4873752"/>
            <a:ext cx="558290" cy="109728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8439912" y="4837176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0.041 m</a:t>
            </a:r>
            <a:endParaRPr lang="en-US" sz="780" dirty="0"/>
          </a:p>
        </p:txBody>
      </p:sp>
      <p:sp>
        <p:nvSpPr>
          <p:cNvPr id="63" name="Text 60"/>
          <p:cNvSpPr/>
          <p:nvPr/>
        </p:nvSpPr>
        <p:spPr>
          <a:xfrm>
            <a:off x="5989320" y="5175504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GMapping</a:t>
            </a:r>
            <a:endParaRPr lang="en-US" sz="800" dirty="0"/>
          </a:p>
        </p:txBody>
      </p:sp>
      <p:sp>
        <p:nvSpPr>
          <p:cNvPr id="64" name="Shape 61"/>
          <p:cNvSpPr/>
          <p:nvPr/>
        </p:nvSpPr>
        <p:spPr>
          <a:xfrm>
            <a:off x="7799832" y="5202936"/>
            <a:ext cx="566928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7799832" y="5202936"/>
            <a:ext cx="566928" cy="109728"/>
          </a:xfrm>
          <a:prstGeom prst="rect">
            <a:avLst/>
          </a:prstGeom>
          <a:solidFill>
            <a:srgbClr val="E8552D"/>
          </a:solidFill>
          <a:ln w="8890">
            <a:solidFill>
              <a:srgbClr val="E8552D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8439912" y="5166360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0.041 m</a:t>
            </a:r>
            <a:endParaRPr lang="en-US" sz="780" dirty="0"/>
          </a:p>
        </p:txBody>
      </p:sp>
      <p:sp>
        <p:nvSpPr>
          <p:cNvPr id="67" name="Shape 64"/>
          <p:cNvSpPr/>
          <p:nvPr/>
        </p:nvSpPr>
        <p:spPr>
          <a:xfrm>
            <a:off x="9418320" y="3858768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0A2342"/>
          </a:solidFill>
          <a:ln w="9525">
            <a:solidFill>
              <a:srgbClr val="0A2342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9619488" y="4023360"/>
            <a:ext cx="1517904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TÉCNICA</a:t>
            </a:r>
            <a:endParaRPr lang="en-US" sz="720" dirty="0"/>
          </a:p>
        </p:txBody>
      </p:sp>
      <p:sp>
        <p:nvSpPr>
          <p:cNvPr id="69" name="Text 66"/>
          <p:cNvSpPr/>
          <p:nvPr/>
        </p:nvSpPr>
        <p:spPr>
          <a:xfrm>
            <a:off x="9619488" y="4297680"/>
            <a:ext cx="1517904" cy="7955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 minimiza error de pose; Cartographer aporta estructura de mapa por submaps y cierre de ciclo.</a:t>
            </a:r>
            <a:endParaRPr lang="en-US" sz="11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SLAM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Trayectoria, error, mapa y métricas en una vista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Todos los modos se ejecutan sobre la misma escena, recorrido y señales exportadas.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640080" y="141732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1417320"/>
            <a:ext cx="50292" cy="4480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1536192"/>
            <a:ext cx="63459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 visual</a:t>
            </a:r>
            <a:endParaRPr lang="en-US" sz="800" dirty="0"/>
          </a:p>
        </p:txBody>
      </p:sp>
      <p:pic>
        <p:nvPicPr>
          <p:cNvPr id="15" name="Image 0" descr="C:\Users\walla\Documents\Master VIU\C9_SistRobMoviles\viu-mrob-sistemas-roboticos-moviles\actividad2\coppeliasim\phase1_slam_logs\phase1_slam_algorithm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85969"/>
            <a:ext cx="6528816" cy="3799293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7726680" y="1847088"/>
            <a:ext cx="82296" cy="82296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909560" y="1773936"/>
            <a:ext cx="338328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Todos los modos completan la misión.</a:t>
            </a:r>
            <a:endParaRPr lang="en-US" sz="1080" dirty="0"/>
          </a:p>
        </p:txBody>
      </p:sp>
      <p:sp>
        <p:nvSpPr>
          <p:cNvPr id="18" name="Shape 15"/>
          <p:cNvSpPr/>
          <p:nvPr/>
        </p:nvSpPr>
        <p:spPr>
          <a:xfrm>
            <a:off x="7726680" y="2715768"/>
            <a:ext cx="82296" cy="82296"/>
          </a:xfrm>
          <a:prstGeom prst="ellipse">
            <a:avLst/>
          </a:prstGeom>
          <a:solidFill>
            <a:srgbClr val="1F7A8C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09560" y="2642616"/>
            <a:ext cx="338328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error queda en escala de centímetros.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7726680" y="3584448"/>
            <a:ext cx="82296" cy="82296"/>
          </a:xfrm>
          <a:prstGeom prst="ellipse">
            <a:avLst/>
          </a:prstGeom>
          <a:solidFill>
            <a:srgbClr val="6D5BD0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09560" y="3511296"/>
            <a:ext cx="338328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Cartographer muestra submaps y cierre de ciclo simplificado.</a:t>
            </a:r>
            <a:endParaRPr lang="en-US" sz="1080" dirty="0"/>
          </a:p>
        </p:txBody>
      </p:sp>
      <p:sp>
        <p:nvSpPr>
          <p:cNvPr id="22" name="Shape 19"/>
          <p:cNvSpPr/>
          <p:nvPr/>
        </p:nvSpPr>
        <p:spPr>
          <a:xfrm>
            <a:off x="7726680" y="4453128"/>
            <a:ext cx="82296" cy="82296"/>
          </a:xfrm>
          <a:prstGeom prst="ellipse">
            <a:avLst/>
          </a:prstGeom>
          <a:solidFill>
            <a:srgbClr val="E8552D"/>
          </a:solidFill>
          <a:ln w="9525">
            <a:solidFill>
              <a:srgbClr val="E8552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909560" y="4379976"/>
            <a:ext cx="338328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 landmark da menor RMSE en esta celda.</a:t>
            </a:r>
            <a:endParaRPr lang="en-US" sz="10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629400" cy="91440"/>
          </a:xfrm>
          <a:prstGeom prst="rect">
            <a:avLst/>
          </a:prstGeom>
          <a:solidFill>
            <a:srgbClr val="0A2342"/>
          </a:solidFill>
          <a:ln w="8890">
            <a:solidFill>
              <a:srgbClr val="0A23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256032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0A23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cumplimiento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30352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Checklist final contra la guía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170432"/>
            <a:ext cx="105156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requisito queda conectado con implementación, ecuaciones y evidencia exportada.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530352" y="6510528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8001000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CoppeliaSim/Lua · follower + SLAM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320272" y="6272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23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02568" y="6391656"/>
            <a:ext cx="23774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A23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10899648" y="310896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21/22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841248" y="1463040"/>
            <a:ext cx="9985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" y="1609344"/>
            <a:ext cx="237744" cy="237744"/>
          </a:xfrm>
          <a:prstGeom prst="ellipse">
            <a:avLst/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06424" y="1673352"/>
            <a:ext cx="128016" cy="73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40" dirty="0"/>
          </a:p>
        </p:txBody>
      </p:sp>
      <p:sp>
        <p:nvSpPr>
          <p:cNvPr id="15" name="Text 13"/>
          <p:cNvSpPr/>
          <p:nvPr/>
        </p:nvSpPr>
        <p:spPr>
          <a:xfrm>
            <a:off x="1481328" y="1554480"/>
            <a:ext cx="1481328" cy="155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Pioneer/Lua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3108960" y="1554480"/>
            <a:ext cx="6903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Follower y celda programados con cinemática diferencial y ruedas.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841248" y="2103120"/>
            <a:ext cx="9985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8552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51560" y="2249424"/>
            <a:ext cx="237744" cy="237744"/>
          </a:xfrm>
          <a:prstGeom prst="ellipse">
            <a:avLst/>
          </a:prstGeom>
          <a:solidFill>
            <a:srgbClr val="FDEDE8"/>
          </a:solidFill>
          <a:ln w="9525">
            <a:solidFill>
              <a:srgbClr val="E855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06424" y="2313432"/>
            <a:ext cx="128016" cy="73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40" dirty="0"/>
          </a:p>
        </p:txBody>
      </p:sp>
      <p:sp>
        <p:nvSpPr>
          <p:cNvPr id="20" name="Text 18"/>
          <p:cNvSpPr/>
          <p:nvPr/>
        </p:nvSpPr>
        <p:spPr>
          <a:xfrm>
            <a:off x="1481328" y="2194560"/>
            <a:ext cx="1481328" cy="155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E855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Campos potenciales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3108960" y="2194560"/>
            <a:ext cx="6903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F_att hacia p* detrás de Bill y F_rep para obstáculos.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841248" y="2743200"/>
            <a:ext cx="9985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1560" y="2889504"/>
            <a:ext cx="237744" cy="237744"/>
          </a:xfrm>
          <a:prstGeom prst="ellipse">
            <a:avLst/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06424" y="2953512"/>
            <a:ext cx="128016" cy="73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40" dirty="0"/>
          </a:p>
        </p:txBody>
      </p:sp>
      <p:sp>
        <p:nvSpPr>
          <p:cNvPr id="25" name="Text 23"/>
          <p:cNvSpPr/>
          <p:nvPr/>
        </p:nvSpPr>
        <p:spPr>
          <a:xfrm>
            <a:off x="1481328" y="2834640"/>
            <a:ext cx="1481328" cy="155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Anticolisión</a:t>
            </a:r>
            <a:endParaRPr lang="en-US" sz="960" dirty="0"/>
          </a:p>
        </p:txBody>
      </p:sp>
      <p:sp>
        <p:nvSpPr>
          <p:cNvPr id="26" name="Text 24"/>
          <p:cNvSpPr/>
          <p:nvPr/>
        </p:nvSpPr>
        <p:spPr>
          <a:xfrm>
            <a:off x="3108960" y="2834640"/>
            <a:ext cx="6903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sensores, riesgo publicado y modo AVOIDING observado.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841248" y="3383280"/>
            <a:ext cx="9985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51560" y="3529584"/>
            <a:ext cx="237744" cy="237744"/>
          </a:xfrm>
          <a:prstGeom prst="ellipse">
            <a:avLst/>
          </a:prstGeom>
          <a:solidFill>
            <a:srgbClr val="EAF7F4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06424" y="3593592"/>
            <a:ext cx="128016" cy="73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740" dirty="0"/>
          </a:p>
        </p:txBody>
      </p:sp>
      <p:sp>
        <p:nvSpPr>
          <p:cNvPr id="30" name="Text 28"/>
          <p:cNvSpPr/>
          <p:nvPr/>
        </p:nvSpPr>
        <p:spPr>
          <a:xfrm>
            <a:off x="1481328" y="3474720"/>
            <a:ext cx="1481328" cy="155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Celda robotizada</a:t>
            </a:r>
            <a:endParaRPr lang="en-US" sz="960" dirty="0"/>
          </a:p>
        </p:txBody>
      </p:sp>
      <p:sp>
        <p:nvSpPr>
          <p:cNvPr id="31" name="Text 29"/>
          <p:cNvSpPr/>
          <p:nvPr/>
        </p:nvSpPr>
        <p:spPr>
          <a:xfrm>
            <a:off x="3108960" y="3474720"/>
            <a:ext cx="6903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Tareas con Bill, estaciones, shelves, carga y FSM auditada.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841248" y="4023360"/>
            <a:ext cx="9985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51560" y="4169664"/>
            <a:ext cx="237744" cy="237744"/>
          </a:xfrm>
          <a:prstGeom prst="ellipse">
            <a:avLst/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06424" y="4233672"/>
            <a:ext cx="128016" cy="73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1481328" y="4114800"/>
            <a:ext cx="1481328" cy="155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Extensión técnica</a:t>
            </a:r>
            <a:endParaRPr lang="en-US" sz="960" dirty="0"/>
          </a:p>
        </p:txBody>
      </p:sp>
      <p:sp>
        <p:nvSpPr>
          <p:cNvPr id="36" name="Text 34"/>
          <p:cNvSpPr/>
          <p:nvPr/>
        </p:nvSpPr>
        <p:spPr>
          <a:xfrm>
            <a:off x="3108960" y="4114800"/>
            <a:ext cx="6903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P/PI/PID/LQR/NMPC, SLAM reducido, Kalman, logs y métricas.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914400" y="4956048"/>
            <a:ext cx="9829800" cy="841248"/>
          </a:xfrm>
          <a:prstGeom prst="roundRect">
            <a:avLst>
              <a:gd name="adj" fmla="val 13043"/>
            </a:avLst>
          </a:prstGeom>
          <a:solidFill>
            <a:srgbClr val="0A2342"/>
          </a:solidFill>
          <a:ln w="9525">
            <a:solidFill>
              <a:srgbClr val="0A234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0" y="5175504"/>
            <a:ext cx="141732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TÉCNICO</a:t>
            </a:r>
            <a:endParaRPr lang="en-US" sz="780" dirty="0"/>
          </a:p>
        </p:txBody>
      </p:sp>
      <p:sp>
        <p:nvSpPr>
          <p:cNvPr id="39" name="Text 37"/>
          <p:cNvSpPr/>
          <p:nvPr/>
        </p:nvSpPr>
        <p:spPr>
          <a:xfrm>
            <a:off x="2743200" y="5084064"/>
            <a:ext cx="722376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base de la guía está cubierta; las mejoras añaden trazabilidad, comparaciones cuantitativas y límites explícitos.</a:t>
            </a:r>
            <a:endParaRPr lang="en-US" sz="11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889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1170432"/>
            <a:ext cx="20116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49808" y="1965960"/>
            <a:ext cx="4937760" cy="6766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86384" y="2852928"/>
            <a:ext cx="5577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Escena, informe, presentación, video y métricas provienen de la misma simulación.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46520" y="1097280"/>
            <a:ext cx="448056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5715">
            <a:solidFill>
              <a:srgbClr val="E1E8F0"/>
            </a:solidFill>
            <a:prstDash val="solid"/>
          </a:ln>
          <a:effectLst>
            <a:outerShdw sx="100000" sy="100000" kx="0" ky="0" algn="bl" rotWithShape="0" blurRad="15240" dist="13970" dir="2700000">
              <a:srgbClr val="B8C2CC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46520" y="1097280"/>
            <a:ext cx="50292" cy="406908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11112" y="1216152"/>
            <a:ext cx="415137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replay de cierre</a:t>
            </a:r>
            <a:endParaRPr lang="en-US" sz="800" dirty="0"/>
          </a:p>
        </p:txBody>
      </p:sp>
      <p:pic>
        <p:nvPicPr>
          <p:cNvPr id="10" name="Image 0" descr="C:\Users\walla\Documents\Master VIU\C9_SistRobMoviles\viu-mrob-sistemas-roboticos-moviles\actividad2\slides\assets\phase1_replay_clean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9672" y="2040827"/>
            <a:ext cx="4334256" cy="2438019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835640" y="6327648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22/22</a:t>
            </a:r>
            <a:endParaRPr lang="en-US" sz="7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Universidad Internacional de Valencia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2 - Pioneer P3DX con control y SLAM</dc:title>
  <dc:subject>Actividad 2 - Pioneer follower y SLAM en CoppeliaSim</dc:subject>
  <dc:creator>Jorge Luis Mayorga Taborda</dc:creator>
  <cp:lastModifiedBy>Jorge Luis Mayorga Taborda</cp:lastModifiedBy>
  <cp:revision>1</cp:revision>
  <dcterms:created xsi:type="dcterms:W3CDTF">2026-05-26T01:56:46Z</dcterms:created>
  <dcterms:modified xsi:type="dcterms:W3CDTF">2026-05-26T01:56:46Z</dcterms:modified>
</cp:coreProperties>
</file>