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44624"/>
          </a:solidFill>
          <a:ln w="12700">
            <a:solidFill>
              <a:srgbClr val="C4462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1143000"/>
            <a:ext cx="10424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19191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Programacion y control de un robot Pioneer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685800" y="2148840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44624"/>
                </a:solidFill>
              </a:rPr>
              <a:t>Actividad 2 - CoppeliaSim/Lua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94944" y="2907792"/>
            <a:ext cx="6858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91919"/>
                </a:solidFill>
              </a:rPr>
              <a:t>Universidad Internacional de Valencia\nAutor: Jorge Luis Mayorga Taborda\nProfesor: Jose I. Iniguez\nEntrega: 26 de mayo de 2026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75320" y="2788920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4462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22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275320" y="328269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E6670"/>
                </a:solidFill>
              </a:rPr>
              <a:t>sensores activos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75320" y="3703320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4462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8275320" y="419709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E6670"/>
                </a:solidFill>
              </a:rPr>
              <a:t>escenarios de prueba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75320" y="4617720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4462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 AMR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8275320" y="5111496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E6670"/>
                </a:solidFill>
              </a:rPr>
              <a:t>flota A* auxiliar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C44624"/>
          </a:solidFill>
          <a:ln w="12700">
            <a:solidFill>
              <a:srgbClr val="C446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Objetivo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1384280" y="164592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77240" y="1261872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</a:rPr>
              <a:t>-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69848" y="1234440"/>
            <a:ext cx="10515600" cy="3862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</a:rPr>
              <a:t>Programar un Pioneer P3DX en CoppeliaSim.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77240" y="1700784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</a:rPr>
              <a:t>-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69848" y="1673352"/>
            <a:ext cx="10515600" cy="3862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</a:rPr>
              <a:t>Parte 1: desplazamiento hacia un objetivo mediante campos potenciales.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2139696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</a:rPr>
              <a:t>-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69848" y="2112264"/>
            <a:ext cx="10515600" cy="3862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</a:rPr>
              <a:t>Parte 2: evitacion reactiva de obstaculos.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77240" y="2578608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</a:rPr>
              <a:t>-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69848" y="2551176"/>
            <a:ext cx="10515600" cy="3862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</a:rPr>
              <a:t>Integracion del robot en una celda robotizada.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C44624"/>
          </a:solidFill>
          <a:ln w="12700">
            <a:solidFill>
              <a:srgbClr val="C446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Trazabilidad 5/5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1384280" y="164592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43000"/>
          <a:ext cx="10789920" cy="4069080"/>
        </p:xfrm>
        <a:graphic>
          <a:graphicData uri="http://schemas.openxmlformats.org/drawingml/2006/table">
            <a:tbl>
              <a:tblPr/>
              <a:tblGrid>
                <a:gridCol w="4754880"/>
                <a:gridCol w="6035040"/>
              </a:tblGrid>
              <a:tr h="50863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91919"/>
                          </a:solidFill>
                        </a:rPr>
                        <a:t>Guia y temas</a:t>
                      </a:r>
                      <a:endParaRPr lang="en-US" sz="1350" dirty="0"/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91919"/>
                          </a:solidFill>
                        </a:rPr>
                        <a:t>Implementacion final</a:t>
                      </a:r>
                      <a:endParaRPr lang="en-US" sz="1350" dirty="0"/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863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91919"/>
                          </a:solidFill>
                        </a:rPr>
                        <a:t>Pioneer en CoppeliaSim/Lua</a:t>
                      </a:r>
                      <a:endParaRPr lang="en-US" sz="1350" dirty="0"/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91919"/>
                          </a:solidFill>
                        </a:rPr>
                        <a:t>Script Lua embebido en PioneerP3DX.</a:t>
                      </a:r>
                      <a:endParaRPr lang="en-US" sz="1350" dirty="0"/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863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91919"/>
                          </a:solidFill>
                        </a:rPr>
                        <a:t>Campos potenciales</a:t>
                      </a:r>
                      <a:endParaRPr lang="en-US" sz="1350" dirty="0"/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91919"/>
                          </a:solidFill>
                        </a:rPr>
                        <a:t>Atraccion a mannequin con saturacion de velocidad.</a:t>
                      </a:r>
                      <a:endParaRPr lang="en-US" sz="1350" dirty="0"/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863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91919"/>
                          </a:solidFill>
                        </a:rPr>
                        <a:t>Anticolision</a:t>
                      </a:r>
                      <a:endParaRPr lang="en-US" sz="1350" dirty="0"/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91919"/>
                          </a:solidFill>
                        </a:rPr>
                        <a:t>16 ultrasonidos + 6 sensores virtuales.</a:t>
                      </a:r>
                      <a:endParaRPr lang="en-US" sz="1350" dirty="0"/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863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91919"/>
                          </a:solidFill>
                        </a:rPr>
                        <a:t>Celda robotizada</a:t>
                      </a:r>
                      <a:endParaRPr lang="en-US" sz="1350" dirty="0"/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91919"/>
                          </a:solidFill>
                        </a:rPr>
                        <a:t>Docking/carga, HMI, transportadores, palets, vallas y eventos.</a:t>
                      </a:r>
                      <a:endParaRPr lang="en-US" sz="1350" dirty="0"/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863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91919"/>
                          </a:solidFill>
                        </a:rPr>
                        <a:t>Bateria y robustez</a:t>
                      </a:r>
                      <a:endParaRPr lang="en-US" sz="1350" dirty="0"/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91919"/>
                          </a:solidFill>
                        </a:rPr>
                        <a:t>Zonas de velocidad, sensor degradado y telemetria industrial.</a:t>
                      </a:r>
                      <a:endParaRPr lang="en-US" sz="1350" dirty="0"/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863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91919"/>
                          </a:solidFill>
                        </a:rPr>
                        <a:t>A* cooperativo</a:t>
                      </a:r>
                      <a:endParaRPr lang="en-US" sz="1350" dirty="0"/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91919"/>
                          </a:solidFill>
                        </a:rPr>
                        <a:t>3 AMR auxiliares con reservas temporales, bateria y recarga.</a:t>
                      </a:r>
                      <a:endParaRPr lang="en-US" sz="1350" dirty="0"/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863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91919"/>
                          </a:solidFill>
                        </a:rPr>
                        <a:t>PPTs de clase</a:t>
                      </a:r>
                      <a:endParaRPr lang="en-US" sz="1350" dirty="0"/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91919"/>
                          </a:solidFill>
                        </a:rPr>
                        <a:t>Modelo diferencial, sensores, FSM, navegacion y validacion.</a:t>
                      </a:r>
                      <a:endParaRPr lang="en-US" sz="1350" dirty="0"/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C44624"/>
          </a:solidFill>
          <a:ln w="12700">
            <a:solidFill>
              <a:srgbClr val="C446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Entorno de simulacion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1384280" y="164592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77240" y="1106424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91919"/>
                </a:solidFill>
              </a:rPr>
              <a:t>-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69848" y="1078992"/>
            <a:ext cx="1078992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91919"/>
                </a:solidFill>
              </a:rPr>
              <a:t>CoppeliaSim con scripts Lua embebidos.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1581912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91919"/>
                </a:solidFill>
              </a:rPr>
              <a:t>-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69848" y="1554480"/>
            <a:ext cx="1078992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91919"/>
                </a:solidFill>
              </a:rPr>
              <a:t>Escenas base: Actividad2_1_Pioneer.ttt y Actividad2_2_Pioneer.ttt.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2057400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91919"/>
                </a:solidFill>
              </a:rPr>
              <a:t>-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69848" y="2029968"/>
            <a:ext cx="1078992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91919"/>
                </a:solidFill>
              </a:rPr>
              <a:t>Escena final: Actividad2_Pioneer_Profesional_10_10.ttt.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2532888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91919"/>
                </a:solidFill>
              </a:rPr>
              <a:t>-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69848" y="2505456"/>
            <a:ext cx="1078992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91919"/>
                </a:solidFill>
              </a:rPr>
              <a:t>Objetivos posibles: mannequin, Bill o dummy de estacion.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77240" y="3008376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91919"/>
                </a:solidFill>
              </a:rPr>
              <a:t>-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69848" y="2980944"/>
            <a:ext cx="1078992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91919"/>
                </a:solidFill>
              </a:rPr>
              <a:t>16 ultrasonidos + 6 sensores virtuales de seguridad.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77240" y="3483864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91919"/>
                </a:solidFill>
              </a:rPr>
              <a:t>-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69848" y="3456432"/>
            <a:ext cx="10789920" cy="41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91919"/>
                </a:solidFill>
              </a:rPr>
              <a:t>Escenarios: pallet movil, parada, objetivo dinamico, pasillo estrecho, sensor degradado y bateria baja.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C44624"/>
          </a:solidFill>
          <a:ln w="12700">
            <a:solidFill>
              <a:srgbClr val="C446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Modelo Pioneer P3DX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1384280" y="164592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51560" y="1417320"/>
            <a:ext cx="10058400" cy="658368"/>
          </a:xfrm>
          <a:prstGeom prst="rect">
            <a:avLst/>
          </a:prstGeom>
          <a:solidFill>
            <a:srgbClr val="F6F7F9"/>
          </a:solidFill>
          <a:ln w="12700">
            <a:solidFill>
              <a:srgbClr val="D9DE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16152" y="1581912"/>
            <a:ext cx="9729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dirty="0">
                <a:solidFill>
                  <a:srgbClr val="191919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v_L = v - (L/2) omega     |     v_R = v + (L/2) omega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1051560" y="2423160"/>
            <a:ext cx="10058400" cy="658368"/>
          </a:xfrm>
          <a:prstGeom prst="rect">
            <a:avLst/>
          </a:prstGeom>
          <a:solidFill>
            <a:srgbClr val="F6F7F9"/>
          </a:solidFill>
          <a:ln w="12700">
            <a:solidFill>
              <a:srgbClr val="D9DE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16152" y="2587752"/>
            <a:ext cx="9729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dirty="0">
                <a:solidFill>
                  <a:srgbClr val="191919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omega_L = v_L / r     |     omega_R = v_R / r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280160" y="3886200"/>
            <a:ext cx="950976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191919"/>
                </a:solidFill>
              </a:rPr>
              <a:t>Robot diferencial con control por velocidad de ruedas y sensores de proximidad.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C44624"/>
          </a:solidFill>
          <a:ln w="12700">
            <a:solidFill>
              <a:srgbClr val="C446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Parte 1: campos potenciales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1384280" y="164592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43000" y="1143000"/>
            <a:ext cx="9875520" cy="658368"/>
          </a:xfrm>
          <a:prstGeom prst="rect">
            <a:avLst/>
          </a:prstGeom>
          <a:solidFill>
            <a:srgbClr val="F6F7F9"/>
          </a:solidFill>
          <a:ln w="12700">
            <a:solidFill>
              <a:srgbClr val="D9DE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07592" y="1307592"/>
            <a:ext cx="9546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dirty="0">
                <a:solidFill>
                  <a:srgbClr val="191919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F_att = k_att [ x_g - x_r ,  y_g - y_r ]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234440" y="2359152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</a:rPr>
              <a:t>-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27048" y="2331720"/>
            <a:ext cx="859536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</a:rPr>
              <a:t>Calcular vector robot-objetivo.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234440" y="2862072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</a:rPr>
              <a:t>-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27048" y="2834640"/>
            <a:ext cx="859536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</a:rPr>
              <a:t>Obtener rumbo deseado con atan2.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234440" y="3364992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</a:rPr>
              <a:t>-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527048" y="3337560"/>
            <a:ext cx="859536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</a:rPr>
              <a:t>Regular avance y giro con saturacion.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234440" y="3867912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</a:rPr>
              <a:t>-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527048" y="3840480"/>
            <a:ext cx="859536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</a:rPr>
              <a:t>Detener al entrar en tolerancia.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C44624"/>
          </a:solidFill>
          <a:ln w="12700">
            <a:solidFill>
              <a:srgbClr val="C446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Parte 2: anticolisiones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1384280" y="164592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7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68680" y="1261872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</a:rPr>
              <a:t>-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161288" y="1234440"/>
            <a:ext cx="10515600" cy="49889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</a:rPr>
              <a:t>Cada sensor cercano genera fuerza repulsiva.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68680" y="1828800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</a:rPr>
              <a:t>-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61288" y="1801368"/>
            <a:ext cx="10515600" cy="49889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</a:rPr>
              <a:t>La direccion final combina atraccion y repulsion.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68680" y="2395728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</a:rPr>
              <a:t>-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61288" y="2368296"/>
            <a:ext cx="10515600" cy="49889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</a:rPr>
              <a:t>El robot reduce velocidad cuando hay obstaculos cerca.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68680" y="2962656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</a:rPr>
              <a:t>-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161288" y="2935224"/>
            <a:ext cx="10515600" cy="49889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</a:rPr>
              <a:t>Se prueban obstaculos frontales, laterales, objetivo movil, ruido y fallo intermitente de sensor.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143000" y="475488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4462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0,191 m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143000" y="5248656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E6670"/>
                </a:solidFill>
              </a:rPr>
              <a:t>distancia minima validada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0" y="475488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4462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0,540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4572000" y="5248656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E6670"/>
                </a:solidFill>
              </a:rPr>
              <a:t>riesgo final de obstaculo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909560" y="475488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4462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22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909560" y="5248656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E6670"/>
                </a:solidFill>
              </a:rPr>
              <a:t>sensores leidos por el controlador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C44624"/>
          </a:solidFill>
          <a:ln w="12700">
            <a:solidFill>
              <a:srgbClr val="C446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Flujo de control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1384280" y="164592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22960" y="1508760"/>
            <a:ext cx="2468880" cy="685800"/>
          </a:xfrm>
          <a:prstGeom prst="roundRect">
            <a:avLst>
              <a:gd name="adj" fmla="val 10667"/>
            </a:avLst>
          </a:prstGeom>
          <a:solidFill>
            <a:srgbClr val="F6F7F9"/>
          </a:solidFill>
          <a:ln w="15240">
            <a:solidFill>
              <a:srgbClr val="C446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1645920"/>
            <a:ext cx="2249424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91919"/>
                </a:solidFill>
              </a:rPr>
              <a:t>Leer objetivo, ruta y sensores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886200" y="1508760"/>
            <a:ext cx="2468880" cy="685800"/>
          </a:xfrm>
          <a:prstGeom prst="roundRect">
            <a:avLst>
              <a:gd name="adj" fmla="val 10667"/>
            </a:avLst>
          </a:prstGeom>
          <a:solidFill>
            <a:srgbClr val="F6F7F9"/>
          </a:solidFill>
          <a:ln w="15240">
            <a:solidFill>
              <a:srgbClr val="C4462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95928" y="1645920"/>
            <a:ext cx="2249424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91919"/>
                </a:solidFill>
              </a:rPr>
              <a:t>FSM + campos potenciales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949440" y="1508760"/>
            <a:ext cx="2468880" cy="685800"/>
          </a:xfrm>
          <a:prstGeom prst="roundRect">
            <a:avLst>
              <a:gd name="adj" fmla="val 10667"/>
            </a:avLst>
          </a:prstGeom>
          <a:solidFill>
            <a:srgbClr val="F6F7F9"/>
          </a:solidFill>
          <a:ln w="15240">
            <a:solidFill>
              <a:srgbClr val="C4462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59168" y="1645920"/>
            <a:ext cx="2249424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91919"/>
                </a:solidFill>
              </a:rPr>
              <a:t>Saturar v, omega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886200" y="3337560"/>
            <a:ext cx="2468880" cy="685800"/>
          </a:xfrm>
          <a:prstGeom prst="roundRect">
            <a:avLst>
              <a:gd name="adj" fmla="val 10667"/>
            </a:avLst>
          </a:prstGeom>
          <a:solidFill>
            <a:srgbClr val="F6F7F9"/>
          </a:solidFill>
          <a:ln w="15240">
            <a:solidFill>
              <a:srgbClr val="C446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95928" y="3474720"/>
            <a:ext cx="2249424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91919"/>
                </a:solidFill>
              </a:rPr>
              <a:t>Enviar velocidades de rueda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364992" y="1847088"/>
            <a:ext cx="438912" cy="0"/>
          </a:xfrm>
          <a:prstGeom prst="line">
            <a:avLst/>
          </a:prstGeom>
          <a:noFill/>
          <a:ln w="19050">
            <a:solidFill>
              <a:srgbClr val="C44624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428232" y="1847088"/>
            <a:ext cx="438912" cy="0"/>
          </a:xfrm>
          <a:prstGeom prst="line">
            <a:avLst/>
          </a:prstGeom>
          <a:noFill/>
          <a:ln w="19050">
            <a:solidFill>
              <a:srgbClr val="C44624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183880" y="2240280"/>
            <a:ext cx="-2377440" cy="960120"/>
          </a:xfrm>
          <a:prstGeom prst="line">
            <a:avLst/>
          </a:prstGeom>
          <a:noFill/>
          <a:ln w="19050">
            <a:solidFill>
              <a:srgbClr val="C44624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840480" y="3703320"/>
            <a:ext cx="-2011680" cy="-1143000"/>
          </a:xfrm>
          <a:prstGeom prst="line">
            <a:avLst/>
          </a:prstGeom>
          <a:noFill/>
          <a:ln w="15240">
            <a:solidFill>
              <a:srgbClr val="C44624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C44624"/>
          </a:solidFill>
          <a:ln w="12700">
            <a:solidFill>
              <a:srgbClr val="C446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Integracion en celda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1384280" y="164592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9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1170432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91919"/>
                </a:solidFill>
              </a:rPr>
              <a:t>-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15568" y="1143000"/>
            <a:ext cx="1051560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91919"/>
                </a:solidFill>
              </a:rPr>
              <a:t>Zona segura de espera.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673352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91919"/>
                </a:solidFill>
              </a:rPr>
              <a:t>-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15568" y="1645920"/>
            <a:ext cx="1051560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91919"/>
                </a:solidFill>
              </a:rPr>
              <a:t>Mision hacia Bill, mannequin o punto de estacion.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2176272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91919"/>
                </a:solidFill>
              </a:rPr>
              <a:t>-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15568" y="2148840"/>
            <a:ext cx="1051560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91919"/>
                </a:solidFill>
              </a:rPr>
              <a:t>Evitacion de obstaculos de la celda.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2679192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91919"/>
                </a:solidFill>
              </a:rPr>
              <a:t>-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15568" y="2651760"/>
            <a:ext cx="1051560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91919"/>
                </a:solidFill>
              </a:rPr>
              <a:t>Senales internas: missionReady, pioneerArrived, pioneerState y pioneerScenario.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22960" y="3182112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91919"/>
                </a:solidFill>
              </a:rPr>
              <a:t>-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15568" y="3154680"/>
            <a:ext cx="1051560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91919"/>
                </a:solidFill>
              </a:rPr>
              <a:t>Celda con transportadores, palets, vallas, eventos, estacion objetivo y estacion de carga.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C44624"/>
          </a:solidFill>
          <a:ln w="12700">
            <a:solidFill>
              <a:srgbClr val="C446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Extensiones robustas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1384280" y="164592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10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1170432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91919"/>
                </a:solidFill>
              </a:rPr>
              <a:t>-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115568" y="1143000"/>
            <a:ext cx="10515600" cy="4667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91919"/>
                </a:solidFill>
              </a:rPr>
              <a:t>Bateria simulada con modos NORMAL, LOW y CHARGING.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822960" y="1700784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91919"/>
                </a:solidFill>
              </a:rPr>
              <a:t>-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115568" y="1673352"/>
            <a:ext cx="10515600" cy="4667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91919"/>
                </a:solidFill>
              </a:rPr>
              <a:t>Zonas de velocidad: docking, carril de aproximacion y zona por defecto.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822960" y="2231136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91919"/>
                </a:solidFill>
              </a:rPr>
              <a:t>-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1115568" y="2203704"/>
            <a:ext cx="10515600" cy="4667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91919"/>
                </a:solidFill>
              </a:rPr>
              <a:t>Filtro de ruido y fallo intermitente en sensores fronto-laterales.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822960" y="2761488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91919"/>
                </a:solidFill>
              </a:rPr>
              <a:t>-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115568" y="2734056"/>
            <a:ext cx="10515600" cy="4667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91919"/>
                </a:solidFill>
              </a:rPr>
              <a:t>HMI visual con bateria, estado, zona activa, carga y fallo sensorial.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822960" y="3291840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91919"/>
                </a:solidFill>
              </a:rPr>
              <a:t>-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115568" y="3264408"/>
            <a:ext cx="10515600" cy="4667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91919"/>
                </a:solidFill>
              </a:rPr>
              <a:t>Flota auxiliar de 3 AMR con A* cooperativo y retorno a estaciones de carga.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960120" y="470916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4462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68%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960120" y="520293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E6670"/>
                </a:solidFill>
              </a:rPr>
              <a:t>bateria final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657600" y="470916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4462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LOW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3657600" y="520293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E6670"/>
                </a:solidFill>
              </a:rPr>
              <a:t>politica vista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55080" y="470916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4462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355080" y="520293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E6670"/>
                </a:solidFill>
              </a:rPr>
              <a:t>zonas vistas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052560" y="470916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4462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S6-S7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9052560" y="520293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E6670"/>
                </a:solidFill>
              </a:rPr>
              <a:t>sensores y bateria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C44624"/>
          </a:solidFill>
          <a:ln w="12700">
            <a:solidFill>
              <a:srgbClr val="C446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Flota A* cooperativa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1384280" y="164592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11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1106424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20" dirty="0">
                <a:solidFill>
                  <a:srgbClr val="191919"/>
                </a:solidFill>
              </a:rPr>
              <a:t>-</a:t>
            </a:r>
            <a:endParaRPr lang="en-US" sz="1620" dirty="0"/>
          </a:p>
        </p:txBody>
      </p:sp>
      <p:sp>
        <p:nvSpPr>
          <p:cNvPr id="6" name="Text 4"/>
          <p:cNvSpPr/>
          <p:nvPr/>
        </p:nvSpPr>
        <p:spPr>
          <a:xfrm>
            <a:off x="1115568" y="1078992"/>
            <a:ext cx="10515600" cy="4667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20" dirty="0">
                <a:solidFill>
                  <a:srgbClr val="191919"/>
                </a:solidFill>
              </a:rPr>
              <a:t>3 robots AMR auxiliares sobre una grilla de celda.</a:t>
            </a:r>
            <a:endParaRPr lang="en-US" sz="1620" dirty="0"/>
          </a:p>
        </p:txBody>
      </p:sp>
      <p:sp>
        <p:nvSpPr>
          <p:cNvPr id="7" name="Text 5"/>
          <p:cNvSpPr/>
          <p:nvPr/>
        </p:nvSpPr>
        <p:spPr>
          <a:xfrm>
            <a:off x="822960" y="1636776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20" dirty="0">
                <a:solidFill>
                  <a:srgbClr val="191919"/>
                </a:solidFill>
              </a:rPr>
              <a:t>-</a:t>
            </a:r>
            <a:endParaRPr lang="en-US" sz="1620" dirty="0"/>
          </a:p>
        </p:txBody>
      </p:sp>
      <p:sp>
        <p:nvSpPr>
          <p:cNvPr id="8" name="Text 6"/>
          <p:cNvSpPr/>
          <p:nvPr/>
        </p:nvSpPr>
        <p:spPr>
          <a:xfrm>
            <a:off x="1115568" y="1609344"/>
            <a:ext cx="10515600" cy="4667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20" dirty="0">
                <a:solidFill>
                  <a:srgbClr val="191919"/>
                </a:solidFill>
              </a:rPr>
              <a:t>A* con reservas celda-tiempo y arista-tiempo para evitar ocupaciones simultaneas y cruces opuestos.</a:t>
            </a:r>
            <a:endParaRPr lang="en-US" sz="1620" dirty="0"/>
          </a:p>
        </p:txBody>
      </p:sp>
      <p:sp>
        <p:nvSpPr>
          <p:cNvPr id="9" name="Text 7"/>
          <p:cNvSpPr/>
          <p:nvPr/>
        </p:nvSpPr>
        <p:spPr>
          <a:xfrm>
            <a:off x="822960" y="2167128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20" dirty="0">
                <a:solidFill>
                  <a:srgbClr val="191919"/>
                </a:solidFill>
              </a:rPr>
              <a:t>-</a:t>
            </a:r>
            <a:endParaRPr lang="en-US" sz="1620" dirty="0"/>
          </a:p>
        </p:txBody>
      </p:sp>
      <p:sp>
        <p:nvSpPr>
          <p:cNvPr id="10" name="Text 8"/>
          <p:cNvSpPr/>
          <p:nvPr/>
        </p:nvSpPr>
        <p:spPr>
          <a:xfrm>
            <a:off x="1115568" y="2139696"/>
            <a:ext cx="10515600" cy="4667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20" dirty="0">
                <a:solidFill>
                  <a:srgbClr val="191919"/>
                </a:solidFill>
              </a:rPr>
              <a:t>Bateria con descarga, retorno autonomo a estacion de carga y recarga hasta READY.</a:t>
            </a:r>
            <a:endParaRPr lang="en-US" sz="1620" dirty="0"/>
          </a:p>
        </p:txBody>
      </p:sp>
      <p:sp>
        <p:nvSpPr>
          <p:cNvPr id="11" name="Text 9"/>
          <p:cNvSpPr/>
          <p:nvPr/>
        </p:nvSpPr>
        <p:spPr>
          <a:xfrm>
            <a:off x="822960" y="2697480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20" dirty="0">
                <a:solidFill>
                  <a:srgbClr val="191919"/>
                </a:solidFill>
              </a:rPr>
              <a:t>-</a:t>
            </a:r>
            <a:endParaRPr lang="en-US" sz="1620" dirty="0"/>
          </a:p>
        </p:txBody>
      </p:sp>
      <p:sp>
        <p:nvSpPr>
          <p:cNvPr id="12" name="Text 10"/>
          <p:cNvSpPr/>
          <p:nvPr/>
        </p:nvSpPr>
        <p:spPr>
          <a:xfrm>
            <a:off x="1115568" y="2670048"/>
            <a:ext cx="10515600" cy="4667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20" dirty="0">
                <a:solidFill>
                  <a:srgbClr val="191919"/>
                </a:solidFill>
              </a:rPr>
              <a:t>La flota complementa al Pioneer principal sin cambiar la solucion exigida por la guia.</a:t>
            </a:r>
            <a:endParaRPr lang="en-US" sz="1620" dirty="0"/>
          </a:p>
        </p:txBody>
      </p:sp>
      <p:sp>
        <p:nvSpPr>
          <p:cNvPr id="13" name="Text 11"/>
          <p:cNvSpPr/>
          <p:nvPr/>
        </p:nvSpPr>
        <p:spPr>
          <a:xfrm>
            <a:off x="960120" y="470916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4462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16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960120" y="520293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E6670"/>
                </a:solidFill>
              </a:rPr>
              <a:t>planes A* generados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0" y="470916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4462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3657600" y="520293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E6670"/>
                </a:solidFill>
              </a:rPr>
              <a:t>conflictos evitados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55080" y="470916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4462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355080" y="520293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E6670"/>
                </a:solidFill>
              </a:rPr>
              <a:t>eventos de carga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052560" y="470916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4462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3/3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9052560" y="520293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E6670"/>
                </a:solidFill>
              </a:rPr>
              <a:t>robots READY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C44624"/>
          </a:solidFill>
          <a:ln w="12700">
            <a:solidFill>
              <a:srgbClr val="C446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Validacion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1384280" y="164592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12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960120"/>
          <a:ext cx="10972800" cy="2240280"/>
        </p:xfrm>
        <a:graphic>
          <a:graphicData uri="http://schemas.openxmlformats.org/drawingml/2006/table">
            <a:tbl>
              <a:tblPr/>
              <a:tblGrid>
                <a:gridCol w="5394960"/>
                <a:gridCol w="557784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91919"/>
                          </a:solidFill>
                        </a:rPr>
                        <a:t>Prueba</a:t>
                      </a:r>
                      <a:endParaRPr lang="en-US" sz="1400" dirty="0"/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91919"/>
                          </a:solidFill>
                        </a:rPr>
                        <a:t>Criterio</a:t>
                      </a:r>
                      <a:endParaRPr lang="en-US" sz="1400" dirty="0"/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91919"/>
                          </a:solidFill>
                        </a:rPr>
                        <a:t>Atraccion</a:t>
                      </a:r>
                      <a:endParaRPr lang="en-US" sz="1400" dirty="0"/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91919"/>
                          </a:solidFill>
                        </a:rPr>
                        <a:t>Distancia al objetivo decrece.</a:t>
                      </a:r>
                      <a:endParaRPr lang="en-US" sz="1400" dirty="0"/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91919"/>
                          </a:solidFill>
                        </a:rPr>
                        <a:t>Llegada</a:t>
                      </a:r>
                      <a:endParaRPr lang="en-US" sz="1400" dirty="0"/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91919"/>
                          </a:solidFill>
                        </a:rPr>
                        <a:t>Parada dentro de tolerancia.</a:t>
                      </a:r>
                      <a:endParaRPr lang="en-US" sz="1400" dirty="0"/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91919"/>
                          </a:solidFill>
                        </a:rPr>
                        <a:t>Obstaculo frontal</a:t>
                      </a:r>
                      <a:endParaRPr lang="en-US" sz="1400" dirty="0"/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91919"/>
                          </a:solidFill>
                        </a:rPr>
                        <a:t>Rodeo sin colision.</a:t>
                      </a:r>
                      <a:endParaRPr lang="en-US" sz="1400" dirty="0"/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91919"/>
                          </a:solidFill>
                        </a:rPr>
                        <a:t>Objetivo movil</a:t>
                      </a:r>
                      <a:endParaRPr lang="en-US" sz="1400" dirty="0"/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91919"/>
                          </a:solidFill>
                        </a:rPr>
                        <a:t>Seguimiento estable.</a:t>
                      </a:r>
                      <a:endParaRPr lang="en-US" sz="1400" dirty="0"/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91919"/>
                          </a:solidFill>
                        </a:rPr>
                        <a:t>Celda</a:t>
                      </a:r>
                      <a:endParaRPr lang="en-US" sz="1400" dirty="0"/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91919"/>
                          </a:solidFill>
                        </a:rPr>
                        <a:t>No invadir zonas de otros equipos.</a:t>
                      </a:r>
                      <a:endParaRPr lang="en-US" sz="1400" dirty="0"/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91919"/>
                          </a:solidFill>
                        </a:rPr>
                        <a:t>Flota A*</a:t>
                      </a:r>
                      <a:endParaRPr lang="en-US" sz="1400" dirty="0"/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91919"/>
                          </a:solidFill>
                        </a:rPr>
                        <a:t>3 robots completan mision y recarga.</a:t>
                      </a:r>
                      <a:endParaRPr lang="en-US" sz="1400" dirty="0"/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85800" y="3886200"/>
            <a:ext cx="10789920" cy="960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dirty="0">
                <a:solidFill>
                  <a:srgbClr val="191919"/>
                </a:solidFill>
              </a:rPr>
              <a:t>Validacion headless final: 4,328 m -&gt; 0,739 m, estado ARRIVED, 22 sensores activos, 8 escenarios observados y distancia minima a obstaculo 0,191 m. Flota: 16 planes A*, 8 conflictos evitados, 4 cargas y 3/3 robots READY.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C44624"/>
          </a:solidFill>
          <a:ln w="12700">
            <a:solidFill>
              <a:srgbClr val="C446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Conclusiones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1384280" y="164592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13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68680" y="1353312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</a:rPr>
              <a:t>-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161288" y="1325880"/>
            <a:ext cx="10149840" cy="49889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</a:rPr>
              <a:t>Campos potenciales: solucion sencilla y didactica.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68680" y="1920240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</a:rPr>
              <a:t>-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61288" y="1892808"/>
            <a:ext cx="10149840" cy="49889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</a:rPr>
              <a:t>La evitacion reactiva mejora seguridad de navegacion.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68680" y="2487168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</a:rPr>
              <a:t>-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61288" y="2459736"/>
            <a:ext cx="10149840" cy="49889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</a:rPr>
              <a:t>La flota A* demuestra coordinacion multi-robot y gestion de bateria.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68680" y="3054096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</a:rPr>
              <a:t>-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161288" y="3026664"/>
            <a:ext cx="10149840" cy="49889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</a:rPr>
              <a:t>CoppeliaSim permite ajustar parametros antes de la demostracion.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68680" y="3621024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</a:rPr>
              <a:t>-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161288" y="3593592"/>
            <a:ext cx="10149840" cy="49889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</a:rPr>
              <a:t>Limitacion: posibles minimos locales y oscilaciones.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Universidad Internacional de Valencia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Programacion y control de un robot Pioneer</dc:title>
  <dc:subject>Actividad 2 - CoppeliaSim/Lua</dc:subject>
  <dc:creator>Jorge Luis Mayorga Taborda</dc:creator>
  <cp:lastModifiedBy>Jorge Luis Mayorga Taborda</cp:lastModifiedBy>
  <cp:revision>1</cp:revision>
  <dcterms:created xsi:type="dcterms:W3CDTF">2026-05-19T15:29:31Z</dcterms:created>
  <dcterms:modified xsi:type="dcterms:W3CDTF">2026-05-19T15:29:31Z</dcterms:modified>
</cp:coreProperties>
</file>