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video" Target="../media/media-10-2.mp4"/><Relationship Id="rId3" Type="http://schemas.microsoft.com/office/2007/relationships/media" Target="../media/media-10-2.mp4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pic>
        <p:nvPicPr>
          <p:cNvPr id="3" name="Image 0" descr="C:\Users\walla\Documents\Master VIU\C9_SistRobMoviles\viu-mrob-sistemas-roboticos-moviles\actividad2\figures\phase1\coppeliasim_phase1_overview_orien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2248" y="0"/>
            <a:ext cx="97536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5349240" cy="6858000"/>
          </a:xfrm>
          <a:prstGeom prst="rect">
            <a:avLst/>
          </a:prstGeom>
          <a:solidFill>
            <a:srgbClr val="071826">
              <a:alpha val="82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349240" y="0"/>
            <a:ext cx="6839712" cy="6858000"/>
          </a:xfrm>
          <a:prstGeom prst="rect">
            <a:avLst/>
          </a:prstGeom>
          <a:solidFill>
            <a:srgbClr val="071826">
              <a:alpha val="16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566928"/>
            <a:ext cx="3931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INTERNACIONAL DE VALENCIA</a:t>
            </a:r>
            <a:endParaRPr lang="en-US" sz="710" dirty="0"/>
          </a:p>
        </p:txBody>
      </p:sp>
      <p:sp>
        <p:nvSpPr>
          <p:cNvPr id="8" name="Text 5"/>
          <p:cNvSpPr/>
          <p:nvPr/>
        </p:nvSpPr>
        <p:spPr>
          <a:xfrm>
            <a:off x="640080" y="1225296"/>
            <a:ext cx="4407408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Pioneer P3DX</a:t>
            </a:r>
            <a:endParaRPr lang="en-US" sz="2850" dirty="0"/>
          </a:p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CoppeliaSim y Lua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676656" y="2670048"/>
            <a:ext cx="4315968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Celda de almacén con R1, Bill, herramientas T1/T2, evitación reactiva, control y SLAM.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76656" y="3383280"/>
            <a:ext cx="3803904" cy="9144"/>
          </a:xfrm>
          <a:prstGeom prst="line">
            <a:avLst/>
          </a:prstGeom>
          <a:noFill/>
          <a:ln w="15240">
            <a:solidFill>
              <a:srgbClr val="F3CBB9"/>
            </a:solidFill>
            <a:prstDash val="solid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676656" y="3694176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E6F4F6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771900"/>
            <a:ext cx="850392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1</a:t>
            </a:r>
            <a:endParaRPr lang="en-US" sz="740" dirty="0"/>
          </a:p>
        </p:txBody>
      </p:sp>
      <p:sp>
        <p:nvSpPr>
          <p:cNvPr id="13" name="Shape 10"/>
          <p:cNvSpPr/>
          <p:nvPr/>
        </p:nvSpPr>
        <p:spPr>
          <a:xfrm>
            <a:off x="1847088" y="3694176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F0EEFB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01952" y="3771900"/>
            <a:ext cx="850392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740" dirty="0"/>
          </a:p>
        </p:txBody>
      </p:sp>
      <p:sp>
        <p:nvSpPr>
          <p:cNvPr id="15" name="Shape 12"/>
          <p:cNvSpPr/>
          <p:nvPr/>
        </p:nvSpPr>
        <p:spPr>
          <a:xfrm>
            <a:off x="3017520" y="3694176"/>
            <a:ext cx="841248" cy="292608"/>
          </a:xfrm>
          <a:prstGeom prst="roundRect">
            <a:avLst>
              <a:gd name="adj" fmla="val 37500"/>
            </a:avLst>
          </a:prstGeom>
          <a:solidFill>
            <a:srgbClr val="EAF7F4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72384" y="3771900"/>
            <a:ext cx="73152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740" dirty="0"/>
          </a:p>
        </p:txBody>
      </p:sp>
      <p:sp>
        <p:nvSpPr>
          <p:cNvPr id="17" name="Text 14"/>
          <p:cNvSpPr/>
          <p:nvPr/>
        </p:nvSpPr>
        <p:spPr>
          <a:xfrm>
            <a:off x="676656" y="4901184"/>
            <a:ext cx="39319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Autor: Jorge Luis Mayorga Taborda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Profesor: Jose I. Iñiguez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 de mayo de 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065008" y="6035040"/>
            <a:ext cx="283464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Fondo: captura real de CoppeliaSim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10835640" y="6327648"/>
            <a:ext cx="502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1/39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técnica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del trabajo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6F4F6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Ordenada para conectar especificación, implementación, métricas y conclusiones.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749808" y="1993392"/>
            <a:ext cx="1938528" cy="3163824"/>
          </a:xfrm>
          <a:prstGeom prst="roundRect">
            <a:avLst>
              <a:gd name="adj" fmla="val 3302"/>
            </a:avLst>
          </a:prstGeom>
          <a:solidFill>
            <a:srgbClr val="E6F4F6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9808" y="1993392"/>
            <a:ext cx="50292" cy="3163824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2340864"/>
            <a:ext cx="11887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7A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32688" y="3090672"/>
            <a:ext cx="144475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y escena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932688" y="3986784"/>
            <a:ext cx="149961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mannequin/Bill, almacén, R1, T1/T2 y métricas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17520" y="1993392"/>
            <a:ext cx="1938528" cy="3163824"/>
          </a:xfrm>
          <a:prstGeom prst="roundRect">
            <a:avLst>
              <a:gd name="adj" fmla="val 3302"/>
            </a:avLst>
          </a:prstGeom>
          <a:solidFill>
            <a:srgbClr val="FBE8D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017520" y="1993392"/>
            <a:ext cx="50292" cy="3163824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0" y="2340864"/>
            <a:ext cx="11887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7A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3200400" y="3090672"/>
            <a:ext cx="144475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y código</a:t>
            </a:r>
            <a:endParaRPr lang="en-US" sz="1120" dirty="0"/>
          </a:p>
        </p:txBody>
      </p:sp>
      <p:sp>
        <p:nvSpPr>
          <p:cNvPr id="42" name="Text 40"/>
          <p:cNvSpPr/>
          <p:nvPr/>
        </p:nvSpPr>
        <p:spPr>
          <a:xfrm>
            <a:off x="3200400" y="3986784"/>
            <a:ext cx="149961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 Lua, FSM, sensores, planner y logger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285232" y="1993392"/>
            <a:ext cx="1938528" cy="3163824"/>
          </a:xfrm>
          <a:prstGeom prst="roundRect">
            <a:avLst>
              <a:gd name="adj" fmla="val 3302"/>
            </a:avLst>
          </a:prstGeom>
          <a:solidFill>
            <a:srgbClr val="EAF1FB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285232" y="1993392"/>
            <a:ext cx="50292" cy="316382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68112" y="2340864"/>
            <a:ext cx="11887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6C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5468112" y="3090672"/>
            <a:ext cx="144475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de seguimiento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5468112" y="3986784"/>
            <a:ext cx="149961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P, PI, PID, LQR y NMPC con coste y pesos definidos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552944" y="1993392"/>
            <a:ext cx="1938528" cy="3163824"/>
          </a:xfrm>
          <a:prstGeom prst="roundRect">
            <a:avLst>
              <a:gd name="adj" fmla="val 3302"/>
            </a:avLst>
          </a:prstGeom>
          <a:solidFill>
            <a:srgbClr val="F0EEFB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552944" y="1993392"/>
            <a:ext cx="50292" cy="3163824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35824" y="2340864"/>
            <a:ext cx="11887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D5B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7735824" y="3090672"/>
            <a:ext cx="144475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 y Fase 2</a:t>
            </a:r>
            <a:endParaRPr lang="en-US" sz="1120" dirty="0"/>
          </a:p>
        </p:txBody>
      </p:sp>
      <p:sp>
        <p:nvSpPr>
          <p:cNvPr id="52" name="Text 50"/>
          <p:cNvSpPr/>
          <p:nvPr/>
        </p:nvSpPr>
        <p:spPr>
          <a:xfrm>
            <a:off x="7735824" y="3986784"/>
            <a:ext cx="149961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Kalman, grids log-odds, scan-to-map y submapas simplificados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9820656" y="1993392"/>
            <a:ext cx="1938528" cy="3163824"/>
          </a:xfrm>
          <a:prstGeom prst="roundRect">
            <a:avLst>
              <a:gd name="adj" fmla="val 3302"/>
            </a:avLst>
          </a:prstGeom>
          <a:solidFill>
            <a:srgbClr val="EAF7F4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9820656" y="1993392"/>
            <a:ext cx="50292" cy="316382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03536" y="2340864"/>
            <a:ext cx="11887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10003536" y="3090672"/>
            <a:ext cx="144475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</a:t>
            </a:r>
            <a:endParaRPr lang="en-US" sz="1120" dirty="0"/>
          </a:p>
        </p:txBody>
      </p:sp>
      <p:sp>
        <p:nvSpPr>
          <p:cNvPr id="57" name="Text 55"/>
          <p:cNvSpPr/>
          <p:nvPr/>
        </p:nvSpPr>
        <p:spPr>
          <a:xfrm>
            <a:off x="10003536" y="3986784"/>
            <a:ext cx="149961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limitaciones, elección técnica y trabajo futuro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41248" y="5650992"/>
            <a:ext cx="10744200" cy="512064"/>
          </a:xfrm>
          <a:prstGeom prst="roundRect">
            <a:avLst>
              <a:gd name="adj" fmla="val 21429"/>
            </a:avLst>
          </a:prstGeom>
          <a:solidFill>
            <a:srgbClr val="071826"/>
          </a:solidFill>
          <a:ln w="9525">
            <a:solidFill>
              <a:srgbClr val="0718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42416" y="5815584"/>
            <a:ext cx="1034186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1042416" y="6089904"/>
            <a:ext cx="10341864" cy="-18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bloque separa implementación, medición y limitaciones técnicas.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B1/R1 y puntos de misión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operativo de la celda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6F4F6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escena se organiza alrededor del rack T1/T2, mesas WS1/WS2, Bill, R1 y la estación de carga.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658368" y="1298448"/>
            <a:ext cx="7708392" cy="9144"/>
          </a:xfrm>
          <a:prstGeom prst="line">
            <a:avLst/>
          </a:prstGeom>
          <a:noFill/>
          <a:ln w="11430">
            <a:solidFill>
              <a:srgbClr val="1F7A8C"/>
            </a:solidFill>
            <a:prstDash val="solid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694944" y="1115568"/>
            <a:ext cx="38404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 superior de la celda y flujo B1/R1</a:t>
            </a:r>
            <a:endParaRPr lang="en-US" sz="800" dirty="0"/>
          </a:p>
        </p:txBody>
      </p:sp>
      <p:pic>
        <p:nvPicPr>
          <p:cNvPr id="35" name="Image 0" descr="C:\Users\walla\Documents\Master VIU\C9_SistRobMoviles\viu-mrob-sistemas-roboticos-moviles\actividad2\figures\phase1\phase1_layout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1346" y="1353312"/>
            <a:ext cx="4787611" cy="443484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833104" y="1536192"/>
            <a:ext cx="2011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8887968" y="2139696"/>
            <a:ext cx="91440" cy="91440"/>
          </a:xfrm>
          <a:prstGeom prst="ellipse">
            <a:avLst/>
          </a:prstGeom>
          <a:solidFill>
            <a:srgbClr val="1F7A8C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125712" y="2066544"/>
            <a:ext cx="26060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 parte de carga y toma T1 en el rack.</a:t>
            </a:r>
            <a:endParaRPr lang="en-US" sz="880" dirty="0"/>
          </a:p>
        </p:txBody>
      </p:sp>
      <p:sp>
        <p:nvSpPr>
          <p:cNvPr id="39" name="Shape 36"/>
          <p:cNvSpPr/>
          <p:nvPr/>
        </p:nvSpPr>
        <p:spPr>
          <a:xfrm>
            <a:off x="8887968" y="2670048"/>
            <a:ext cx="91440" cy="91440"/>
          </a:xfrm>
          <a:prstGeom prst="ellipse">
            <a:avLst/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125712" y="2596896"/>
            <a:ext cx="26060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 trabaja en WS1 y después se atiende WS2.</a:t>
            </a:r>
            <a:endParaRPr lang="en-US" sz="880" dirty="0"/>
          </a:p>
        </p:txBody>
      </p:sp>
      <p:sp>
        <p:nvSpPr>
          <p:cNvPr id="41" name="Shape 38"/>
          <p:cNvSpPr/>
          <p:nvPr/>
        </p:nvSpPr>
        <p:spPr>
          <a:xfrm>
            <a:off x="8887968" y="3200400"/>
            <a:ext cx="91440" cy="91440"/>
          </a:xfrm>
          <a:prstGeom prst="ellipse">
            <a:avLst/>
          </a:prstGeom>
          <a:solidFill>
            <a:srgbClr val="C97A5C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125712" y="3127248"/>
            <a:ext cx="26060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ruta evita pallet, pilar y caja durante el ciclo.</a:t>
            </a:r>
            <a:endParaRPr lang="en-US" sz="880" dirty="0"/>
          </a:p>
        </p:txBody>
      </p:sp>
      <p:sp>
        <p:nvSpPr>
          <p:cNvPr id="43" name="Shape 40"/>
          <p:cNvSpPr/>
          <p:nvPr/>
        </p:nvSpPr>
        <p:spPr>
          <a:xfrm>
            <a:off x="8887968" y="3730752"/>
            <a:ext cx="91440" cy="91440"/>
          </a:xfrm>
          <a:prstGeom prst="ellipse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3657600"/>
            <a:ext cx="26060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estados exportados conectan misión, control y SLAM.</a:t>
            </a:r>
            <a:endParaRPr lang="en-US" sz="880" dirty="0"/>
          </a:p>
        </p:txBody>
      </p:sp>
      <p:sp>
        <p:nvSpPr>
          <p:cNvPr id="45" name="Shape 42"/>
          <p:cNvSpPr/>
          <p:nvPr/>
        </p:nvSpPr>
        <p:spPr>
          <a:xfrm>
            <a:off x="8887968" y="4882896"/>
            <a:ext cx="1042416" cy="9144"/>
          </a:xfrm>
          <a:prstGeom prst="line">
            <a:avLst/>
          </a:prstGeom>
          <a:noFill/>
          <a:ln w="12700">
            <a:solidFill>
              <a:srgbClr val="C97A5C"/>
            </a:solidFill>
            <a:prstDash val="solid"/>
            <a:tailEnd type="none"/>
          </a:ln>
        </p:spPr>
      </p:sp>
      <p:sp>
        <p:nvSpPr>
          <p:cNvPr id="46" name="Text 43"/>
          <p:cNvSpPr/>
          <p:nvPr/>
        </p:nvSpPr>
        <p:spPr>
          <a:xfrm>
            <a:off x="8887968" y="5029200"/>
            <a:ext cx="10058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97A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T1/T2</a:t>
            </a:r>
            <a:endParaRPr lang="en-US" sz="1900" dirty="0"/>
          </a:p>
        </p:txBody>
      </p:sp>
      <p:sp>
        <p:nvSpPr>
          <p:cNvPr id="47" name="Text 44"/>
          <p:cNvSpPr/>
          <p:nvPr/>
        </p:nvSpPr>
        <p:spPr>
          <a:xfrm>
            <a:off x="8887968" y="5449824"/>
            <a:ext cx="135331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cola de herramientas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10442448" y="4882896"/>
            <a:ext cx="1060704" cy="9144"/>
          </a:xfrm>
          <a:prstGeom prst="line">
            <a:avLst/>
          </a:prstGeom>
          <a:noFill/>
          <a:ln w="12700">
            <a:solidFill>
              <a:srgbClr val="1F7A8C"/>
            </a:solidFill>
            <a:prstDash val="solid"/>
            <a:tailEnd type="none"/>
          </a:ln>
        </p:spPr>
      </p:sp>
      <p:sp>
        <p:nvSpPr>
          <p:cNvPr id="49" name="Text 46"/>
          <p:cNvSpPr/>
          <p:nvPr/>
        </p:nvSpPr>
        <p:spPr>
          <a:xfrm>
            <a:off x="10442448" y="5029200"/>
            <a:ext cx="102412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7A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R1/B1</a:t>
            </a:r>
            <a:endParaRPr lang="en-US" sz="1900" dirty="0"/>
          </a:p>
        </p:txBody>
      </p:sp>
      <p:sp>
        <p:nvSpPr>
          <p:cNvPr id="50" name="Text 47"/>
          <p:cNvSpPr/>
          <p:nvPr/>
        </p:nvSpPr>
        <p:spPr>
          <a:xfrm>
            <a:off x="10442448" y="5449824"/>
            <a:ext cx="135331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y persona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Navegación autónoma en una celda de almacén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6F4F6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Pioneer sigue al mannequin de la especificación, implementado como Bill/B1 en la escena.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749808" y="1700784"/>
            <a:ext cx="9144" cy="969264"/>
          </a:xfrm>
          <a:prstGeom prst="line">
            <a:avLst/>
          </a:prstGeom>
          <a:noFill/>
          <a:ln w="15240">
            <a:solidFill>
              <a:srgbClr val="1F7A8C"/>
            </a:solidFill>
            <a:prstDash val="solid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950976" y="1810512"/>
            <a:ext cx="27432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50976" y="2194560"/>
            <a:ext cx="27889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Coordinar seguimiento, cinemática diferencial, seguridad local y tareas T1/T2 en una escena con persona móvil.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4453128" y="1700784"/>
            <a:ext cx="9144" cy="969264"/>
          </a:xfrm>
          <a:prstGeom prst="line">
            <a:avLst/>
          </a:prstGeom>
          <a:noFill/>
          <a:ln w="15240">
            <a:solidFill>
              <a:srgbClr val="2A9D8F"/>
            </a:solidFill>
            <a:prstDash val="solid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4654296" y="1810512"/>
            <a:ext cx="27432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54296" y="2194560"/>
            <a:ext cx="27889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Campos potenciales, FSM de misión, sensores de proximidad, estimación Kalman y control de ruedas.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8156448" y="1700784"/>
            <a:ext cx="9144" cy="969264"/>
          </a:xfrm>
          <a:prstGeom prst="line">
            <a:avLst/>
          </a:prstGeom>
          <a:noFill/>
          <a:ln w="15240">
            <a:solidFill>
              <a:srgbClr val="6D5BD0"/>
            </a:solidFill>
            <a:prstDash val="solid"/>
            <a:tailEnd type="none"/>
          </a:ln>
        </p:spPr>
      </p:sp>
      <p:sp>
        <p:nvSpPr>
          <p:cNvPr id="40" name="Text 38"/>
          <p:cNvSpPr/>
          <p:nvPr/>
        </p:nvSpPr>
        <p:spPr>
          <a:xfrm>
            <a:off x="8357616" y="1810512"/>
            <a:ext cx="27432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357616" y="2194560"/>
            <a:ext cx="27889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 de P/PI/PID/LQR/NMPC y métodos SLAM con mapa conocido y desconocido.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841248" y="2907792"/>
            <a:ext cx="1060704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41248" y="2907792"/>
            <a:ext cx="50292" cy="42062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2416" y="3054096"/>
            <a:ext cx="102047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Nomenclatura</a:t>
            </a:r>
            <a:endParaRPr lang="en-US" sz="940" dirty="0"/>
          </a:p>
        </p:txBody>
      </p:sp>
      <p:sp>
        <p:nvSpPr>
          <p:cNvPr id="45" name="Text 43"/>
          <p:cNvSpPr/>
          <p:nvPr/>
        </p:nvSpPr>
        <p:spPr>
          <a:xfrm>
            <a:off x="1042416" y="3383280"/>
            <a:ext cx="1020470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mannequin de la especificación = Bill/B1 en CoppeliaSim; el requisito de seguimiento no cambia.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41248" y="3657600"/>
            <a:ext cx="2743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 evaluados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115568" y="4233672"/>
            <a:ext cx="100584" cy="100584"/>
          </a:xfrm>
          <a:prstGeom prst="ellipse">
            <a:avLst/>
          </a:prstGeom>
          <a:solidFill>
            <a:srgbClr val="1F7A8C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53312" y="4242816"/>
            <a:ext cx="90525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Regular distancia y orientación respecto a Bill mediante un punto p*.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115568" y="4672584"/>
            <a:ext cx="100584" cy="100584"/>
          </a:xfrm>
          <a:prstGeom prst="ellipse">
            <a:avLst/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53312" y="4681728"/>
            <a:ext cx="90525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 entregas T1/T2 con una máquina de estados reproducible.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115568" y="5111496"/>
            <a:ext cx="100584" cy="100584"/>
          </a:xfrm>
          <a:prstGeom prst="ellipse">
            <a:avLst/>
          </a:prstGeom>
          <a:solidFill>
            <a:srgbClr val="C97A5C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53312" y="5120640"/>
            <a:ext cx="90525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 obstáculos con sensores, reducción de velocidad y recuperación.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115568" y="5550408"/>
            <a:ext cx="100584" cy="100584"/>
          </a:xfrm>
          <a:prstGeom prst="ellipse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53312" y="5559552"/>
            <a:ext cx="90525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controladores y SLAM con métricas comunes.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Sensores, estimación, mapa y control en ciclo cerrado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6F4F6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misma arquitectura alimenta seguimiento, misión T1/T2, evitación y SLAM.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621792" y="1645920"/>
            <a:ext cx="9144" cy="612648"/>
          </a:xfrm>
          <a:prstGeom prst="line">
            <a:avLst/>
          </a:prstGeom>
          <a:noFill/>
          <a:ln w="13970">
            <a:solidFill>
              <a:srgbClr val="1F7A8C"/>
            </a:solidFill>
            <a:prstDash val="solid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768096" y="1618488"/>
            <a:ext cx="15544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sensores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768096" y="1856232"/>
            <a:ext cx="148132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ultrasonidos + rayos</a:t>
            </a:r>
            <a:endParaRPr lang="en-US" sz="710" dirty="0"/>
          </a:p>
        </p:txBody>
      </p:sp>
      <p:sp>
        <p:nvSpPr>
          <p:cNvPr id="36" name="Shape 34"/>
          <p:cNvSpPr/>
          <p:nvPr/>
        </p:nvSpPr>
        <p:spPr>
          <a:xfrm>
            <a:off x="2542032" y="1847088"/>
            <a:ext cx="292608" cy="9144"/>
          </a:xfrm>
          <a:prstGeom prst="line">
            <a:avLst/>
          </a:prstGeom>
          <a:noFill/>
          <a:ln w="12700">
            <a:solidFill>
              <a:srgbClr val="0F1A2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926080" y="1645920"/>
            <a:ext cx="9144" cy="612648"/>
          </a:xfrm>
          <a:prstGeom prst="line">
            <a:avLst/>
          </a:prstGeom>
          <a:noFill/>
          <a:ln w="13970">
            <a:solidFill>
              <a:srgbClr val="2A9D8F"/>
            </a:solidFill>
            <a:prstDash val="solid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3072384" y="1618488"/>
            <a:ext cx="15544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estimador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3072384" y="1856232"/>
            <a:ext cx="148132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odometría + corrección</a:t>
            </a:r>
            <a:endParaRPr lang="en-US" sz="710" dirty="0"/>
          </a:p>
        </p:txBody>
      </p:sp>
      <p:sp>
        <p:nvSpPr>
          <p:cNvPr id="40" name="Shape 38"/>
          <p:cNvSpPr/>
          <p:nvPr/>
        </p:nvSpPr>
        <p:spPr>
          <a:xfrm>
            <a:off x="4846320" y="1847088"/>
            <a:ext cx="292608" cy="9144"/>
          </a:xfrm>
          <a:prstGeom prst="line">
            <a:avLst/>
          </a:prstGeom>
          <a:noFill/>
          <a:ln w="12700">
            <a:solidFill>
              <a:srgbClr val="0F1A2A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230368" y="1645920"/>
            <a:ext cx="9144" cy="612648"/>
          </a:xfrm>
          <a:prstGeom prst="line">
            <a:avLst/>
          </a:prstGeom>
          <a:noFill/>
          <a:ln w="13970">
            <a:solidFill>
              <a:srgbClr val="6D5BD0"/>
            </a:solidFill>
            <a:prstDash val="solid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5376672" y="1618488"/>
            <a:ext cx="15544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5376672" y="1856232"/>
            <a:ext cx="148132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landmarks, grid o submapas</a:t>
            </a:r>
            <a:endParaRPr lang="en-US" sz="710" dirty="0"/>
          </a:p>
        </p:txBody>
      </p:sp>
      <p:sp>
        <p:nvSpPr>
          <p:cNvPr id="44" name="Shape 42"/>
          <p:cNvSpPr/>
          <p:nvPr/>
        </p:nvSpPr>
        <p:spPr>
          <a:xfrm>
            <a:off x="7150608" y="1847088"/>
            <a:ext cx="292608" cy="9144"/>
          </a:xfrm>
          <a:prstGeom prst="line">
            <a:avLst/>
          </a:prstGeom>
          <a:noFill/>
          <a:ln w="12700">
            <a:solidFill>
              <a:srgbClr val="0F1A2A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534656" y="1645920"/>
            <a:ext cx="9144" cy="612648"/>
          </a:xfrm>
          <a:prstGeom prst="line">
            <a:avLst/>
          </a:prstGeom>
          <a:noFill/>
          <a:ln w="13970">
            <a:solidFill>
              <a:srgbClr val="C97A5C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7680960" y="1618488"/>
            <a:ext cx="15544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7680960" y="1856232"/>
            <a:ext cx="148132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directa o SLAM_WAYPOINT</a:t>
            </a:r>
            <a:endParaRPr lang="en-US" sz="710" dirty="0"/>
          </a:p>
        </p:txBody>
      </p:sp>
      <p:sp>
        <p:nvSpPr>
          <p:cNvPr id="48" name="Shape 46"/>
          <p:cNvSpPr/>
          <p:nvPr/>
        </p:nvSpPr>
        <p:spPr>
          <a:xfrm>
            <a:off x="9454896" y="1847088"/>
            <a:ext cx="292608" cy="9144"/>
          </a:xfrm>
          <a:prstGeom prst="line">
            <a:avLst/>
          </a:prstGeom>
          <a:noFill/>
          <a:ln w="12700">
            <a:solidFill>
              <a:srgbClr val="0F1A2A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838944" y="1645920"/>
            <a:ext cx="9144" cy="612648"/>
          </a:xfrm>
          <a:prstGeom prst="line">
            <a:avLst/>
          </a:prstGeom>
          <a:noFill/>
          <a:ln w="13970">
            <a:solidFill>
              <a:srgbClr val="2B6CB0"/>
            </a:solidFill>
            <a:prstDash val="solid"/>
            <a:tailEnd type="none"/>
          </a:ln>
        </p:spPr>
      </p:sp>
      <p:sp>
        <p:nvSpPr>
          <p:cNvPr id="50" name="Text 48"/>
          <p:cNvSpPr/>
          <p:nvPr/>
        </p:nvSpPr>
        <p:spPr>
          <a:xfrm>
            <a:off x="9985248" y="1618488"/>
            <a:ext cx="15544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9985248" y="1856232"/>
            <a:ext cx="148132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P/PI/PID, LQR o NMPC</a:t>
            </a:r>
            <a:endParaRPr lang="en-US" sz="710" dirty="0"/>
          </a:p>
        </p:txBody>
      </p:sp>
      <p:sp>
        <p:nvSpPr>
          <p:cNvPr id="52" name="Shape 50"/>
          <p:cNvSpPr/>
          <p:nvPr/>
        </p:nvSpPr>
        <p:spPr>
          <a:xfrm>
            <a:off x="877824" y="3127248"/>
            <a:ext cx="9144" cy="2011680"/>
          </a:xfrm>
          <a:prstGeom prst="line">
            <a:avLst/>
          </a:prstGeom>
          <a:noFill/>
          <a:ln w="3175">
            <a:solidFill>
              <a:srgbClr val="C9D5E0"/>
            </a:solidFill>
            <a:prstDash val="solid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1755648" y="3127248"/>
            <a:ext cx="9144" cy="2011680"/>
          </a:xfrm>
          <a:prstGeom prst="line">
            <a:avLst/>
          </a:prstGeom>
          <a:noFill/>
          <a:ln w="3175">
            <a:solidFill>
              <a:srgbClr val="C9D5E0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633472" y="3127248"/>
            <a:ext cx="9144" cy="2011680"/>
          </a:xfrm>
          <a:prstGeom prst="line">
            <a:avLst/>
          </a:prstGeom>
          <a:noFill/>
          <a:ln w="3175">
            <a:solidFill>
              <a:srgbClr val="C9D5E0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3511296" y="3127248"/>
            <a:ext cx="9144" cy="2011680"/>
          </a:xfrm>
          <a:prstGeom prst="line">
            <a:avLst/>
          </a:prstGeom>
          <a:noFill/>
          <a:ln w="3175">
            <a:solidFill>
              <a:srgbClr val="C9D5E0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4389120" y="3127248"/>
            <a:ext cx="9144" cy="2011680"/>
          </a:xfrm>
          <a:prstGeom prst="line">
            <a:avLst/>
          </a:prstGeom>
          <a:noFill/>
          <a:ln w="3175">
            <a:solidFill>
              <a:srgbClr val="C9D5E0"/>
            </a:solidFill>
            <a:prstDash val="solid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5266944" y="3127248"/>
            <a:ext cx="9144" cy="2011680"/>
          </a:xfrm>
          <a:prstGeom prst="line">
            <a:avLst/>
          </a:prstGeom>
          <a:noFill/>
          <a:ln w="3175">
            <a:solidFill>
              <a:srgbClr val="C9D5E0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6144768" y="3127248"/>
            <a:ext cx="9144" cy="2011680"/>
          </a:xfrm>
          <a:prstGeom prst="line">
            <a:avLst/>
          </a:prstGeom>
          <a:noFill/>
          <a:ln w="3175">
            <a:solidFill>
              <a:srgbClr val="C9D5E0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7022592" y="3127248"/>
            <a:ext cx="9144" cy="2011680"/>
          </a:xfrm>
          <a:prstGeom prst="line">
            <a:avLst/>
          </a:prstGeom>
          <a:noFill/>
          <a:ln w="3175">
            <a:solidFill>
              <a:srgbClr val="C9D5E0"/>
            </a:solidFill>
            <a:prstDash val="solid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7900416" y="3127248"/>
            <a:ext cx="9144" cy="2011680"/>
          </a:xfrm>
          <a:prstGeom prst="line">
            <a:avLst/>
          </a:prstGeom>
          <a:noFill/>
          <a:ln w="3175">
            <a:solidFill>
              <a:srgbClr val="C9D5E0"/>
            </a:solidFill>
            <a:prstDash val="solid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8778240" y="3127248"/>
            <a:ext cx="9144" cy="2011680"/>
          </a:xfrm>
          <a:prstGeom prst="line">
            <a:avLst/>
          </a:prstGeom>
          <a:noFill/>
          <a:ln w="3175">
            <a:solidFill>
              <a:srgbClr val="C9D5E0"/>
            </a:solidFill>
            <a:prstDash val="solid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9656064" y="3127248"/>
            <a:ext cx="9144" cy="2011680"/>
          </a:xfrm>
          <a:prstGeom prst="line">
            <a:avLst/>
          </a:prstGeom>
          <a:noFill/>
          <a:ln w="3175">
            <a:solidFill>
              <a:srgbClr val="C9D5E0"/>
            </a:solidFill>
            <a:prstDash val="solid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10533888" y="3127248"/>
            <a:ext cx="9144" cy="2011680"/>
          </a:xfrm>
          <a:prstGeom prst="line">
            <a:avLst/>
          </a:prstGeom>
          <a:noFill/>
          <a:ln w="3175">
            <a:solidFill>
              <a:srgbClr val="C9D5E0"/>
            </a:solidFill>
            <a:prstDash val="solid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11411712" y="3127248"/>
            <a:ext cx="9144" cy="2011680"/>
          </a:xfrm>
          <a:prstGeom prst="line">
            <a:avLst/>
          </a:prstGeom>
          <a:noFill/>
          <a:ln w="3175">
            <a:solidFill>
              <a:srgbClr val="C9D5E0"/>
            </a:solidFill>
            <a:prstDash val="solid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877824" y="3127248"/>
            <a:ext cx="10607040" cy="9144"/>
          </a:xfrm>
          <a:prstGeom prst="line">
            <a:avLst/>
          </a:prstGeom>
          <a:noFill/>
          <a:ln w="3175">
            <a:solidFill>
              <a:srgbClr val="C9D5E0"/>
            </a:solidFill>
            <a:prstDash val="solid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877824" y="3630168"/>
            <a:ext cx="10607040" cy="9144"/>
          </a:xfrm>
          <a:prstGeom prst="line">
            <a:avLst/>
          </a:prstGeom>
          <a:noFill/>
          <a:ln w="3175">
            <a:solidFill>
              <a:srgbClr val="C9D5E0"/>
            </a:solidFill>
            <a:prstDash val="solid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877824" y="4133088"/>
            <a:ext cx="10607040" cy="9144"/>
          </a:xfrm>
          <a:prstGeom prst="line">
            <a:avLst/>
          </a:prstGeom>
          <a:noFill/>
          <a:ln w="3175">
            <a:solidFill>
              <a:srgbClr val="C9D5E0"/>
            </a:solidFill>
            <a:prstDash val="solid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877824" y="4636008"/>
            <a:ext cx="10607040" cy="9144"/>
          </a:xfrm>
          <a:prstGeom prst="line">
            <a:avLst/>
          </a:prstGeom>
          <a:noFill/>
          <a:ln w="3175">
            <a:solidFill>
              <a:srgbClr val="C9D5E0"/>
            </a:solidFill>
            <a:prstDash val="solid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877824" y="5138928"/>
            <a:ext cx="10607040" cy="9144"/>
          </a:xfrm>
          <a:prstGeom prst="line">
            <a:avLst/>
          </a:prstGeom>
          <a:noFill/>
          <a:ln w="3175">
            <a:solidFill>
              <a:srgbClr val="C9D5E0"/>
            </a:solidFill>
            <a:prstDash val="solid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1475110" y="3788542"/>
            <a:ext cx="798820" cy="7988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632021" y="4031041"/>
            <a:ext cx="484998" cy="313822"/>
          </a:xfrm>
          <a:prstGeom prst="roundRect">
            <a:avLst>
              <a:gd name="adj" fmla="val 34965"/>
            </a:avLst>
          </a:prstGeom>
          <a:solidFill>
            <a:srgbClr val="E6F4F6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546433" y="3973982"/>
            <a:ext cx="106985" cy="427939"/>
          </a:xfrm>
          <a:prstGeom prst="rect">
            <a:avLst/>
          </a:prstGeom>
          <a:solidFill>
            <a:srgbClr val="0F1A2A"/>
          </a:solidFill>
          <a:ln w="8890">
            <a:solidFill>
              <a:srgbClr val="0F1A2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095622" y="3973982"/>
            <a:ext cx="106985" cy="427939"/>
          </a:xfrm>
          <a:prstGeom prst="rect">
            <a:avLst/>
          </a:prstGeom>
          <a:solidFill>
            <a:srgbClr val="0F1A2A"/>
          </a:solidFill>
          <a:ln w="8890">
            <a:solidFill>
              <a:srgbClr val="0F1A2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874520" y="4187952"/>
            <a:ext cx="570586" cy="9144"/>
          </a:xfrm>
          <a:prstGeom prst="line">
            <a:avLst/>
          </a:prstGeom>
          <a:noFill/>
          <a:ln w="20320">
            <a:solidFill>
              <a:srgbClr val="1F7A8C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 flipV="1">
            <a:off x="1874520" y="3617366"/>
            <a:ext cx="9144" cy="570586"/>
          </a:xfrm>
          <a:prstGeom prst="line">
            <a:avLst/>
          </a:prstGeom>
          <a:noFill/>
          <a:ln w="20320">
            <a:solidFill>
              <a:srgbClr val="2DB7E5"/>
            </a:solidFill>
            <a:prstDash val="solid"/>
            <a:tailEnd type="triangle"/>
          </a:ln>
        </p:spPr>
      </p:sp>
      <p:sp>
        <p:nvSpPr>
          <p:cNvPr id="76" name="Text 74"/>
          <p:cNvSpPr/>
          <p:nvPr/>
        </p:nvSpPr>
        <p:spPr>
          <a:xfrm>
            <a:off x="2188342" y="4095232"/>
            <a:ext cx="242499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x_R</a:t>
            </a:r>
            <a:endParaRPr lang="en-US" sz="740" dirty="0"/>
          </a:p>
        </p:txBody>
      </p:sp>
      <p:sp>
        <p:nvSpPr>
          <p:cNvPr id="77" name="Text 75"/>
          <p:cNvSpPr/>
          <p:nvPr/>
        </p:nvSpPr>
        <p:spPr>
          <a:xfrm>
            <a:off x="1917314" y="3688690"/>
            <a:ext cx="242499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DB7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y_R</a:t>
            </a:r>
            <a:endParaRPr lang="en-US" sz="740" dirty="0"/>
          </a:p>
        </p:txBody>
      </p:sp>
      <p:sp>
        <p:nvSpPr>
          <p:cNvPr id="78" name="Text 76"/>
          <p:cNvSpPr/>
          <p:nvPr/>
        </p:nvSpPr>
        <p:spPr>
          <a:xfrm>
            <a:off x="1517904" y="4630156"/>
            <a:ext cx="713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</a:t>
            </a:r>
            <a:endParaRPr lang="en-US" sz="820" dirty="0"/>
          </a:p>
        </p:txBody>
      </p:sp>
      <p:sp>
        <p:nvSpPr>
          <p:cNvPr id="79" name="Shape 77"/>
          <p:cNvSpPr/>
          <p:nvPr/>
        </p:nvSpPr>
        <p:spPr>
          <a:xfrm>
            <a:off x="9919411" y="4250131"/>
            <a:ext cx="460858" cy="460858"/>
          </a:xfrm>
          <a:prstGeom prst="ellipse">
            <a:avLst/>
          </a:prstGeom>
          <a:solidFill>
            <a:srgbClr val="FFF3E6"/>
          </a:solidFill>
          <a:ln w="9525">
            <a:solidFill>
              <a:srgbClr val="F4A26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060229" y="4390949"/>
            <a:ext cx="179222" cy="179222"/>
          </a:xfrm>
          <a:prstGeom prst="ellipse">
            <a:avLst/>
          </a:prstGeom>
          <a:solidFill>
            <a:srgbClr val="F4A261"/>
          </a:solidFill>
          <a:ln w="9525">
            <a:solidFill>
              <a:srgbClr val="F4A26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149840" y="4480560"/>
            <a:ext cx="460858" cy="9144"/>
          </a:xfrm>
          <a:prstGeom prst="line">
            <a:avLst/>
          </a:prstGeom>
          <a:noFill/>
          <a:ln w="20320">
            <a:solidFill>
              <a:srgbClr val="F4A261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 flipH="1">
            <a:off x="9868205" y="4480560"/>
            <a:ext cx="281635" cy="9144"/>
          </a:xfrm>
          <a:prstGeom prst="line">
            <a:avLst/>
          </a:prstGeom>
          <a:noFill/>
          <a:ln w="11430">
            <a:solidFill>
              <a:srgbClr val="C9D5E0"/>
            </a:solidFill>
            <a:prstDash val="solid"/>
            <a:tailEnd type="none"/>
          </a:ln>
        </p:spPr>
      </p:sp>
      <p:sp>
        <p:nvSpPr>
          <p:cNvPr id="83" name="Text 81"/>
          <p:cNvSpPr/>
          <p:nvPr/>
        </p:nvSpPr>
        <p:spPr>
          <a:xfrm>
            <a:off x="10034626" y="4109314"/>
            <a:ext cx="294437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p_B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10393070" y="4352544"/>
            <a:ext cx="44805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theta_B</a:t>
            </a:r>
            <a:endParaRPr lang="en-US" sz="740" dirty="0"/>
          </a:p>
        </p:txBody>
      </p:sp>
      <p:sp>
        <p:nvSpPr>
          <p:cNvPr id="85" name="Text 83"/>
          <p:cNvSpPr/>
          <p:nvPr/>
        </p:nvSpPr>
        <p:spPr>
          <a:xfrm>
            <a:off x="9945014" y="4787798"/>
            <a:ext cx="409651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413248" y="3950208"/>
            <a:ext cx="640080" cy="475488"/>
          </a:xfrm>
          <a:prstGeom prst="rect">
            <a:avLst/>
          </a:prstGeom>
          <a:solidFill>
            <a:srgbClr val="FDECEC"/>
          </a:solidFill>
          <a:ln w="8890">
            <a:solidFill>
              <a:srgbClr val="B91C1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212848" y="4297680"/>
            <a:ext cx="1947672" cy="420624"/>
          </a:xfrm>
          <a:prstGeom prst="line">
            <a:avLst/>
          </a:prstGeom>
          <a:noFill/>
          <a:ln w="16510">
            <a:solidFill>
              <a:srgbClr val="C97A5C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 flipV="1">
            <a:off x="4160520" y="4553712"/>
            <a:ext cx="2057400" cy="164592"/>
          </a:xfrm>
          <a:prstGeom prst="line">
            <a:avLst/>
          </a:prstGeom>
          <a:noFill/>
          <a:ln w="16510">
            <a:solidFill>
              <a:srgbClr val="C97A5C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 flipV="1">
            <a:off x="6217920" y="4535424"/>
            <a:ext cx="3474720" cy="18288"/>
          </a:xfrm>
          <a:prstGeom prst="line">
            <a:avLst/>
          </a:prstGeom>
          <a:noFill/>
          <a:ln w="16510">
            <a:solidFill>
              <a:srgbClr val="C97A5C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 flipV="1">
            <a:off x="2212848" y="3566160"/>
            <a:ext cx="1719072" cy="457200"/>
          </a:xfrm>
          <a:prstGeom prst="line">
            <a:avLst/>
          </a:prstGeom>
          <a:noFill/>
          <a:ln w="12700">
            <a:solidFill>
              <a:srgbClr val="6D5BD0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3931920" y="3566160"/>
            <a:ext cx="3035808" cy="54864"/>
          </a:xfrm>
          <a:prstGeom prst="line">
            <a:avLst/>
          </a:prstGeom>
          <a:noFill/>
          <a:ln w="12700">
            <a:solidFill>
              <a:srgbClr val="6D5BD0"/>
            </a:solidFill>
            <a:prstDash val="solid"/>
            <a:tailEnd type="triangle"/>
          </a:ln>
        </p:spPr>
      </p:sp>
      <p:sp>
        <p:nvSpPr>
          <p:cNvPr id="92" name="Text 90"/>
          <p:cNvSpPr/>
          <p:nvPr/>
        </p:nvSpPr>
        <p:spPr>
          <a:xfrm>
            <a:off x="6035040" y="4736592"/>
            <a:ext cx="9601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nominal</a:t>
            </a:r>
            <a:endParaRPr lang="en-US" sz="720" dirty="0"/>
          </a:p>
        </p:txBody>
      </p:sp>
      <p:sp>
        <p:nvSpPr>
          <p:cNvPr id="93" name="Text 91"/>
          <p:cNvSpPr/>
          <p:nvPr/>
        </p:nvSpPr>
        <p:spPr>
          <a:xfrm>
            <a:off x="4864608" y="3401568"/>
            <a:ext cx="12801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SLAM_WAYPOINT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841248" y="5650992"/>
            <a:ext cx="1005840" cy="9144"/>
          </a:xfrm>
          <a:prstGeom prst="line">
            <a:avLst/>
          </a:prstGeom>
          <a:noFill/>
          <a:ln w="12700">
            <a:solidFill>
              <a:srgbClr val="1F7A8C"/>
            </a:solidFill>
            <a:prstDash val="solid"/>
            <a:tailEnd type="none"/>
          </a:ln>
        </p:spPr>
      </p:sp>
      <p:sp>
        <p:nvSpPr>
          <p:cNvPr id="95" name="Text 93"/>
          <p:cNvSpPr/>
          <p:nvPr/>
        </p:nvSpPr>
        <p:spPr>
          <a:xfrm>
            <a:off x="841248" y="5797296"/>
            <a:ext cx="1965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readObstacleField</a:t>
            </a:r>
            <a:endParaRPr lang="en-US" sz="820" dirty="0"/>
          </a:p>
        </p:txBody>
      </p:sp>
      <p:sp>
        <p:nvSpPr>
          <p:cNvPr id="96" name="Text 94"/>
          <p:cNvSpPr/>
          <p:nvPr/>
        </p:nvSpPr>
        <p:spPr>
          <a:xfrm>
            <a:off x="841248" y="6089904"/>
            <a:ext cx="2011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riesgo, giro y distancia mínima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3456432" y="5650992"/>
            <a:ext cx="1005840" cy="9144"/>
          </a:xfrm>
          <a:prstGeom prst="line">
            <a:avLst/>
          </a:prstGeom>
          <a:noFill/>
          <a:ln w="12700">
            <a:solidFill>
              <a:srgbClr val="6D5BD0"/>
            </a:solidFill>
            <a:prstDash val="solid"/>
            <a:tailEnd type="none"/>
          </a:ln>
        </p:spPr>
      </p:sp>
      <p:sp>
        <p:nvSpPr>
          <p:cNvPr id="98" name="Text 96"/>
          <p:cNvSpPr/>
          <p:nvPr/>
        </p:nvSpPr>
        <p:spPr>
          <a:xfrm>
            <a:off x="3456432" y="5797296"/>
            <a:ext cx="1965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registerSlamDetection</a:t>
            </a:r>
            <a:endParaRPr lang="en-US" sz="820" dirty="0"/>
          </a:p>
        </p:txBody>
      </p:sp>
      <p:sp>
        <p:nvSpPr>
          <p:cNvPr id="99" name="Text 97"/>
          <p:cNvSpPr/>
          <p:nvPr/>
        </p:nvSpPr>
        <p:spPr>
          <a:xfrm>
            <a:off x="3456432" y="6089904"/>
            <a:ext cx="2011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 sensor a mundo y mapa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6327648" y="5650992"/>
            <a:ext cx="1005840" cy="9144"/>
          </a:xfrm>
          <a:prstGeom prst="line">
            <a:avLst/>
          </a:prstGeom>
          <a:noFill/>
          <a:ln w="12700">
            <a:solidFill>
              <a:srgbClr val="C97A5C"/>
            </a:solidFill>
            <a:prstDash val="solid"/>
            <a:tailEnd type="none"/>
          </a:ln>
        </p:spPr>
      </p:sp>
      <p:sp>
        <p:nvSpPr>
          <p:cNvPr id="101" name="Text 99"/>
          <p:cNvSpPr/>
          <p:nvPr/>
        </p:nvSpPr>
        <p:spPr>
          <a:xfrm>
            <a:off x="6327648" y="5797296"/>
            <a:ext cx="1965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plannedWaypointTo</a:t>
            </a:r>
            <a:endParaRPr lang="en-US" sz="820" dirty="0"/>
          </a:p>
        </p:txBody>
      </p:sp>
      <p:sp>
        <p:nvSpPr>
          <p:cNvPr id="102" name="Text 100"/>
          <p:cNvSpPr/>
          <p:nvPr/>
        </p:nvSpPr>
        <p:spPr>
          <a:xfrm>
            <a:off x="6327648" y="6089904"/>
            <a:ext cx="2011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directa o punto intermedio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9034272" y="5650992"/>
            <a:ext cx="1005840" cy="9144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  <a:tailEnd type="none"/>
          </a:ln>
        </p:spPr>
      </p:sp>
      <p:sp>
        <p:nvSpPr>
          <p:cNvPr id="104" name="Text 102"/>
          <p:cNvSpPr/>
          <p:nvPr/>
        </p:nvSpPr>
        <p:spPr>
          <a:xfrm>
            <a:off x="9034272" y="5797296"/>
            <a:ext cx="1965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publishTelemetry</a:t>
            </a:r>
            <a:endParaRPr lang="en-US" sz="820" dirty="0"/>
          </a:p>
        </p:txBody>
      </p:sp>
      <p:sp>
        <p:nvSpPr>
          <p:cNvPr id="105" name="Text 103"/>
          <p:cNvSpPr/>
          <p:nvPr/>
        </p:nvSpPr>
        <p:spPr>
          <a:xfrm>
            <a:off x="9034272" y="6089904"/>
            <a:ext cx="2011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CSV/JSON de estado y mapa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 principal Fase 1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Almacén: R1, Bill y herramientas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6F4F6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Shape 23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6/39</a:t>
            </a:r>
            <a:endParaRPr lang="en-US" sz="690" dirty="0"/>
          </a:p>
        </p:txBody>
      </p:sp>
      <p:sp>
        <p:nvSpPr>
          <p:cNvPr id="32" name="Shape 30"/>
          <p:cNvSpPr/>
          <p:nvPr/>
        </p:nvSpPr>
        <p:spPr>
          <a:xfrm>
            <a:off x="694944" y="1298448"/>
            <a:ext cx="6903720" cy="4224528"/>
          </a:xfrm>
          <a:prstGeom prst="roundRect">
            <a:avLst>
              <a:gd name="adj" fmla="val 1515"/>
            </a:avLst>
          </a:prstGeom>
          <a:solidFill>
            <a:srgbClr val="FCFDFE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4944" y="1298448"/>
            <a:ext cx="50292" cy="42245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pic>
        <p:nvPicPr>
          <p:cNvPr id="34" name="Image 0" descr="C:\Users\walla\Documents\Master VIU\C9_SistRobMoviles\viu-mrob-sistemas-roboticos-moviles\actividad2\figures\phase1\coppeliasim_phase1_overview_orien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1142" y="1554480"/>
            <a:ext cx="5123891" cy="3602736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932688" y="1481328"/>
            <a:ext cx="5074920" cy="310896"/>
          </a:xfrm>
          <a:prstGeom prst="roundRect">
            <a:avLst>
              <a:gd name="adj" fmla="val 35294"/>
            </a:avLst>
          </a:prstGeom>
          <a:solidFill>
            <a:srgbClr val="FCFDFE">
              <a:alpha val="92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60704" y="1572768"/>
            <a:ext cx="47548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 principal: R1, Bill, rack T1/T2, mesas WS1/WS2 y estacion de carga</a:t>
            </a:r>
            <a:endParaRPr lang="en-US" sz="710" dirty="0"/>
          </a:p>
        </p:txBody>
      </p:sp>
      <p:sp>
        <p:nvSpPr>
          <p:cNvPr id="37" name="Text 34"/>
          <p:cNvSpPr/>
          <p:nvPr/>
        </p:nvSpPr>
        <p:spPr>
          <a:xfrm>
            <a:off x="8183880" y="1645920"/>
            <a:ext cx="23774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 en escena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8266176" y="2176272"/>
            <a:ext cx="82296" cy="82296"/>
          </a:xfrm>
          <a:prstGeom prst="ellipse">
            <a:avLst/>
          </a:prstGeom>
          <a:solidFill>
            <a:srgbClr val="1F7A8C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485632" y="2103120"/>
            <a:ext cx="30632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misión completa se ejecuta en una celda de almacén, no en una prueba aislada.</a:t>
            </a:r>
            <a:endParaRPr lang="en-US" sz="890" dirty="0"/>
          </a:p>
        </p:txBody>
      </p:sp>
      <p:sp>
        <p:nvSpPr>
          <p:cNvPr id="40" name="Shape 37"/>
          <p:cNvSpPr/>
          <p:nvPr/>
        </p:nvSpPr>
        <p:spPr>
          <a:xfrm>
            <a:off x="8266176" y="2724912"/>
            <a:ext cx="82296" cy="82296"/>
          </a:xfrm>
          <a:prstGeom prst="ellipse">
            <a:avLst/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485632" y="2651760"/>
            <a:ext cx="30632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 permanece orientado hacia la mesa durante el trabajo.</a:t>
            </a:r>
            <a:endParaRPr lang="en-US" sz="890" dirty="0"/>
          </a:p>
        </p:txBody>
      </p:sp>
      <p:sp>
        <p:nvSpPr>
          <p:cNvPr id="42" name="Shape 39"/>
          <p:cNvSpPr/>
          <p:nvPr/>
        </p:nvSpPr>
        <p:spPr>
          <a:xfrm>
            <a:off x="8266176" y="3273552"/>
            <a:ext cx="82296" cy="82296"/>
          </a:xfrm>
          <a:prstGeom prst="ellipse">
            <a:avLst/>
          </a:prstGeom>
          <a:solidFill>
            <a:srgbClr val="C97A5C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485632" y="3200400"/>
            <a:ext cx="30632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evitación local y el mapa SLAM se actualizan durante la misma ejecución.</a:t>
            </a:r>
            <a:endParaRPr lang="en-US" sz="890" dirty="0"/>
          </a:p>
        </p:txBody>
      </p:sp>
      <p:sp>
        <p:nvSpPr>
          <p:cNvPr id="44" name="Shape 41"/>
          <p:cNvSpPr/>
          <p:nvPr/>
        </p:nvSpPr>
        <p:spPr>
          <a:xfrm>
            <a:off x="8266176" y="3822192"/>
            <a:ext cx="82296" cy="82296"/>
          </a:xfrm>
          <a:prstGeom prst="ellipse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485632" y="3749040"/>
            <a:ext cx="30632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cierre se mide con estado, batería, riesgo, pose y mapa exportados.</a:t>
            </a:r>
            <a:endParaRPr lang="en-US" sz="890" dirty="0"/>
          </a:p>
        </p:txBody>
      </p:sp>
      <p:sp>
        <p:nvSpPr>
          <p:cNvPr id="46" name="Shape 43"/>
          <p:cNvSpPr/>
          <p:nvPr/>
        </p:nvSpPr>
        <p:spPr>
          <a:xfrm>
            <a:off x="8183880" y="4791456"/>
            <a:ext cx="1645920" cy="960120"/>
          </a:xfrm>
          <a:prstGeom prst="roundRect">
            <a:avLst>
              <a:gd name="adj" fmla="val 6667"/>
            </a:avLst>
          </a:prstGeom>
          <a:solidFill>
            <a:srgbClr val="EAF7F4"/>
          </a:solidFill>
          <a:ln w="5334">
            <a:solidFill>
              <a:srgbClr val="2A9D8F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8183880" y="4791456"/>
            <a:ext cx="50292" cy="9601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183880" y="4791456"/>
            <a:ext cx="73152" cy="96012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348472" y="4910328"/>
            <a:ext cx="131673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4/4</a:t>
            </a:r>
            <a:endParaRPr lang="en-US" sz="1850" dirty="0"/>
          </a:p>
        </p:txBody>
      </p:sp>
      <p:sp>
        <p:nvSpPr>
          <p:cNvPr id="50" name="Text 47"/>
          <p:cNvSpPr/>
          <p:nvPr/>
        </p:nvSpPr>
        <p:spPr>
          <a:xfrm>
            <a:off x="8348472" y="5239512"/>
            <a:ext cx="131673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tareas</a:t>
            </a:r>
            <a:endParaRPr lang="en-US" sz="870" dirty="0"/>
          </a:p>
        </p:txBody>
      </p:sp>
      <p:sp>
        <p:nvSpPr>
          <p:cNvPr id="51" name="Text 48"/>
          <p:cNvSpPr/>
          <p:nvPr/>
        </p:nvSpPr>
        <p:spPr>
          <a:xfrm>
            <a:off x="8348472" y="5440680"/>
            <a:ext cx="131673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 T1/T2 completo</a:t>
            </a:r>
            <a:endParaRPr lang="en-US" sz="770" dirty="0"/>
          </a:p>
        </p:txBody>
      </p:sp>
      <p:sp>
        <p:nvSpPr>
          <p:cNvPr id="52" name="Shape 49"/>
          <p:cNvSpPr/>
          <p:nvPr/>
        </p:nvSpPr>
        <p:spPr>
          <a:xfrm>
            <a:off x="10040112" y="4791456"/>
            <a:ext cx="1645920" cy="960120"/>
          </a:xfrm>
          <a:prstGeom prst="roundRect">
            <a:avLst>
              <a:gd name="adj" fmla="val 6667"/>
            </a:avLst>
          </a:prstGeom>
          <a:solidFill>
            <a:srgbClr val="E6F4F6"/>
          </a:solidFill>
          <a:ln w="5334">
            <a:solidFill>
              <a:srgbClr val="1F7A8C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10040112" y="4791456"/>
            <a:ext cx="50292" cy="96012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0040112" y="4791456"/>
            <a:ext cx="73152" cy="960120"/>
          </a:xfrm>
          <a:prstGeom prst="rect">
            <a:avLst/>
          </a:prstGeom>
          <a:solidFill>
            <a:srgbClr val="1F7A8C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204704" y="4910328"/>
            <a:ext cx="131673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F7A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0,030 m</a:t>
            </a:r>
            <a:endParaRPr lang="en-US" sz="1850" dirty="0"/>
          </a:p>
        </p:txBody>
      </p:sp>
      <p:sp>
        <p:nvSpPr>
          <p:cNvPr id="56" name="Text 53"/>
          <p:cNvSpPr/>
          <p:nvPr/>
        </p:nvSpPr>
        <p:spPr>
          <a:xfrm>
            <a:off x="10204704" y="5239512"/>
            <a:ext cx="131673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</a:t>
            </a:r>
            <a:endParaRPr lang="en-US" sz="870" dirty="0"/>
          </a:p>
        </p:txBody>
      </p:sp>
      <p:sp>
        <p:nvSpPr>
          <p:cNvPr id="57" name="Text 54"/>
          <p:cNvSpPr/>
          <p:nvPr/>
        </p:nvSpPr>
        <p:spPr>
          <a:xfrm>
            <a:off x="10204704" y="5440680"/>
            <a:ext cx="131673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final Fase 1</a:t>
            </a:r>
            <a:endParaRPr lang="en-US" sz="7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seguimiento, Fase 1 y Fase 2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Escenas de simulación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6F4F6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Shape 23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7/39</a:t>
            </a:r>
            <a:endParaRPr lang="en-US" sz="690" dirty="0"/>
          </a:p>
        </p:txBody>
      </p:sp>
      <p:sp>
        <p:nvSpPr>
          <p:cNvPr id="32" name="Text 30"/>
          <p:cNvSpPr/>
          <p:nvPr/>
        </p:nvSpPr>
        <p:spPr>
          <a:xfrm>
            <a:off x="749808" y="1389888"/>
            <a:ext cx="53035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ejecuciones, tres comportamientos observables</a:t>
            </a:r>
            <a:endParaRPr lang="en-US" sz="1420" dirty="0"/>
          </a:p>
        </p:txBody>
      </p:sp>
      <p:sp>
        <p:nvSpPr>
          <p:cNvPr id="33" name="Text 31"/>
          <p:cNvSpPr/>
          <p:nvPr/>
        </p:nvSpPr>
        <p:spPr>
          <a:xfrm>
            <a:off x="749808" y="1719072"/>
            <a:ext cx="9418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capturas cubren tres estados del sistema: seguimiento, entrega con evitación y mapa desconocido.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" y="2212848"/>
            <a:ext cx="3127248" cy="3273552"/>
          </a:xfrm>
          <a:prstGeom prst="roundRect">
            <a:avLst>
              <a:gd name="adj" fmla="val 2047"/>
            </a:avLst>
          </a:prstGeom>
          <a:solidFill>
            <a:srgbClr val="E6F4F6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" y="2212848"/>
            <a:ext cx="50292" cy="3273552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pic>
        <p:nvPicPr>
          <p:cNvPr id="36" name="Image 0" descr="C:\Users\walla\Documents\Master VIU\C9_SistRobMoviles\viu-mrob-sistemas-roboticos-moviles\actividad2\slides\assets\follower_replay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60057"/>
            <a:ext cx="2615184" cy="1501309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005840" y="4882896"/>
            <a:ext cx="23774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005840" y="5138928"/>
            <a:ext cx="2523744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 define el objetivo móvil y se comparan P, PI, PID, LQR y NMPC.</a:t>
            </a:r>
            <a:endParaRPr lang="en-US" sz="810" dirty="0"/>
          </a:p>
        </p:txBody>
      </p:sp>
      <p:sp>
        <p:nvSpPr>
          <p:cNvPr id="39" name="Shape 36"/>
          <p:cNvSpPr/>
          <p:nvPr/>
        </p:nvSpPr>
        <p:spPr>
          <a:xfrm>
            <a:off x="4370832" y="2212848"/>
            <a:ext cx="3127248" cy="3273552"/>
          </a:xfrm>
          <a:prstGeom prst="roundRect">
            <a:avLst>
              <a:gd name="adj" fmla="val 2047"/>
            </a:avLst>
          </a:prstGeom>
          <a:solidFill>
            <a:srgbClr val="EAF7F4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370832" y="2212848"/>
            <a:ext cx="50292" cy="32735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pic>
        <p:nvPicPr>
          <p:cNvPr id="41" name="Image 1" descr="C:\Users\walla\Documents\Master VIU\C9_SistRobMoviles\viu-mrob-sistemas-roboticos-moviles\actividad2\figures\phase1\coppeliasim_phase1_handoff_t1_orien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072" y="2450592"/>
            <a:ext cx="2080768" cy="1463040"/>
          </a:xfrm>
          <a:prstGeom prst="rect">
            <a:avLst/>
          </a:prstGeom>
        </p:spPr>
      </p:pic>
      <p:pic>
        <p:nvPicPr>
          <p:cNvPr id="42" name="Image 2" descr="C:\Users\walla\Documents\Master VIU\C9_SistRobMoviles\viu-mrob-sistemas-roboticos-moviles\actividad2\figures\phase1\coppeliasim_phase1_sensor_rays_avoidance_orien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432" y="3657600"/>
            <a:ext cx="1690624" cy="118872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4626864" y="4882896"/>
            <a:ext cx="23774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1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4626864" y="5138928"/>
            <a:ext cx="2523744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T1/T2, Bill trabajando y evitación durante la misma misión.</a:t>
            </a:r>
            <a:endParaRPr lang="en-US" sz="810" dirty="0"/>
          </a:p>
        </p:txBody>
      </p:sp>
      <p:sp>
        <p:nvSpPr>
          <p:cNvPr id="45" name="Shape 40"/>
          <p:cNvSpPr/>
          <p:nvPr/>
        </p:nvSpPr>
        <p:spPr>
          <a:xfrm>
            <a:off x="7991856" y="2212848"/>
            <a:ext cx="3127248" cy="3273552"/>
          </a:xfrm>
          <a:prstGeom prst="roundRect">
            <a:avLst>
              <a:gd name="adj" fmla="val 2047"/>
            </a:avLst>
          </a:prstGeom>
          <a:solidFill>
            <a:srgbClr val="F0EEFB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7991856" y="2212848"/>
            <a:ext cx="50292" cy="3273552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pic>
        <p:nvPicPr>
          <p:cNvPr id="47" name="Image 3" descr="C:\Users\walla\Documents\Master VIU\C9_SistRobMoviles\viu-mrob-sistemas-roboticos-moviles\actividad2\figures\phase1\coppeliasim_phase2_replan_dynamic_orient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5096" y="2450592"/>
            <a:ext cx="2080768" cy="1463040"/>
          </a:xfrm>
          <a:prstGeom prst="rect">
            <a:avLst/>
          </a:prstGeom>
        </p:spPr>
      </p:pic>
      <p:pic>
        <p:nvPicPr>
          <p:cNvPr id="48" name="Image 4" descr="C:\Users\walla\Documents\Master VIU\C9_SistRobMoviles\viu-mrob-sistemas-roboticos-moviles\actividad2\coppeliasim\phase2_slam_logs\phase2_slam_unknown_overvie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48" y="3667539"/>
            <a:ext cx="1920240" cy="1168842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8247888" y="4882896"/>
            <a:ext cx="23774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1100" dirty="0"/>
          </a:p>
        </p:txBody>
      </p:sp>
      <p:sp>
        <p:nvSpPr>
          <p:cNvPr id="50" name="Text 43"/>
          <p:cNvSpPr/>
          <p:nvPr/>
        </p:nvSpPr>
        <p:spPr>
          <a:xfrm>
            <a:off x="8247888" y="5138928"/>
            <a:ext cx="2523744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desconocido, obstáculo dinámico y reconstrucción exportada.</a:t>
            </a:r>
            <a:endParaRPr lang="en-US" sz="8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 y entrega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Video de ejecuciÃ³n I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6F4F6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Shape 23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8/39</a:t>
            </a:r>
            <a:endParaRPr lang="en-US" sz="690" dirty="0"/>
          </a:p>
        </p:txBody>
      </p:sp>
      <p:sp>
        <p:nvSpPr>
          <p:cNvPr id="32" name="Shape 30"/>
          <p:cNvSpPr/>
          <p:nvPr/>
        </p:nvSpPr>
        <p:spPr>
          <a:xfrm>
            <a:off x="694944" y="1207008"/>
            <a:ext cx="10808208" cy="4754880"/>
          </a:xfrm>
          <a:prstGeom prst="roundRect">
            <a:avLst>
              <a:gd name="adj" fmla="val 1346"/>
            </a:avLst>
          </a:prstGeom>
          <a:solidFill>
            <a:srgbClr val="E6F4F6"/>
          </a:solidFill>
          <a:ln w="5334">
            <a:solidFill>
              <a:srgbClr val="1F7A8C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4944" y="1207008"/>
            <a:ext cx="50292" cy="47548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7552" y="1481328"/>
            <a:ext cx="10222992" cy="4187952"/>
          </a:xfrm>
          <a:prstGeom prst="roundRect">
            <a:avLst>
              <a:gd name="adj" fmla="val 2620"/>
            </a:avLst>
          </a:prstGeom>
          <a:solidFill>
            <a:srgbClr val="F5FBFC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3127248"/>
            <a:ext cx="2011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7A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VIDEO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3703320" y="3703320"/>
            <a:ext cx="4892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 de Bill, entrega T1/T2 y retorno a carga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 y mapa desconocido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Video de ejecuciÃ³n II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6F4F6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Shape 23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9/39</a:t>
            </a:r>
            <a:endParaRPr lang="en-US" sz="690" dirty="0"/>
          </a:p>
        </p:txBody>
      </p:sp>
      <p:sp>
        <p:nvSpPr>
          <p:cNvPr id="32" name="Shape 30"/>
          <p:cNvSpPr/>
          <p:nvPr/>
        </p:nvSpPr>
        <p:spPr>
          <a:xfrm>
            <a:off x="694944" y="1207008"/>
            <a:ext cx="10808208" cy="4754880"/>
          </a:xfrm>
          <a:prstGeom prst="roundRect">
            <a:avLst>
              <a:gd name="adj" fmla="val 1346"/>
            </a:avLst>
          </a:prstGeom>
          <a:solidFill>
            <a:srgbClr val="F0EEFB"/>
          </a:solidFill>
          <a:ln w="5334">
            <a:solidFill>
              <a:srgbClr val="6D5BD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4944" y="1207008"/>
            <a:ext cx="50292" cy="475488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7552" y="1481328"/>
            <a:ext cx="10222992" cy="4187952"/>
          </a:xfrm>
          <a:prstGeom prst="roundRect">
            <a:avLst>
              <a:gd name="adj" fmla="val 2620"/>
            </a:avLst>
          </a:prstGeom>
          <a:solidFill>
            <a:srgbClr val="F8F6FF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3127248"/>
            <a:ext cx="2011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5B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VIDEO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3493008" y="3703320"/>
            <a:ext cx="53035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exploraciÃ³n, obstÃ¡culos dinÃ¡micos, replanificaciÃ³n y SLAM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trayectoria, entrega y mapeo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Replay de misión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6F4F6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Shape 23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10/39</a:t>
            </a:r>
            <a:endParaRPr lang="en-US" sz="690" dirty="0"/>
          </a:p>
        </p:txBody>
      </p:sp>
      <p:sp>
        <p:nvSpPr>
          <p:cNvPr id="32" name="Shape 30"/>
          <p:cNvSpPr/>
          <p:nvPr/>
        </p:nvSpPr>
        <p:spPr>
          <a:xfrm>
            <a:off x="694944" y="1280160"/>
            <a:ext cx="6903720" cy="4498848"/>
          </a:xfrm>
          <a:prstGeom prst="roundRect">
            <a:avLst>
              <a:gd name="adj" fmla="val 1423"/>
            </a:avLst>
          </a:prstGeom>
          <a:solidFill>
            <a:srgbClr val="FCFDFE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4944" y="1280160"/>
            <a:ext cx="50292" cy="4498848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pic>
        <p:nvPicPr>
          <p:cNvPr id="34" name="Image 0" descr="C:\Users\walla\Documents\Master VIU\C9_SistRobMoviles\viu-mrob-sistemas-roboticos-moviles\actividad2\slides\assets\phase1_replay_clean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739646"/>
            <a:ext cx="6364224" cy="3579876"/>
          </a:xfrm>
          <a:prstGeom prst="rect">
            <a:avLst/>
          </a:prstGeom>
        </p:spPr>
      </p:pic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50976" y="1572768"/>
            <a:ext cx="6364224" cy="3913632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3877056" y="3401568"/>
            <a:ext cx="603504" cy="603504"/>
          </a:xfrm>
          <a:prstGeom prst="ellipse">
            <a:avLst/>
          </a:prstGeom>
          <a:solidFill>
            <a:srgbClr val="071826">
              <a:alpha val="8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 rot="5400000">
            <a:off x="4069080" y="3547872"/>
            <a:ext cx="219456" cy="21945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932688" y="1463040"/>
            <a:ext cx="4754880" cy="292608"/>
          </a:xfrm>
          <a:prstGeom prst="roundRect">
            <a:avLst>
              <a:gd name="adj" fmla="val 37500"/>
            </a:avLst>
          </a:prstGeom>
          <a:solidFill>
            <a:srgbClr val="FCFDFE">
              <a:alpha val="92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1060704" y="1545336"/>
            <a:ext cx="4480560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 asociado a la ejecución principal de CoppeliaSim</a:t>
            </a:r>
            <a:endParaRPr lang="en-US" sz="700" dirty="0"/>
          </a:p>
        </p:txBody>
      </p:sp>
      <p:sp>
        <p:nvSpPr>
          <p:cNvPr id="40" name="Text 36"/>
          <p:cNvSpPr/>
          <p:nvPr/>
        </p:nvSpPr>
        <p:spPr>
          <a:xfrm>
            <a:off x="8183880" y="1627632"/>
            <a:ext cx="21945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</a:t>
            </a:r>
            <a:endParaRPr lang="en-US" sz="1500" dirty="0"/>
          </a:p>
        </p:txBody>
      </p:sp>
      <p:sp>
        <p:nvSpPr>
          <p:cNvPr id="41" name="Shape 37"/>
          <p:cNvSpPr/>
          <p:nvPr/>
        </p:nvSpPr>
        <p:spPr>
          <a:xfrm>
            <a:off x="8266176" y="2231136"/>
            <a:ext cx="82296" cy="82296"/>
          </a:xfrm>
          <a:prstGeom prst="ellipse">
            <a:avLst/>
          </a:prstGeom>
          <a:solidFill>
            <a:srgbClr val="1F7A8C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8485632" y="2157984"/>
            <a:ext cx="30632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 de Bill con orientacion frontal</a:t>
            </a:r>
            <a:endParaRPr lang="en-US" sz="890" dirty="0"/>
          </a:p>
        </p:txBody>
      </p:sp>
      <p:sp>
        <p:nvSpPr>
          <p:cNvPr id="43" name="Shape 39"/>
          <p:cNvSpPr/>
          <p:nvPr/>
        </p:nvSpPr>
        <p:spPr>
          <a:xfrm>
            <a:off x="8266176" y="2779776"/>
            <a:ext cx="82296" cy="82296"/>
          </a:xfrm>
          <a:prstGeom prst="ellipse">
            <a:avLst/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485632" y="2706624"/>
            <a:ext cx="30632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y retorno de T1/T2</a:t>
            </a:r>
            <a:endParaRPr lang="en-US" sz="890" dirty="0"/>
          </a:p>
        </p:txBody>
      </p:sp>
      <p:sp>
        <p:nvSpPr>
          <p:cNvPr id="45" name="Shape 41"/>
          <p:cNvSpPr/>
          <p:nvPr/>
        </p:nvSpPr>
        <p:spPr>
          <a:xfrm>
            <a:off x="8266176" y="3328416"/>
            <a:ext cx="82296" cy="82296"/>
          </a:xfrm>
          <a:prstGeom prst="ellipse">
            <a:avLst/>
          </a:prstGeom>
          <a:solidFill>
            <a:srgbClr val="C97A5C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8485632" y="3255264"/>
            <a:ext cx="30632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evitación con rayos de proximidad</a:t>
            </a:r>
            <a:endParaRPr lang="en-US" sz="890" dirty="0"/>
          </a:p>
        </p:txBody>
      </p:sp>
      <p:sp>
        <p:nvSpPr>
          <p:cNvPr id="47" name="Shape 43"/>
          <p:cNvSpPr/>
          <p:nvPr/>
        </p:nvSpPr>
        <p:spPr>
          <a:xfrm>
            <a:off x="8266176" y="3877056"/>
            <a:ext cx="82296" cy="82296"/>
          </a:xfrm>
          <a:prstGeom prst="ellipse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485632" y="3803904"/>
            <a:ext cx="30632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actualizacion SLAM y cierre en carga</a:t>
            </a:r>
            <a:endParaRPr lang="en-US" sz="890" dirty="0"/>
          </a:p>
        </p:txBody>
      </p:sp>
      <p:sp>
        <p:nvSpPr>
          <p:cNvPr id="49" name="Shape 45"/>
          <p:cNvSpPr/>
          <p:nvPr/>
        </p:nvSpPr>
        <p:spPr>
          <a:xfrm>
            <a:off x="8183880" y="4956048"/>
            <a:ext cx="1188720" cy="292608"/>
          </a:xfrm>
          <a:prstGeom prst="roundRect">
            <a:avLst>
              <a:gd name="adj" fmla="val 37500"/>
            </a:avLst>
          </a:prstGeom>
          <a:solidFill>
            <a:srgbClr val="F0EEFB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8238744" y="5033772"/>
            <a:ext cx="1078992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 MP4</a:t>
            </a:r>
            <a:endParaRPr lang="en-US" sz="740" dirty="0"/>
          </a:p>
        </p:txBody>
      </p:sp>
      <p:sp>
        <p:nvSpPr>
          <p:cNvPr id="51" name="Shape 47"/>
          <p:cNvSpPr/>
          <p:nvPr/>
        </p:nvSpPr>
        <p:spPr>
          <a:xfrm>
            <a:off x="9784080" y="4956048"/>
            <a:ext cx="1234440" cy="292608"/>
          </a:xfrm>
          <a:prstGeom prst="roundRect">
            <a:avLst>
              <a:gd name="adj" fmla="val 37500"/>
            </a:avLst>
          </a:prstGeom>
          <a:solidFill>
            <a:srgbClr val="E6F4F6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9838944" y="5033772"/>
            <a:ext cx="1124712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exportados</a:t>
            </a:r>
            <a:endParaRPr lang="en-US" sz="7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1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misión se ejecuta como máquina de estados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FBE8DF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transición tiene condición de paso; el logger registra duración, batería, riesgo y control.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713232" y="1417320"/>
            <a:ext cx="7269480" cy="4297680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3232" y="1417320"/>
            <a:ext cx="50292" cy="4297680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" y="1536192"/>
            <a:ext cx="694029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operativo R1</a:t>
            </a:r>
            <a:endParaRPr lang="en-US" sz="800" dirty="0"/>
          </a:p>
        </p:txBody>
      </p:sp>
      <p:pic>
        <p:nvPicPr>
          <p:cNvPr id="36" name="Image 0" descr="C:\Users\walla\Documents\Master VIU\C9_SistRobMoviles\viu-mrob-sistemas-roboticos-moviles\actividad2\slides\assets\phase1_state_machine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947" y="1764792"/>
            <a:ext cx="6852050" cy="3858768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8275320" y="1572768"/>
            <a:ext cx="26974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8275320" y="1572768"/>
            <a:ext cx="50292" cy="74980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476488" y="1719072"/>
            <a:ext cx="229514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del bucle</a:t>
            </a:r>
            <a:endParaRPr lang="en-US" sz="940" dirty="0"/>
          </a:p>
        </p:txBody>
      </p:sp>
      <p:sp>
        <p:nvSpPr>
          <p:cNvPr id="40" name="Text 37"/>
          <p:cNvSpPr/>
          <p:nvPr/>
        </p:nvSpPr>
        <p:spPr>
          <a:xfrm>
            <a:off x="8476488" y="2048256"/>
            <a:ext cx="229514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pose + Bill + sensores + batería</a:t>
            </a:r>
            <a:endParaRPr lang="en-US" sz="870" dirty="0"/>
          </a:p>
        </p:txBody>
      </p:sp>
      <p:sp>
        <p:nvSpPr>
          <p:cNvPr id="41" name="Shape 38"/>
          <p:cNvSpPr/>
          <p:nvPr/>
        </p:nvSpPr>
        <p:spPr>
          <a:xfrm>
            <a:off x="8275320" y="2651760"/>
            <a:ext cx="26974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8275320" y="2651760"/>
            <a:ext cx="50292" cy="749808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476488" y="2798064"/>
            <a:ext cx="229514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</a:t>
            </a:r>
            <a:endParaRPr lang="en-US" sz="940" dirty="0"/>
          </a:p>
        </p:txBody>
      </p:sp>
      <p:sp>
        <p:nvSpPr>
          <p:cNvPr id="44" name="Text 41"/>
          <p:cNvSpPr/>
          <p:nvPr/>
        </p:nvSpPr>
        <p:spPr>
          <a:xfrm>
            <a:off x="8476488" y="3127248"/>
            <a:ext cx="229514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task_state -&gt; planner_mode -&gt; controlador</a:t>
            </a:r>
            <a:endParaRPr lang="en-US" sz="870" dirty="0"/>
          </a:p>
        </p:txBody>
      </p:sp>
      <p:sp>
        <p:nvSpPr>
          <p:cNvPr id="45" name="Shape 42"/>
          <p:cNvSpPr/>
          <p:nvPr/>
        </p:nvSpPr>
        <p:spPr>
          <a:xfrm>
            <a:off x="8275320" y="3730752"/>
            <a:ext cx="26974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8275320" y="3730752"/>
            <a:ext cx="50292" cy="7498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476488" y="3877056"/>
            <a:ext cx="229514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CSV</a:t>
            </a:r>
            <a:endParaRPr lang="en-US" sz="940" dirty="0"/>
          </a:p>
        </p:txBody>
      </p:sp>
      <p:sp>
        <p:nvSpPr>
          <p:cNvPr id="48" name="Text 45"/>
          <p:cNvSpPr/>
          <p:nvPr/>
        </p:nvSpPr>
        <p:spPr>
          <a:xfrm>
            <a:off x="8476488" y="4206240"/>
            <a:ext cx="229514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estado, ruedas, riesgo, error y batería</a:t>
            </a:r>
            <a:endParaRPr lang="en-US" sz="870" dirty="0"/>
          </a:p>
        </p:txBody>
      </p:sp>
      <p:sp>
        <p:nvSpPr>
          <p:cNvPr id="49" name="Shape 46"/>
          <p:cNvSpPr/>
          <p:nvPr/>
        </p:nvSpPr>
        <p:spPr>
          <a:xfrm>
            <a:off x="8275320" y="4873752"/>
            <a:ext cx="2697480" cy="566928"/>
          </a:xfrm>
          <a:prstGeom prst="roundRect">
            <a:avLst>
              <a:gd name="adj" fmla="val 19355"/>
            </a:avLst>
          </a:prstGeom>
          <a:solidFill>
            <a:srgbClr val="071826"/>
          </a:solidFill>
          <a:ln w="9525">
            <a:solidFill>
              <a:srgbClr val="071826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503920" y="5047488"/>
            <a:ext cx="22402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Condición final: misión completa y estado CHARGING.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Funciones Lua integradas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FBE8DF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función mantiene entrada, salida y responsabilidad definida.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841248" y="1719072"/>
            <a:ext cx="5084064" cy="1481328"/>
          </a:xfrm>
          <a:prstGeom prst="roundRect">
            <a:avLst>
              <a:gd name="adj" fmla="val 4321"/>
            </a:avLst>
          </a:prstGeom>
          <a:solidFill>
            <a:srgbClr val="E6F4F6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1248" y="1719072"/>
            <a:ext cx="50292" cy="14813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2416" y="1975104"/>
            <a:ext cx="46177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7A8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readObstacleField()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42416" y="2432304"/>
            <a:ext cx="461772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 16 sensores, calcula risk, minObstacle, giro repulsivo y reducción de velocidad.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64224" y="1719072"/>
            <a:ext cx="5084064" cy="1481328"/>
          </a:xfrm>
          <a:prstGeom prst="roundRect">
            <a:avLst>
              <a:gd name="adj" fmla="val 4321"/>
            </a:avLst>
          </a:prstGeom>
          <a:solidFill>
            <a:srgbClr val="F0EEFB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64224" y="1719072"/>
            <a:ext cx="50292" cy="1481328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1975104"/>
            <a:ext cx="46177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D5BD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registerSlamDetection(sensor,d,pt)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65392" y="2432304"/>
            <a:ext cx="461772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 el impacto al marco global y actualiza landmark, celda log-odds o submapa.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41248" y="3913632"/>
            <a:ext cx="5084064" cy="1481328"/>
          </a:xfrm>
          <a:prstGeom prst="roundRect">
            <a:avLst>
              <a:gd name="adj" fmla="val 4321"/>
            </a:avLst>
          </a:prstGeom>
          <a:solidFill>
            <a:srgbClr val="FBE8D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41248" y="3913632"/>
            <a:ext cx="50292" cy="1481328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42416" y="4169664"/>
            <a:ext cx="46177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7A5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plannedWaypointTo(goal)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42416" y="4626864"/>
            <a:ext cx="461772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Comprueba si la ruta directa está bloqueada y devuelve SLAM_WAYPOINT o el objetivo final.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64224" y="3913632"/>
            <a:ext cx="5084064" cy="1481328"/>
          </a:xfrm>
          <a:prstGeom prst="roundRect">
            <a:avLst>
              <a:gd name="adj" fmla="val 4321"/>
            </a:avLst>
          </a:prstGeom>
          <a:solidFill>
            <a:srgbClr val="EAF7F4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364224" y="3913632"/>
            <a:ext cx="50292" cy="14813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65392" y="4169664"/>
            <a:ext cx="46177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deliverToolToBill(tool,ws,next)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65392" y="4626864"/>
            <a:ext cx="461772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 la transición FSM: aproxima R1, entrega T1/T2, espera a Bill y registra estado.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41248" y="5650992"/>
            <a:ext cx="10716768" cy="512064"/>
          </a:xfrm>
          <a:prstGeom prst="roundRect">
            <a:avLst>
              <a:gd name="adj" fmla="val 21429"/>
            </a:avLst>
          </a:prstGeom>
          <a:solidFill>
            <a:srgbClr val="071826"/>
          </a:solidFill>
          <a:ln w="9525">
            <a:solidFill>
              <a:srgbClr val="0718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42416" y="5815584"/>
            <a:ext cx="1031443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1042416" y="6089904"/>
            <a:ext cx="10314432" cy="-18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CSV/JSON: estado, ruedas, riesgo, batería, error de pose, mapa y actividad SLAM.</a:t>
            </a:r>
            <a:endParaRPr lang="en-US" sz="11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geometría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Variables de seguimiento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FBE8DF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Todas las leyes de control reciben el mismo error; lo que cambia es cómo reaccionan.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658368" y="1417320"/>
            <a:ext cx="530352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8368" y="1417320"/>
            <a:ext cx="50292" cy="448056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1536192"/>
            <a:ext cx="49743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trayectoria exportada</a:t>
            </a:r>
            <a:endParaRPr lang="en-US" sz="800" dirty="0"/>
          </a:p>
        </p:txBody>
      </p:sp>
      <p:pic>
        <p:nvPicPr>
          <p:cNvPr id="36" name="Image 0" descr="C:\Users\walla\Documents\Master VIU\C9_SistRobMoviles\viu-mrob-sistemas-roboticos-moviles\actividad2\slides\assets\follower_replay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05304"/>
            <a:ext cx="5157216" cy="2960624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6309360" y="1536192"/>
            <a:ext cx="46634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309360" y="1536192"/>
            <a:ext cx="50292" cy="123444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10528" y="1682496"/>
            <a:ext cx="42611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deseado</a:t>
            </a:r>
            <a:endParaRPr lang="en-US" sz="940" dirty="0"/>
          </a:p>
        </p:txBody>
      </p:sp>
      <p:sp>
        <p:nvSpPr>
          <p:cNvPr id="40" name="Text 37"/>
          <p:cNvSpPr/>
          <p:nvPr/>
        </p:nvSpPr>
        <p:spPr>
          <a:xfrm>
            <a:off x="6510528" y="2011680"/>
            <a:ext cx="4261104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p* = p_B - d_des [cos(theta_B), sin(theta_B)]^T</a:t>
            </a:r>
            <a:endParaRPr lang="en-US" sz="1020" dirty="0"/>
          </a:p>
          <a:p>
            <a:pPr algn="l" indent="0" marL="0">
              <a:buNone/>
            </a:pP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d_des = 0.82 m</a:t>
            </a:r>
            <a:endParaRPr lang="en-US" sz="1020" dirty="0"/>
          </a:p>
        </p:txBody>
      </p:sp>
      <p:sp>
        <p:nvSpPr>
          <p:cNvPr id="41" name="Shape 38"/>
          <p:cNvSpPr/>
          <p:nvPr/>
        </p:nvSpPr>
        <p:spPr>
          <a:xfrm>
            <a:off x="6309360" y="3072384"/>
            <a:ext cx="46634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309360" y="3072384"/>
            <a:ext cx="50292" cy="1097280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510528" y="3218688"/>
            <a:ext cx="42611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Errores clásicos</a:t>
            </a:r>
            <a:endParaRPr lang="en-US" sz="940" dirty="0"/>
          </a:p>
        </p:txBody>
      </p:sp>
      <p:sp>
        <p:nvSpPr>
          <p:cNvPr id="44" name="Text 41"/>
          <p:cNvSpPr/>
          <p:nvPr/>
        </p:nvSpPr>
        <p:spPr>
          <a:xfrm>
            <a:off x="6510528" y="3547872"/>
            <a:ext cx="4261104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e_d   = ||p_B - p_R|| - d_des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e_psi = atan2(y_B-y_R, x_B-x_R) - theta_R</a:t>
            </a:r>
            <a:endParaRPr lang="en-US" sz="1020" dirty="0"/>
          </a:p>
        </p:txBody>
      </p:sp>
      <p:sp>
        <p:nvSpPr>
          <p:cNvPr id="45" name="Shape 42"/>
          <p:cNvSpPr/>
          <p:nvPr/>
        </p:nvSpPr>
        <p:spPr>
          <a:xfrm>
            <a:off x="6309360" y="4480560"/>
            <a:ext cx="46634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6309360" y="4480560"/>
            <a:ext cx="50292" cy="114300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510528" y="4626864"/>
            <a:ext cx="42611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local para LQR</a:t>
            </a:r>
            <a:endParaRPr lang="en-US" sz="940" dirty="0"/>
          </a:p>
        </p:txBody>
      </p:sp>
      <p:sp>
        <p:nvSpPr>
          <p:cNvPr id="48" name="Text 45"/>
          <p:cNvSpPr/>
          <p:nvPr/>
        </p:nvSpPr>
        <p:spPr>
          <a:xfrm>
            <a:off x="6510528" y="4956048"/>
            <a:ext cx="4261104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x_LQR = [e_long, e_lat, e_yaw]^T</a:t>
            </a:r>
            <a:endParaRPr lang="en-US" sz="1020" dirty="0"/>
          </a:p>
          <a:p>
            <a:pPr algn="l" indent="0" marL="0">
              <a:buNone/>
            </a:pP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error expresado en el marco del robot</a:t>
            </a:r>
            <a:endParaRPr lang="en-US" sz="10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Cinemática diferencial del Pioneer P3DX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FBE8DF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simulación entrega velocidades de rueda; la comparación de control se expresa en v y omega.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749808" y="1417320"/>
            <a:ext cx="516636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87859" y="1490472"/>
            <a:ext cx="9144" cy="45171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2225911" y="1490472"/>
            <a:ext cx="9144" cy="45171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2963962" y="1490472"/>
            <a:ext cx="9144" cy="45171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3702014" y="1490472"/>
            <a:ext cx="9144" cy="45171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4440065" y="1490472"/>
            <a:ext cx="9144" cy="45171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5178117" y="1490472"/>
            <a:ext cx="9144" cy="45171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822960" y="2194560"/>
            <a:ext cx="5020056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822960" y="2971800"/>
            <a:ext cx="5020056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822960" y="3749040"/>
            <a:ext cx="5020056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822960" y="4526280"/>
            <a:ext cx="5020056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822960" y="5303520"/>
            <a:ext cx="5020056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2682850" y="3094330"/>
            <a:ext cx="1126541" cy="1126541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04134" y="3436315"/>
            <a:ext cx="683971" cy="442570"/>
          </a:xfrm>
          <a:prstGeom prst="roundRect">
            <a:avLst>
              <a:gd name="adj" fmla="val 24793"/>
            </a:avLst>
          </a:prstGeom>
          <a:solidFill>
            <a:srgbClr val="E6F4F6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83434" y="3355848"/>
            <a:ext cx="150876" cy="603504"/>
          </a:xfrm>
          <a:prstGeom prst="rect">
            <a:avLst/>
          </a:prstGeom>
          <a:solidFill>
            <a:srgbClr val="0F1A2A"/>
          </a:solidFill>
          <a:ln w="8890">
            <a:solidFill>
              <a:srgbClr val="0F1A2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57930" y="3355848"/>
            <a:ext cx="150876" cy="603504"/>
          </a:xfrm>
          <a:prstGeom prst="rect">
            <a:avLst/>
          </a:prstGeom>
          <a:solidFill>
            <a:srgbClr val="0F1A2A"/>
          </a:solidFill>
          <a:ln w="8890">
            <a:solidFill>
              <a:srgbClr val="0F1A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46120" y="3657600"/>
            <a:ext cx="804672" cy="9144"/>
          </a:xfrm>
          <a:prstGeom prst="line">
            <a:avLst/>
          </a:prstGeom>
          <a:noFill/>
          <a:ln w="20320">
            <a:solidFill>
              <a:srgbClr val="1F7A8C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3246120" y="2852928"/>
            <a:ext cx="9144" cy="804672"/>
          </a:xfrm>
          <a:prstGeom prst="line">
            <a:avLst/>
          </a:prstGeom>
          <a:noFill/>
          <a:ln w="20320">
            <a:solidFill>
              <a:srgbClr val="2DB7E5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3688690" y="3526841"/>
            <a:ext cx="34198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x_R</a:t>
            </a:r>
            <a:endParaRPr lang="en-US" sz="740" dirty="0"/>
          </a:p>
        </p:txBody>
      </p:sp>
      <p:sp>
        <p:nvSpPr>
          <p:cNvPr id="52" name="Text 50"/>
          <p:cNvSpPr/>
          <p:nvPr/>
        </p:nvSpPr>
        <p:spPr>
          <a:xfrm>
            <a:off x="3306470" y="2953512"/>
            <a:ext cx="34198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DB7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y_R</a:t>
            </a:r>
            <a:endParaRPr lang="en-US" sz="740" dirty="0"/>
          </a:p>
        </p:txBody>
      </p:sp>
      <p:sp>
        <p:nvSpPr>
          <p:cNvPr id="53" name="Text 51"/>
          <p:cNvSpPr/>
          <p:nvPr/>
        </p:nvSpPr>
        <p:spPr>
          <a:xfrm>
            <a:off x="2743200" y="4281221"/>
            <a:ext cx="10058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3877056" y="3657600"/>
            <a:ext cx="1014984" cy="9144"/>
          </a:xfrm>
          <a:prstGeom prst="line">
            <a:avLst/>
          </a:prstGeom>
          <a:noFill/>
          <a:ln w="22860">
            <a:solidFill>
              <a:srgbClr val="1F7A8C"/>
            </a:solidFill>
            <a:prstDash val="solid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4956048" y="3529584"/>
            <a:ext cx="2286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6400800" y="1508760"/>
            <a:ext cx="4434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400800" y="1508760"/>
            <a:ext cx="50292" cy="1234440"/>
          </a:xfrm>
          <a:prstGeom prst="rect">
            <a:avLst/>
          </a:prstGeom>
          <a:solidFill>
            <a:srgbClr val="2DB7E5"/>
          </a:solidFill>
          <a:ln w="12700">
            <a:solidFill>
              <a:srgbClr val="2DB7E5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01968" y="1655064"/>
            <a:ext cx="40325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DB7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continuo</a:t>
            </a:r>
            <a:endParaRPr lang="en-US" sz="940" dirty="0"/>
          </a:p>
        </p:txBody>
      </p:sp>
      <p:sp>
        <p:nvSpPr>
          <p:cNvPr id="59" name="Text 57"/>
          <p:cNvSpPr/>
          <p:nvPr/>
        </p:nvSpPr>
        <p:spPr>
          <a:xfrm>
            <a:off x="6601968" y="1984248"/>
            <a:ext cx="4032504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x_dot     = v cos(theta)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y_dot     = v sin(theta)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theta_dot = omega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400800" y="3127248"/>
            <a:ext cx="44348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400800" y="3127248"/>
            <a:ext cx="50292" cy="141732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01968" y="3273552"/>
            <a:ext cx="40325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v, omega a ruedas</a:t>
            </a:r>
            <a:endParaRPr lang="en-US" sz="940" dirty="0"/>
          </a:p>
        </p:txBody>
      </p:sp>
      <p:sp>
        <p:nvSpPr>
          <p:cNvPr id="63" name="Text 61"/>
          <p:cNvSpPr/>
          <p:nvPr/>
        </p:nvSpPr>
        <p:spPr>
          <a:xfrm>
            <a:off x="6601968" y="3602736"/>
            <a:ext cx="4032504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omega_L = (v - L omega / 2) / 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omega_R = (v + L omega / 2) / r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 = 0.0975 m, L = 0.331 m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400800" y="4864608"/>
            <a:ext cx="44348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400800" y="4864608"/>
            <a:ext cx="50292" cy="786384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01968" y="5010912"/>
            <a:ext cx="40325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común</a:t>
            </a:r>
            <a:endParaRPr lang="en-US" sz="940" dirty="0"/>
          </a:p>
        </p:txBody>
      </p:sp>
      <p:sp>
        <p:nvSpPr>
          <p:cNvPr id="67" name="Text 65"/>
          <p:cNvSpPr/>
          <p:nvPr/>
        </p:nvSpPr>
        <p:spPr>
          <a:xfrm>
            <a:off x="6601968" y="5340096"/>
            <a:ext cx="403250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controlador -&gt; v, omega -&gt; saturación -&gt; ruedas -&gt; CSV logger</a:t>
            </a:r>
            <a:endParaRPr lang="en-US" sz="8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clásico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P, PI y PID: memoria incremental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FBE8DF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niveles de realimentación sobre el mismo error: presente, acumulado y cambio temporal.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749808" y="1554480"/>
            <a:ext cx="3246120" cy="1993392"/>
          </a:xfrm>
          <a:prstGeom prst="roundRect">
            <a:avLst>
              <a:gd name="adj" fmla="val 5505"/>
            </a:avLst>
          </a:prstGeom>
          <a:solidFill>
            <a:srgbClr val="FFF3E6"/>
          </a:solidFill>
          <a:ln w="9525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976" y="1700784"/>
            <a:ext cx="5486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572768" y="1764792"/>
            <a:ext cx="210312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</a:t>
            </a:r>
            <a:endParaRPr lang="en-US" sz="770" dirty="0"/>
          </a:p>
        </p:txBody>
      </p:sp>
      <p:sp>
        <p:nvSpPr>
          <p:cNvPr id="36" name="Text 34"/>
          <p:cNvSpPr/>
          <p:nvPr/>
        </p:nvSpPr>
        <p:spPr>
          <a:xfrm>
            <a:off x="950976" y="2194560"/>
            <a:ext cx="2816352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 = Kp e_d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omega = Kpsi e_psi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50976" y="2971800"/>
            <a:ext cx="2788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corrige rápido, deja offset si Bill se mueve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4059936" y="2542032"/>
            <a:ext cx="347472" cy="9144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480560" y="1719072"/>
            <a:ext cx="3246120" cy="1993392"/>
          </a:xfrm>
          <a:prstGeom prst="roundRect">
            <a:avLst>
              <a:gd name="adj" fmla="val 5505"/>
            </a:avLst>
          </a:prstGeom>
          <a:solidFill>
            <a:srgbClr val="E6F4F6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1865376"/>
            <a:ext cx="5486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303520" y="1929384"/>
            <a:ext cx="210312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 + acumulado</a:t>
            </a:r>
            <a:endParaRPr lang="en-US" sz="770" dirty="0"/>
          </a:p>
        </p:txBody>
      </p:sp>
      <p:sp>
        <p:nvSpPr>
          <p:cNvPr id="42" name="Text 40"/>
          <p:cNvSpPr/>
          <p:nvPr/>
        </p:nvSpPr>
        <p:spPr>
          <a:xfrm>
            <a:off x="4681728" y="2359152"/>
            <a:ext cx="2816352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u_PI = Kp e_d + Ki I_d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I_d = sum(e_d dt)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81728" y="3136392"/>
            <a:ext cx="2788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error sostenido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7790688" y="2706624"/>
            <a:ext cx="347472" cy="9144"/>
          </a:xfrm>
          <a:prstGeom prst="line">
            <a:avLst/>
          </a:prstGeom>
          <a:noFill/>
          <a:ln w="19050">
            <a:solidFill>
              <a:srgbClr val="1F7A8C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211312" y="1883664"/>
            <a:ext cx="3246120" cy="1993392"/>
          </a:xfrm>
          <a:prstGeom prst="roundRect">
            <a:avLst>
              <a:gd name="adj" fmla="val 5505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0" y="2029968"/>
            <a:ext cx="5486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91C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PID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9034272" y="2093976"/>
            <a:ext cx="210312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 + acumulado + cambio</a:t>
            </a:r>
            <a:endParaRPr lang="en-US" sz="770" dirty="0"/>
          </a:p>
        </p:txBody>
      </p:sp>
      <p:sp>
        <p:nvSpPr>
          <p:cNvPr id="48" name="Text 46"/>
          <p:cNvSpPr/>
          <p:nvPr/>
        </p:nvSpPr>
        <p:spPr>
          <a:xfrm>
            <a:off x="8412480" y="2523744"/>
            <a:ext cx="2816352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u_PID = Kp e_d + Ki I_d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+ Kd de_d/dt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412480" y="3300984"/>
            <a:ext cx="2788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 error final, más esfuerzo de ruedas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804672" y="4005072"/>
            <a:ext cx="10305288" cy="9144"/>
          </a:xfrm>
          <a:prstGeom prst="line">
            <a:avLst/>
          </a:prstGeom>
          <a:noFill/>
          <a:ln w="12700">
            <a:solidFill>
              <a:srgbClr val="C9D5E0"/>
            </a:solidFill>
            <a:prstDash val="solid"/>
            <a:tailEnd type="none"/>
          </a:ln>
        </p:spPr>
      </p:sp>
      <p:sp>
        <p:nvSpPr>
          <p:cNvPr id="51" name="Text 49"/>
          <p:cNvSpPr/>
          <p:nvPr/>
        </p:nvSpPr>
        <p:spPr>
          <a:xfrm>
            <a:off x="822960" y="4261104"/>
            <a:ext cx="2011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DEL SEGUIMIENTO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68680" y="4572000"/>
            <a:ext cx="15087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A26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0.079</a:t>
            </a:r>
            <a:endParaRPr lang="en-US" sz="2700" dirty="0"/>
          </a:p>
        </p:txBody>
      </p:sp>
      <p:sp>
        <p:nvSpPr>
          <p:cNvPr id="53" name="Text 51"/>
          <p:cNvSpPr/>
          <p:nvPr/>
        </p:nvSpPr>
        <p:spPr>
          <a:xfrm>
            <a:off x="868680" y="5010912"/>
            <a:ext cx="15087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final [m]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68680" y="5321808"/>
            <a:ext cx="1737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679192" y="5349240"/>
            <a:ext cx="1051560" cy="109728"/>
          </a:xfrm>
          <a:prstGeom prst="rect">
            <a:avLst/>
          </a:prstGeom>
          <a:solidFill>
            <a:srgbClr val="E6ECF2"/>
          </a:solidFill>
          <a:ln w="8890">
            <a:solidFill>
              <a:srgbClr val="E6EC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679192" y="5349240"/>
            <a:ext cx="782740" cy="109728"/>
          </a:xfrm>
          <a:prstGeom prst="rect">
            <a:avLst/>
          </a:prstGeom>
          <a:solidFill>
            <a:srgbClr val="F4A261"/>
          </a:solidFill>
          <a:ln w="8890">
            <a:solidFill>
              <a:srgbClr val="F4A26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03904" y="5312664"/>
            <a:ext cx="6583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0.079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868680" y="5596128"/>
            <a:ext cx="1737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potencia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679192" y="5623560"/>
            <a:ext cx="1051560" cy="109728"/>
          </a:xfrm>
          <a:prstGeom prst="rect">
            <a:avLst/>
          </a:prstGeom>
          <a:solidFill>
            <a:srgbClr val="E6ECF2"/>
          </a:solidFill>
          <a:ln w="8890">
            <a:solidFill>
              <a:srgbClr val="E6EC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679192" y="5623560"/>
            <a:ext cx="495125" cy="109728"/>
          </a:xfrm>
          <a:prstGeom prst="rect">
            <a:avLst/>
          </a:prstGeom>
          <a:solidFill>
            <a:srgbClr val="F4A261"/>
          </a:solidFill>
          <a:ln w="8890">
            <a:solidFill>
              <a:srgbClr val="F4A26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03904" y="5586984"/>
            <a:ext cx="6583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0.713 W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4572000" y="4572000"/>
            <a:ext cx="15087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7A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0.106</a:t>
            </a:r>
            <a:endParaRPr lang="en-US" sz="2700" dirty="0"/>
          </a:p>
        </p:txBody>
      </p:sp>
      <p:sp>
        <p:nvSpPr>
          <p:cNvPr id="63" name="Text 61"/>
          <p:cNvSpPr/>
          <p:nvPr/>
        </p:nvSpPr>
        <p:spPr>
          <a:xfrm>
            <a:off x="4572000" y="5010912"/>
            <a:ext cx="15087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final [m]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572000" y="5321808"/>
            <a:ext cx="1737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382512" y="5349240"/>
            <a:ext cx="1051560" cy="109728"/>
          </a:xfrm>
          <a:prstGeom prst="rect">
            <a:avLst/>
          </a:prstGeom>
          <a:solidFill>
            <a:srgbClr val="E6ECF2"/>
          </a:solidFill>
          <a:ln w="8890">
            <a:solidFill>
              <a:srgbClr val="E6EC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82512" y="5349240"/>
            <a:ext cx="1051560" cy="109728"/>
          </a:xfrm>
          <a:prstGeom prst="rect">
            <a:avLst/>
          </a:prstGeom>
          <a:solidFill>
            <a:srgbClr val="1F7A8C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07224" y="5312664"/>
            <a:ext cx="6583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0.106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4572000" y="5596128"/>
            <a:ext cx="1737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potencia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382512" y="5623560"/>
            <a:ext cx="1051560" cy="109728"/>
          </a:xfrm>
          <a:prstGeom prst="rect">
            <a:avLst/>
          </a:prstGeom>
          <a:solidFill>
            <a:srgbClr val="E6ECF2"/>
          </a:solidFill>
          <a:ln w="8890">
            <a:solidFill>
              <a:srgbClr val="E6EC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82512" y="5623560"/>
            <a:ext cx="567405" cy="109728"/>
          </a:xfrm>
          <a:prstGeom prst="rect">
            <a:avLst/>
          </a:prstGeom>
          <a:solidFill>
            <a:srgbClr val="1F7A8C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07224" y="5586984"/>
            <a:ext cx="6583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0.817 W</a:t>
            </a:r>
            <a:endParaRPr lang="en-US" sz="780" dirty="0"/>
          </a:p>
        </p:txBody>
      </p:sp>
      <p:sp>
        <p:nvSpPr>
          <p:cNvPr id="72" name="Text 70"/>
          <p:cNvSpPr/>
          <p:nvPr/>
        </p:nvSpPr>
        <p:spPr>
          <a:xfrm>
            <a:off x="8275320" y="4572000"/>
            <a:ext cx="15087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B91C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0.032</a:t>
            </a:r>
            <a:endParaRPr lang="en-US" sz="2700" dirty="0"/>
          </a:p>
        </p:txBody>
      </p:sp>
      <p:sp>
        <p:nvSpPr>
          <p:cNvPr id="73" name="Text 71"/>
          <p:cNvSpPr/>
          <p:nvPr/>
        </p:nvSpPr>
        <p:spPr>
          <a:xfrm>
            <a:off x="8275320" y="5010912"/>
            <a:ext cx="15087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final [m]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8275320" y="5321808"/>
            <a:ext cx="1737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0085832" y="5349240"/>
            <a:ext cx="1051560" cy="109728"/>
          </a:xfrm>
          <a:prstGeom prst="rect">
            <a:avLst/>
          </a:prstGeom>
          <a:solidFill>
            <a:srgbClr val="E6ECF2"/>
          </a:solidFill>
          <a:ln w="8890">
            <a:solidFill>
              <a:srgbClr val="E6EC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085832" y="5349240"/>
            <a:ext cx="314282" cy="109728"/>
          </a:xfrm>
          <a:prstGeom prst="rect">
            <a:avLst/>
          </a:prstGeom>
          <a:solidFill>
            <a:srgbClr val="B91C1C"/>
          </a:solidFill>
          <a:ln w="8890">
            <a:solidFill>
              <a:srgbClr val="B91C1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210544" y="5312664"/>
            <a:ext cx="6583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0.032</a:t>
            </a:r>
            <a:endParaRPr lang="en-US" sz="780" dirty="0"/>
          </a:p>
        </p:txBody>
      </p:sp>
      <p:sp>
        <p:nvSpPr>
          <p:cNvPr id="78" name="Text 76"/>
          <p:cNvSpPr/>
          <p:nvPr/>
        </p:nvSpPr>
        <p:spPr>
          <a:xfrm>
            <a:off x="8275320" y="5596128"/>
            <a:ext cx="1737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potencia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10085832" y="5623560"/>
            <a:ext cx="1051560" cy="109728"/>
          </a:xfrm>
          <a:prstGeom prst="rect">
            <a:avLst/>
          </a:prstGeom>
          <a:solidFill>
            <a:srgbClr val="E6ECF2"/>
          </a:solidFill>
          <a:ln w="8890">
            <a:solidFill>
              <a:srgbClr val="E6EC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085832" y="5623560"/>
            <a:ext cx="1051560" cy="109728"/>
          </a:xfrm>
          <a:prstGeom prst="rect">
            <a:avLst/>
          </a:prstGeom>
          <a:solidFill>
            <a:srgbClr val="B91C1C"/>
          </a:solidFill>
          <a:ln w="8890">
            <a:solidFill>
              <a:srgbClr val="B91C1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1210544" y="5586984"/>
            <a:ext cx="6583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 W</a:t>
            </a:r>
            <a:endParaRPr lang="en-US" sz="7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LQR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 se calcula offline; Lua aplica u = -Kx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FBE8DF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y R penalizan estados y mando; K sale de Riccati discreta y se aplica sobre el seguimiento nominal.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749808" y="1463040"/>
            <a:ext cx="2212848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1618488"/>
            <a:ext cx="274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225296" y="1554480"/>
            <a:ext cx="1417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linealizar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1225296" y="1792224"/>
            <a:ext cx="15087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A, B locales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2990088" y="1837944"/>
            <a:ext cx="484632" cy="9144"/>
          </a:xfrm>
          <a:prstGeom prst="line">
            <a:avLst/>
          </a:prstGeom>
          <a:noFill/>
          <a:ln w="17780">
            <a:solidFill>
              <a:srgbClr val="6D5BD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538728" y="1463040"/>
            <a:ext cx="2212848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85032" y="1618488"/>
            <a:ext cx="274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014216" y="1554480"/>
            <a:ext cx="1417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pesar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4014216" y="1792224"/>
            <a:ext cx="15087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estados, R mando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5779008" y="1837944"/>
            <a:ext cx="484632" cy="9144"/>
          </a:xfrm>
          <a:prstGeom prst="line">
            <a:avLst/>
          </a:prstGeom>
          <a:noFill/>
          <a:ln w="17780">
            <a:solidFill>
              <a:srgbClr val="6D5BD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327648" y="1463040"/>
            <a:ext cx="2212848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73952" y="1618488"/>
            <a:ext cx="274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03136" y="1554480"/>
            <a:ext cx="1417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resolver</a:t>
            </a:r>
            <a:endParaRPr lang="en-US" sz="930" dirty="0"/>
          </a:p>
        </p:txBody>
      </p:sp>
      <p:sp>
        <p:nvSpPr>
          <p:cNvPr id="46" name="Text 44"/>
          <p:cNvSpPr/>
          <p:nvPr/>
        </p:nvSpPr>
        <p:spPr>
          <a:xfrm>
            <a:off x="6803136" y="1792224"/>
            <a:ext cx="15087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Riccati discreta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8567928" y="1837944"/>
            <a:ext cx="484632" cy="9144"/>
          </a:xfrm>
          <a:prstGeom prst="line">
            <a:avLst/>
          </a:prstGeom>
          <a:noFill/>
          <a:ln w="17780">
            <a:solidFill>
              <a:srgbClr val="6D5BD0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9116568" y="1463040"/>
            <a:ext cx="2212848" cy="749808"/>
          </a:xfrm>
          <a:prstGeom prst="roundRect">
            <a:avLst>
              <a:gd name="adj" fmla="val 14634"/>
            </a:avLst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62872" y="1618488"/>
            <a:ext cx="274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592056" y="1554480"/>
            <a:ext cx="1417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</a:t>
            </a:r>
            <a:endParaRPr lang="en-US" sz="930" dirty="0"/>
          </a:p>
        </p:txBody>
      </p:sp>
      <p:sp>
        <p:nvSpPr>
          <p:cNvPr id="51" name="Text 49"/>
          <p:cNvSpPr/>
          <p:nvPr/>
        </p:nvSpPr>
        <p:spPr>
          <a:xfrm>
            <a:off x="9592056" y="1792224"/>
            <a:ext cx="15087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EDE9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 = -Kx en Lua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749808" y="2578608"/>
            <a:ext cx="516636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49808" y="2578608"/>
            <a:ext cx="50292" cy="1572768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50976" y="2724912"/>
            <a:ext cx="476402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local</a:t>
            </a:r>
            <a:endParaRPr lang="en-US" sz="940" dirty="0"/>
          </a:p>
        </p:txBody>
      </p:sp>
      <p:sp>
        <p:nvSpPr>
          <p:cNvPr id="55" name="Text 53"/>
          <p:cNvSpPr/>
          <p:nvPr/>
        </p:nvSpPr>
        <p:spPr>
          <a:xfrm>
            <a:off x="950976" y="3054096"/>
            <a:ext cx="4764024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[e_long, e_lat, e_yaw]^T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 = [delta_v, delta_omega]^T</a:t>
            </a:r>
            <a:endParaRPr lang="en-US" sz="780" dirty="0"/>
          </a:p>
          <a:p>
            <a:pPr algn="l" indent="0" marL="0">
              <a:buNone/>
            </a:pP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(e_long,e_lat) = proy(p* - p_R) en marco R1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e_yaw = e_psi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 = [[0, omega_ref, 0], [-omega_ref, 0, v_ref], [0,0,0]]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6263640" y="2578608"/>
            <a:ext cx="507492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263640" y="2578608"/>
            <a:ext cx="50292" cy="157276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64808" y="2724912"/>
            <a:ext cx="467258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Riccati y pesos</a:t>
            </a:r>
            <a:endParaRPr lang="en-US" sz="940" dirty="0"/>
          </a:p>
        </p:txBody>
      </p:sp>
      <p:sp>
        <p:nvSpPr>
          <p:cNvPr id="59" name="Text 57"/>
          <p:cNvSpPr/>
          <p:nvPr/>
        </p:nvSpPr>
        <p:spPr>
          <a:xfrm>
            <a:off x="6464808" y="3054096"/>
            <a:ext cx="4672584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A_d = I + dt A, B_d = dt B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Q = diag(35, 80, 18)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 = diag(6, 3)</a:t>
            </a:r>
            <a:endParaRPr lang="en-US" sz="830" dirty="0"/>
          </a:p>
          <a:p>
            <a:pPr algn="l" indent="0" marL="0">
              <a:buNone/>
            </a:pP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 = dare(A_d, B_d, Q, R)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K = (B_d^T P B_d + R)^-1 B_d^T P A_d</a:t>
            </a:r>
            <a:endParaRPr lang="en-US" sz="830" dirty="0"/>
          </a:p>
        </p:txBody>
      </p:sp>
      <p:sp>
        <p:nvSpPr>
          <p:cNvPr id="60" name="Shape 58"/>
          <p:cNvSpPr/>
          <p:nvPr/>
        </p:nvSpPr>
        <p:spPr>
          <a:xfrm>
            <a:off x="749808" y="4572000"/>
            <a:ext cx="51663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749808" y="4572000"/>
            <a:ext cx="50292" cy="9144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50976" y="4718304"/>
            <a:ext cx="476402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Ganancia LQR</a:t>
            </a:r>
            <a:endParaRPr lang="en-US" sz="940" dirty="0"/>
          </a:p>
        </p:txBody>
      </p:sp>
      <p:sp>
        <p:nvSpPr>
          <p:cNvPr id="63" name="Text 61"/>
          <p:cNvSpPr/>
          <p:nvPr/>
        </p:nvSpPr>
        <p:spPr>
          <a:xfrm>
            <a:off x="950976" y="5047488"/>
            <a:ext cx="476402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K = [[-2.3496,  1.2925,  0.1203],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[ 0.2427, -4.3570, -2.6887]]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polos = 0.9741, 0.8884, 0.8856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263640" y="4498848"/>
            <a:ext cx="35204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263640" y="4498848"/>
            <a:ext cx="50292" cy="1097280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64808" y="4645152"/>
            <a:ext cx="31181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940" dirty="0"/>
          </a:p>
        </p:txBody>
      </p:sp>
      <p:sp>
        <p:nvSpPr>
          <p:cNvPr id="67" name="Text 65"/>
          <p:cNvSpPr/>
          <p:nvPr/>
        </p:nvSpPr>
        <p:spPr>
          <a:xfrm>
            <a:off x="6464808" y="4974336"/>
            <a:ext cx="3118104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La misión tiene saturaciones, Bill móvil, obstáculos y estados discretos. LQR se aplica alrededor del seguimiento nominal.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10012680" y="4553712"/>
            <a:ext cx="1234440" cy="960120"/>
          </a:xfrm>
          <a:prstGeom prst="roundRect">
            <a:avLst>
              <a:gd name="adj" fmla="val 6667"/>
            </a:avLst>
          </a:prstGeom>
          <a:solidFill>
            <a:srgbClr val="F0EEFB"/>
          </a:solidFill>
          <a:ln w="5334">
            <a:solidFill>
              <a:srgbClr val="6D5BD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0012680" y="4553712"/>
            <a:ext cx="50292" cy="96012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012680" y="4553712"/>
            <a:ext cx="73152" cy="960120"/>
          </a:xfrm>
          <a:prstGeom prst="rect">
            <a:avLst/>
          </a:prstGeom>
          <a:solidFill>
            <a:srgbClr val="6D5BD0"/>
          </a:solidFill>
          <a:ln w="8890">
            <a:solidFill>
              <a:srgbClr val="6D5BD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177272" y="4672584"/>
            <a:ext cx="90525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6D5B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1.031</a:t>
            </a:r>
            <a:endParaRPr lang="en-US" sz="1850" dirty="0"/>
          </a:p>
        </p:txBody>
      </p:sp>
      <p:sp>
        <p:nvSpPr>
          <p:cNvPr id="72" name="Text 70"/>
          <p:cNvSpPr/>
          <p:nvPr/>
        </p:nvSpPr>
        <p:spPr>
          <a:xfrm>
            <a:off x="10177272" y="5001768"/>
            <a:ext cx="90525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mov. [m]</a:t>
            </a:r>
            <a:endParaRPr lang="en-US" sz="870" dirty="0"/>
          </a:p>
        </p:txBody>
      </p:sp>
      <p:sp>
        <p:nvSpPr>
          <p:cNvPr id="73" name="Text 71"/>
          <p:cNvSpPr/>
          <p:nvPr/>
        </p:nvSpPr>
        <p:spPr>
          <a:xfrm>
            <a:off x="10177272" y="5202936"/>
            <a:ext cx="90525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bajo durante seguimiento</a:t>
            </a:r>
            <a:endParaRPr lang="en-US" sz="77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NMPC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Predice, restringe y suaviza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FBE8DF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NMPC evalúa secuencias futuras cortas y escoge la que reduce error sin castigar demasiado las ruedas.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713232" y="1536192"/>
            <a:ext cx="106527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" y="1810512"/>
            <a:ext cx="118872" cy="118872"/>
          </a:xfrm>
          <a:prstGeom prst="ellipse">
            <a:avLst/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43000" y="1865376"/>
            <a:ext cx="521208" cy="9144"/>
          </a:xfrm>
          <a:prstGeom prst="line">
            <a:avLst/>
          </a:prstGeom>
          <a:noFill/>
          <a:ln w="1016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737360" y="1810512"/>
            <a:ext cx="118872" cy="118872"/>
          </a:xfrm>
          <a:prstGeom prst="ellipse">
            <a:avLst/>
          </a:prstGeom>
          <a:solidFill>
            <a:srgbClr val="D9F2EC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56232" y="1865376"/>
            <a:ext cx="521208" cy="9144"/>
          </a:xfrm>
          <a:prstGeom prst="line">
            <a:avLst/>
          </a:prstGeom>
          <a:noFill/>
          <a:ln w="1016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450592" y="1810512"/>
            <a:ext cx="118872" cy="118872"/>
          </a:xfrm>
          <a:prstGeom prst="ellipse">
            <a:avLst/>
          </a:prstGeom>
          <a:solidFill>
            <a:srgbClr val="D9F2EC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9464" y="1865376"/>
            <a:ext cx="521208" cy="9144"/>
          </a:xfrm>
          <a:prstGeom prst="line">
            <a:avLst/>
          </a:prstGeom>
          <a:noFill/>
          <a:ln w="1016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163824" y="1810512"/>
            <a:ext cx="118872" cy="118872"/>
          </a:xfrm>
          <a:prstGeom prst="ellipse">
            <a:avLst/>
          </a:prstGeom>
          <a:solidFill>
            <a:srgbClr val="D9F2EC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82696" y="1865376"/>
            <a:ext cx="521208" cy="9144"/>
          </a:xfrm>
          <a:prstGeom prst="line">
            <a:avLst/>
          </a:prstGeom>
          <a:noFill/>
          <a:ln w="1016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877056" y="1810512"/>
            <a:ext cx="118872" cy="118872"/>
          </a:xfrm>
          <a:prstGeom prst="ellipse">
            <a:avLst/>
          </a:prstGeom>
          <a:solidFill>
            <a:srgbClr val="D9F2EC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95928" y="1865376"/>
            <a:ext cx="521208" cy="9144"/>
          </a:xfrm>
          <a:prstGeom prst="line">
            <a:avLst/>
          </a:prstGeom>
          <a:noFill/>
          <a:ln w="1016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590288" y="1810512"/>
            <a:ext cx="118872" cy="118872"/>
          </a:xfrm>
          <a:prstGeom prst="ellipse">
            <a:avLst/>
          </a:prstGeom>
          <a:solidFill>
            <a:srgbClr val="D9F2EC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09160" y="1865376"/>
            <a:ext cx="521208" cy="9144"/>
          </a:xfrm>
          <a:prstGeom prst="line">
            <a:avLst/>
          </a:prstGeom>
          <a:noFill/>
          <a:ln w="1016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303520" y="1810512"/>
            <a:ext cx="118872" cy="118872"/>
          </a:xfrm>
          <a:prstGeom prst="ellipse">
            <a:avLst/>
          </a:prstGeom>
          <a:solidFill>
            <a:srgbClr val="D9F2EC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22392" y="1865376"/>
            <a:ext cx="521208" cy="9144"/>
          </a:xfrm>
          <a:prstGeom prst="line">
            <a:avLst/>
          </a:prstGeom>
          <a:noFill/>
          <a:ln w="1016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016752" y="1810512"/>
            <a:ext cx="118872" cy="118872"/>
          </a:xfrm>
          <a:prstGeom prst="ellipse">
            <a:avLst/>
          </a:prstGeom>
          <a:solidFill>
            <a:srgbClr val="D9F2EC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35624" y="1865376"/>
            <a:ext cx="521208" cy="9144"/>
          </a:xfrm>
          <a:prstGeom prst="line">
            <a:avLst/>
          </a:prstGeom>
          <a:noFill/>
          <a:ln w="1016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729984" y="1810512"/>
            <a:ext cx="118872" cy="118872"/>
          </a:xfrm>
          <a:prstGeom prst="ellipse">
            <a:avLst/>
          </a:prstGeom>
          <a:solidFill>
            <a:srgbClr val="D9F2EC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48856" y="1865376"/>
            <a:ext cx="521208" cy="9144"/>
          </a:xfrm>
          <a:prstGeom prst="line">
            <a:avLst/>
          </a:prstGeom>
          <a:noFill/>
          <a:ln w="1016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7443216" y="1810512"/>
            <a:ext cx="118872" cy="118872"/>
          </a:xfrm>
          <a:prstGeom prst="ellipse">
            <a:avLst/>
          </a:prstGeom>
          <a:solidFill>
            <a:srgbClr val="D9F2EC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85632" y="1719072"/>
            <a:ext cx="12801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horizonte N = 10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485632" y="1938528"/>
            <a:ext cx="22860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se aplica el primer comando; luego se vuelve a medir</a:t>
            </a:r>
            <a:endParaRPr lang="en-US" sz="740" dirty="0"/>
          </a:p>
        </p:txBody>
      </p:sp>
      <p:sp>
        <p:nvSpPr>
          <p:cNvPr id="55" name="Shape 53"/>
          <p:cNvSpPr/>
          <p:nvPr/>
        </p:nvSpPr>
        <p:spPr>
          <a:xfrm>
            <a:off x="713232" y="2743200"/>
            <a:ext cx="37033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13232" y="2743200"/>
            <a:ext cx="50292" cy="1234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4400" y="2889504"/>
            <a:ext cx="330098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predictivo</a:t>
            </a:r>
            <a:endParaRPr lang="en-US" sz="940" dirty="0"/>
          </a:p>
        </p:txBody>
      </p:sp>
      <p:sp>
        <p:nvSpPr>
          <p:cNvPr id="58" name="Text 56"/>
          <p:cNvSpPr/>
          <p:nvPr/>
        </p:nvSpPr>
        <p:spPr>
          <a:xfrm>
            <a:off x="914400" y="3218688"/>
            <a:ext cx="3300984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x_{k+1} = x_k + v_k cos(theta_k) dt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y_{k+1} = y_k + v_k sin(theta_k) dt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theta_{k+1} = theta_k + omega_k dt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90288" y="2743200"/>
            <a:ext cx="4919472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0288" y="2743200"/>
            <a:ext cx="50292" cy="187452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91456" y="2889504"/>
            <a:ext cx="451713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Costo multiobjetivo</a:t>
            </a:r>
            <a:endParaRPr lang="en-US" sz="940" dirty="0"/>
          </a:p>
        </p:txBody>
      </p:sp>
      <p:sp>
        <p:nvSpPr>
          <p:cNvPr id="62" name="Text 60"/>
          <p:cNvSpPr/>
          <p:nvPr/>
        </p:nvSpPr>
        <p:spPr>
          <a:xfrm>
            <a:off x="4791456" y="3218688"/>
            <a:ext cx="4517136" cy="1307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J = sum_k(c_e + c_u + c_s) + q_f ||p*_N-p_N||^2</a:t>
            </a:r>
            <a:endParaRPr lang="en-US" sz="620" dirty="0"/>
          </a:p>
          <a:p>
            <a:pPr algn="l" indent="0" marL="0">
              <a:buNone/>
            </a:pPr>
            <a:r>
              <a:rPr lang="en-US" sz="62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c_e = q_d e_d^2 + q_t ||p*_k-p_k||^2 + q_psi e_psi^2</a:t>
            </a:r>
            <a:endParaRPr lang="en-US" sz="620" dirty="0"/>
          </a:p>
          <a:p>
            <a:pPr algn="l" indent="0" marL="0">
              <a:buNone/>
            </a:pPr>
            <a:r>
              <a:rPr lang="en-US" sz="62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c_u = r_v v_k^2 + r_omega omega_k^2 + r_w(omega_L^2+omega_R^2)</a:t>
            </a:r>
            <a:endParaRPr lang="en-US" sz="620" dirty="0"/>
          </a:p>
          <a:p>
            <a:pPr algn="l" indent="0" marL="0">
              <a:buNone/>
            </a:pPr>
            <a:r>
              <a:rPr lang="en-US" sz="62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c_s = s_v Delta v_k^2 + s_omega Delta omega_k^2</a:t>
            </a:r>
            <a:endParaRPr lang="en-US" sz="620" dirty="0"/>
          </a:p>
        </p:txBody>
      </p:sp>
      <p:sp>
        <p:nvSpPr>
          <p:cNvPr id="63" name="Shape 61"/>
          <p:cNvSpPr/>
          <p:nvPr/>
        </p:nvSpPr>
        <p:spPr>
          <a:xfrm>
            <a:off x="9710928" y="2743200"/>
            <a:ext cx="1627632" cy="1874520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9710928" y="2743200"/>
            <a:ext cx="50292" cy="1874520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912096" y="2889504"/>
            <a:ext cx="122529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Restricciones</a:t>
            </a:r>
            <a:endParaRPr lang="en-US" sz="940" dirty="0"/>
          </a:p>
        </p:txBody>
      </p:sp>
      <p:sp>
        <p:nvSpPr>
          <p:cNvPr id="66" name="Text 64"/>
          <p:cNvSpPr/>
          <p:nvPr/>
        </p:nvSpPr>
        <p:spPr>
          <a:xfrm>
            <a:off x="9912096" y="3218688"/>
            <a:ext cx="1225296" cy="1307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 in [v_reverse_max, v_max]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omega in [-omega_max, omega_max]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búsqueda directa: 2 pasadas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841248" y="4956048"/>
            <a:ext cx="1920240" cy="960120"/>
          </a:xfrm>
          <a:prstGeom prst="roundRect">
            <a:avLst>
              <a:gd name="adj" fmla="val 6667"/>
            </a:avLst>
          </a:prstGeom>
          <a:solidFill>
            <a:srgbClr val="EAF7F4"/>
          </a:solidFill>
          <a:ln w="5334">
            <a:solidFill>
              <a:srgbClr val="2A9D8F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841248" y="4956048"/>
            <a:ext cx="50292" cy="9601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41248" y="4956048"/>
            <a:ext cx="73152" cy="96012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05840" y="5074920"/>
            <a:ext cx="159105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0.335</a:t>
            </a:r>
            <a:endParaRPr lang="en-US" sz="1850" dirty="0"/>
          </a:p>
        </p:txBody>
      </p:sp>
      <p:sp>
        <p:nvSpPr>
          <p:cNvPr id="71" name="Text 69"/>
          <p:cNvSpPr/>
          <p:nvPr/>
        </p:nvSpPr>
        <p:spPr>
          <a:xfrm>
            <a:off x="1005840" y="5404104"/>
            <a:ext cx="159105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mov. [m]</a:t>
            </a:r>
            <a:endParaRPr lang="en-US" sz="870" dirty="0"/>
          </a:p>
        </p:txBody>
      </p:sp>
      <p:sp>
        <p:nvSpPr>
          <p:cNvPr id="72" name="Text 70"/>
          <p:cNvSpPr/>
          <p:nvPr/>
        </p:nvSpPr>
        <p:spPr>
          <a:xfrm>
            <a:off x="1005840" y="5605272"/>
            <a:ext cx="159105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 durante Bill móvil</a:t>
            </a:r>
            <a:endParaRPr lang="en-US" sz="770" dirty="0"/>
          </a:p>
        </p:txBody>
      </p:sp>
      <p:sp>
        <p:nvSpPr>
          <p:cNvPr id="73" name="Shape 71"/>
          <p:cNvSpPr/>
          <p:nvPr/>
        </p:nvSpPr>
        <p:spPr>
          <a:xfrm>
            <a:off x="3063240" y="4956048"/>
            <a:ext cx="1920240" cy="960120"/>
          </a:xfrm>
          <a:prstGeom prst="roundRect">
            <a:avLst>
              <a:gd name="adj" fmla="val 6667"/>
            </a:avLst>
          </a:prstGeom>
          <a:solidFill>
            <a:srgbClr val="E6F4F6"/>
          </a:solidFill>
          <a:ln w="5334">
            <a:solidFill>
              <a:srgbClr val="1F7A8C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3063240" y="4956048"/>
            <a:ext cx="50292" cy="96012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063240" y="4956048"/>
            <a:ext cx="73152" cy="960120"/>
          </a:xfrm>
          <a:prstGeom prst="rect">
            <a:avLst/>
          </a:prstGeom>
          <a:solidFill>
            <a:srgbClr val="1F7A8C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27832" y="5074920"/>
            <a:ext cx="159105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F7A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0.112</a:t>
            </a:r>
            <a:endParaRPr lang="en-US" sz="1850" dirty="0"/>
          </a:p>
        </p:txBody>
      </p:sp>
      <p:sp>
        <p:nvSpPr>
          <p:cNvPr id="77" name="Text 75"/>
          <p:cNvSpPr/>
          <p:nvPr/>
        </p:nvSpPr>
        <p:spPr>
          <a:xfrm>
            <a:off x="3227832" y="5404104"/>
            <a:ext cx="159105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 delta-u</a:t>
            </a:r>
            <a:endParaRPr lang="en-US" sz="870" dirty="0"/>
          </a:p>
        </p:txBody>
      </p:sp>
      <p:sp>
        <p:nvSpPr>
          <p:cNvPr id="78" name="Text 76"/>
          <p:cNvSpPr/>
          <p:nvPr/>
        </p:nvSpPr>
        <p:spPr>
          <a:xfrm>
            <a:off x="3227832" y="5605272"/>
            <a:ext cx="159105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mando suave</a:t>
            </a:r>
            <a:endParaRPr lang="en-US" sz="770" dirty="0"/>
          </a:p>
        </p:txBody>
      </p:sp>
      <p:sp>
        <p:nvSpPr>
          <p:cNvPr id="79" name="Shape 77"/>
          <p:cNvSpPr/>
          <p:nvPr/>
        </p:nvSpPr>
        <p:spPr>
          <a:xfrm>
            <a:off x="5285232" y="4956048"/>
            <a:ext cx="1920240" cy="960120"/>
          </a:xfrm>
          <a:prstGeom prst="roundRect">
            <a:avLst>
              <a:gd name="adj" fmla="val 6667"/>
            </a:avLst>
          </a:prstGeom>
          <a:solidFill>
            <a:srgbClr val="FBE8DF"/>
          </a:solidFill>
          <a:ln w="5334">
            <a:solidFill>
              <a:srgbClr val="C97A5C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5285232" y="4956048"/>
            <a:ext cx="50292" cy="960120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285232" y="4956048"/>
            <a:ext cx="73152" cy="9601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49824" y="5074920"/>
            <a:ext cx="159105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C97A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50" dirty="0"/>
          </a:p>
        </p:txBody>
      </p:sp>
      <p:sp>
        <p:nvSpPr>
          <p:cNvPr id="83" name="Text 81"/>
          <p:cNvSpPr/>
          <p:nvPr/>
        </p:nvSpPr>
        <p:spPr>
          <a:xfrm>
            <a:off x="5449824" y="5404104"/>
            <a:ext cx="159105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flips al parar</a:t>
            </a:r>
            <a:endParaRPr lang="en-US" sz="870" dirty="0"/>
          </a:p>
        </p:txBody>
      </p:sp>
      <p:sp>
        <p:nvSpPr>
          <p:cNvPr id="84" name="Text 82"/>
          <p:cNvSpPr/>
          <p:nvPr/>
        </p:nvSpPr>
        <p:spPr>
          <a:xfrm>
            <a:off x="5449824" y="5605272"/>
            <a:ext cx="159105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cambios bruscos</a:t>
            </a:r>
            <a:endParaRPr lang="en-US" sz="770" dirty="0"/>
          </a:p>
        </p:txBody>
      </p:sp>
      <p:sp>
        <p:nvSpPr>
          <p:cNvPr id="85" name="Shape 83"/>
          <p:cNvSpPr/>
          <p:nvPr/>
        </p:nvSpPr>
        <p:spPr>
          <a:xfrm>
            <a:off x="7818120" y="4956048"/>
            <a:ext cx="3200400" cy="960120"/>
          </a:xfrm>
          <a:prstGeom prst="roundRect">
            <a:avLst>
              <a:gd name="adj" fmla="val 6667"/>
            </a:avLst>
          </a:prstGeom>
          <a:solidFill>
            <a:srgbClr val="F0EEFB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7818120" y="4956048"/>
            <a:ext cx="50292" cy="96012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028432" y="5102352"/>
            <a:ext cx="2194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Pesos usados</a:t>
            </a:r>
            <a:endParaRPr lang="en-US" sz="860" dirty="0"/>
          </a:p>
        </p:txBody>
      </p:sp>
      <p:sp>
        <p:nvSpPr>
          <p:cNvPr id="88" name="Text 86"/>
          <p:cNvSpPr/>
          <p:nvPr/>
        </p:nvSpPr>
        <p:spPr>
          <a:xfrm>
            <a:off x="8028432" y="5367528"/>
            <a:ext cx="267004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q_d=48, q_t=7, q_psi=1.2, r_v=1.4, r_omega=1.8, r_w=0.020, s_v=65, s_omega=18, q_f=6.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de seguimiento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Precisión, seguimiento y esfuerzo no coinciden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FBE8DF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comparación usa la misma trayectoria de Bill y el mismo logger para todos los controladores.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658368" y="1444752"/>
            <a:ext cx="5806440" cy="4407408"/>
          </a:xfrm>
          <a:prstGeom prst="roundRect">
            <a:avLst>
              <a:gd name="adj" fmla="val 1452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8368" y="1444752"/>
            <a:ext cx="50292" cy="44074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1563624"/>
            <a:ext cx="547725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temporal exportada</a:t>
            </a:r>
            <a:endParaRPr lang="en-US" sz="800" dirty="0"/>
          </a:p>
        </p:txBody>
      </p:sp>
      <p:pic>
        <p:nvPicPr>
          <p:cNvPr id="36" name="Image 0" descr="C:\Users\walla\Documents\Master VIU\C9_SistRobMoviles\viu-mrob-sistemas-roboticos-moviles\actividad2\coppeliasim\follower_pid_logs\follower_pid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99395"/>
            <a:ext cx="5660136" cy="3354155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6784848" y="1481328"/>
            <a:ext cx="196596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784848" y="1481328"/>
            <a:ext cx="50292" cy="10241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967728" y="1609344"/>
            <a:ext cx="160020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B91C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PID</a:t>
            </a:r>
            <a:endParaRPr lang="en-US" sz="2500" dirty="0"/>
          </a:p>
        </p:txBody>
      </p:sp>
      <p:sp>
        <p:nvSpPr>
          <p:cNvPr id="40" name="Text 37"/>
          <p:cNvSpPr/>
          <p:nvPr/>
        </p:nvSpPr>
        <p:spPr>
          <a:xfrm>
            <a:off x="6967728" y="1975104"/>
            <a:ext cx="16002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 error final: 0.032 m</a:t>
            </a:r>
            <a:endParaRPr lang="en-US" sz="860" dirty="0"/>
          </a:p>
        </p:txBody>
      </p:sp>
      <p:sp>
        <p:nvSpPr>
          <p:cNvPr id="41" name="Text 38"/>
          <p:cNvSpPr/>
          <p:nvPr/>
        </p:nvSpPr>
        <p:spPr>
          <a:xfrm>
            <a:off x="6967728" y="2194560"/>
            <a:ext cx="16002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llegada al setpoint</a:t>
            </a:r>
            <a:endParaRPr lang="en-US" sz="740" dirty="0"/>
          </a:p>
        </p:txBody>
      </p:sp>
      <p:sp>
        <p:nvSpPr>
          <p:cNvPr id="42" name="Shape 39"/>
          <p:cNvSpPr/>
          <p:nvPr/>
        </p:nvSpPr>
        <p:spPr>
          <a:xfrm>
            <a:off x="8979408" y="1481328"/>
            <a:ext cx="196596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8979408" y="1481328"/>
            <a:ext cx="50292" cy="10241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62288" y="1609344"/>
            <a:ext cx="160020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NMPC</a:t>
            </a:r>
            <a:endParaRPr lang="en-US" sz="2500" dirty="0"/>
          </a:p>
        </p:txBody>
      </p:sp>
      <p:sp>
        <p:nvSpPr>
          <p:cNvPr id="45" name="Text 42"/>
          <p:cNvSpPr/>
          <p:nvPr/>
        </p:nvSpPr>
        <p:spPr>
          <a:xfrm>
            <a:off x="9162288" y="1975104"/>
            <a:ext cx="16002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 error móvil: 0.335 m</a:t>
            </a:r>
            <a:endParaRPr lang="en-US" sz="860" dirty="0"/>
          </a:p>
        </p:txBody>
      </p:sp>
      <p:sp>
        <p:nvSpPr>
          <p:cNvPr id="46" name="Text 43"/>
          <p:cNvSpPr/>
          <p:nvPr/>
        </p:nvSpPr>
        <p:spPr>
          <a:xfrm>
            <a:off x="9162288" y="2194560"/>
            <a:ext cx="16002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 en movimiento</a:t>
            </a:r>
            <a:endParaRPr lang="en-US" sz="740" dirty="0"/>
          </a:p>
        </p:txBody>
      </p:sp>
      <p:sp>
        <p:nvSpPr>
          <p:cNvPr id="47" name="Shape 44"/>
          <p:cNvSpPr/>
          <p:nvPr/>
        </p:nvSpPr>
        <p:spPr>
          <a:xfrm>
            <a:off x="6784848" y="2761488"/>
            <a:ext cx="196596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6784848" y="2761488"/>
            <a:ext cx="50292" cy="10241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967728" y="2889504"/>
            <a:ext cx="160020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7A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LQR</a:t>
            </a:r>
            <a:endParaRPr lang="en-US" sz="2500" dirty="0"/>
          </a:p>
        </p:txBody>
      </p:sp>
      <p:sp>
        <p:nvSpPr>
          <p:cNvPr id="50" name="Text 47"/>
          <p:cNvSpPr/>
          <p:nvPr/>
        </p:nvSpPr>
        <p:spPr>
          <a:xfrm>
            <a:off x="6967728" y="3255264"/>
            <a:ext cx="16002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mando más suave: 0.094</a:t>
            </a:r>
            <a:endParaRPr lang="en-US" sz="860" dirty="0"/>
          </a:p>
        </p:txBody>
      </p:sp>
      <p:sp>
        <p:nvSpPr>
          <p:cNvPr id="51" name="Text 48"/>
          <p:cNvSpPr/>
          <p:nvPr/>
        </p:nvSpPr>
        <p:spPr>
          <a:xfrm>
            <a:off x="6967728" y="3474720"/>
            <a:ext cx="16002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 delta-u</a:t>
            </a:r>
            <a:endParaRPr lang="en-US" sz="740" dirty="0"/>
          </a:p>
        </p:txBody>
      </p:sp>
      <p:sp>
        <p:nvSpPr>
          <p:cNvPr id="52" name="Shape 49"/>
          <p:cNvSpPr/>
          <p:nvPr/>
        </p:nvSpPr>
        <p:spPr>
          <a:xfrm>
            <a:off x="8979408" y="2761488"/>
            <a:ext cx="19659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8979408" y="2761488"/>
            <a:ext cx="50292" cy="18288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9180576" y="2898648"/>
            <a:ext cx="15636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final [m]</a:t>
            </a:r>
            <a:endParaRPr lang="en-US" sz="830" dirty="0"/>
          </a:p>
        </p:txBody>
      </p:sp>
      <p:sp>
        <p:nvSpPr>
          <p:cNvPr id="55" name="Text 52"/>
          <p:cNvSpPr/>
          <p:nvPr/>
        </p:nvSpPr>
        <p:spPr>
          <a:xfrm>
            <a:off x="9180576" y="3236976"/>
            <a:ext cx="70774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720" dirty="0"/>
          </a:p>
        </p:txBody>
      </p:sp>
      <p:sp>
        <p:nvSpPr>
          <p:cNvPr id="56" name="Shape 53"/>
          <p:cNvSpPr/>
          <p:nvPr/>
        </p:nvSpPr>
        <p:spPr>
          <a:xfrm>
            <a:off x="9998050" y="3268980"/>
            <a:ext cx="185623" cy="96012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998050" y="3268980"/>
            <a:ext cx="138171" cy="96012"/>
          </a:xfrm>
          <a:prstGeom prst="rect">
            <a:avLst/>
          </a:prstGeom>
          <a:solidFill>
            <a:srgbClr val="F4A261"/>
          </a:solidFill>
          <a:ln w="8890">
            <a:solidFill>
              <a:srgbClr val="F4A261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0329977" y="3226003"/>
            <a:ext cx="432511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0.079</a:t>
            </a:r>
            <a:endParaRPr lang="en-US" sz="690" dirty="0"/>
          </a:p>
        </p:txBody>
      </p:sp>
      <p:sp>
        <p:nvSpPr>
          <p:cNvPr id="59" name="Text 56"/>
          <p:cNvSpPr/>
          <p:nvPr/>
        </p:nvSpPr>
        <p:spPr>
          <a:xfrm>
            <a:off x="9180576" y="3471062"/>
            <a:ext cx="70774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</a:t>
            </a:r>
            <a:endParaRPr lang="en-US" sz="720" dirty="0"/>
          </a:p>
        </p:txBody>
      </p:sp>
      <p:sp>
        <p:nvSpPr>
          <p:cNvPr id="60" name="Shape 57"/>
          <p:cNvSpPr/>
          <p:nvPr/>
        </p:nvSpPr>
        <p:spPr>
          <a:xfrm>
            <a:off x="9998050" y="3503066"/>
            <a:ext cx="185623" cy="96012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9998050" y="3503066"/>
            <a:ext cx="185623" cy="96012"/>
          </a:xfrm>
          <a:prstGeom prst="rect">
            <a:avLst/>
          </a:prstGeom>
          <a:solidFill>
            <a:srgbClr val="1F7A8C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0329977" y="3460090"/>
            <a:ext cx="432511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0.106</a:t>
            </a:r>
            <a:endParaRPr lang="en-US" sz="690" dirty="0"/>
          </a:p>
        </p:txBody>
      </p:sp>
      <p:sp>
        <p:nvSpPr>
          <p:cNvPr id="63" name="Text 60"/>
          <p:cNvSpPr/>
          <p:nvPr/>
        </p:nvSpPr>
        <p:spPr>
          <a:xfrm>
            <a:off x="9180576" y="3705149"/>
            <a:ext cx="70774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</a:t>
            </a:r>
            <a:endParaRPr lang="en-US" sz="720" dirty="0"/>
          </a:p>
        </p:txBody>
      </p:sp>
      <p:sp>
        <p:nvSpPr>
          <p:cNvPr id="64" name="Shape 61"/>
          <p:cNvSpPr/>
          <p:nvPr/>
        </p:nvSpPr>
        <p:spPr>
          <a:xfrm>
            <a:off x="9998050" y="3737153"/>
            <a:ext cx="185623" cy="96012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9998050" y="3737153"/>
            <a:ext cx="55478" cy="96012"/>
          </a:xfrm>
          <a:prstGeom prst="rect">
            <a:avLst/>
          </a:prstGeom>
          <a:solidFill>
            <a:srgbClr val="B91C1C"/>
          </a:solidFill>
          <a:ln w="8890">
            <a:solidFill>
              <a:srgbClr val="B91C1C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10329977" y="3694176"/>
            <a:ext cx="432511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9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0.032</a:t>
            </a:r>
            <a:endParaRPr lang="en-US" sz="690" dirty="0"/>
          </a:p>
        </p:txBody>
      </p:sp>
      <p:sp>
        <p:nvSpPr>
          <p:cNvPr id="67" name="Text 64"/>
          <p:cNvSpPr/>
          <p:nvPr/>
        </p:nvSpPr>
        <p:spPr>
          <a:xfrm>
            <a:off x="9180576" y="3939235"/>
            <a:ext cx="70774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LQR</a:t>
            </a:r>
            <a:endParaRPr lang="en-US" sz="720" dirty="0"/>
          </a:p>
        </p:txBody>
      </p:sp>
      <p:sp>
        <p:nvSpPr>
          <p:cNvPr id="68" name="Shape 65"/>
          <p:cNvSpPr/>
          <p:nvPr/>
        </p:nvSpPr>
        <p:spPr>
          <a:xfrm>
            <a:off x="9998050" y="3971239"/>
            <a:ext cx="185623" cy="96012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9998050" y="3971239"/>
            <a:ext cx="125959" cy="96012"/>
          </a:xfrm>
          <a:prstGeom prst="rect">
            <a:avLst/>
          </a:prstGeom>
          <a:solidFill>
            <a:srgbClr val="6D5BD0"/>
          </a:solidFill>
          <a:ln w="8890">
            <a:solidFill>
              <a:srgbClr val="6D5BD0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10329977" y="3928262"/>
            <a:ext cx="432511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0.072</a:t>
            </a:r>
            <a:endParaRPr lang="en-US" sz="690" dirty="0"/>
          </a:p>
        </p:txBody>
      </p:sp>
      <p:sp>
        <p:nvSpPr>
          <p:cNvPr id="71" name="Text 68"/>
          <p:cNvSpPr/>
          <p:nvPr/>
        </p:nvSpPr>
        <p:spPr>
          <a:xfrm>
            <a:off x="9180576" y="4173322"/>
            <a:ext cx="70774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NMPC</a:t>
            </a:r>
            <a:endParaRPr lang="en-US" sz="720" dirty="0"/>
          </a:p>
        </p:txBody>
      </p:sp>
      <p:sp>
        <p:nvSpPr>
          <p:cNvPr id="72" name="Shape 69"/>
          <p:cNvSpPr/>
          <p:nvPr/>
        </p:nvSpPr>
        <p:spPr>
          <a:xfrm>
            <a:off x="9998050" y="4205326"/>
            <a:ext cx="185623" cy="96012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9998050" y="4205326"/>
            <a:ext cx="158059" cy="96012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10329977" y="4162349"/>
            <a:ext cx="432511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0.091</a:t>
            </a:r>
            <a:endParaRPr lang="en-US" sz="690" dirty="0"/>
          </a:p>
        </p:txBody>
      </p:sp>
      <p:sp>
        <p:nvSpPr>
          <p:cNvPr id="75" name="Shape 72"/>
          <p:cNvSpPr/>
          <p:nvPr/>
        </p:nvSpPr>
        <p:spPr>
          <a:xfrm>
            <a:off x="6784848" y="4718304"/>
            <a:ext cx="4160520" cy="1024128"/>
          </a:xfrm>
          <a:prstGeom prst="roundRect">
            <a:avLst>
              <a:gd name="adj" fmla="val 10714"/>
            </a:avLst>
          </a:prstGeom>
          <a:solidFill>
            <a:srgbClr val="071826"/>
          </a:solidFill>
          <a:ln w="9525">
            <a:solidFill>
              <a:srgbClr val="071826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6986016" y="4882896"/>
            <a:ext cx="375818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DB7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DE CONTROL</a:t>
            </a:r>
            <a:endParaRPr lang="en-US" sz="720" dirty="0"/>
          </a:p>
        </p:txBody>
      </p:sp>
      <p:sp>
        <p:nvSpPr>
          <p:cNvPr id="77" name="Text 74"/>
          <p:cNvSpPr/>
          <p:nvPr/>
        </p:nvSpPr>
        <p:spPr>
          <a:xfrm>
            <a:off x="6986016" y="5157216"/>
            <a:ext cx="3758184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 minimiza error final; LQR/NMPC explican mejor seguimiento móvil y costo de actuación.</a:t>
            </a:r>
            <a:endParaRPr lang="en-US" sz="11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costo de control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Ruedas y esfuerzo de control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FBE8DF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trayectoria precisa empeora si exige más energía, oscilación o cambios bruscos de signo.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658368" y="1417320"/>
            <a:ext cx="5486400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8368" y="1417320"/>
            <a:ext cx="50292" cy="2423160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1536192"/>
            <a:ext cx="515721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potencia instantánea y acumulada</a:t>
            </a:r>
            <a:endParaRPr lang="en-US" sz="800" dirty="0"/>
          </a:p>
        </p:txBody>
      </p:sp>
      <p:pic>
        <p:nvPicPr>
          <p:cNvPr id="36" name="Image 0" descr="C:\Users\walla\Documents\Master VIU\C9_SistRobMoviles\viu-mrob-sistemas-roboticos-moviles\actividad2\coppeliasim\follower_pid_logs\follower_wheel_power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7359" y="1764792"/>
            <a:ext cx="3348419" cy="1984248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658368" y="4133088"/>
            <a:ext cx="5486400" cy="1719072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58368" y="4133088"/>
            <a:ext cx="50292" cy="1719072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22960" y="4251960"/>
            <a:ext cx="515721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suavidad del comando de ruedas</a:t>
            </a:r>
            <a:endParaRPr lang="en-US" sz="800" dirty="0"/>
          </a:p>
        </p:txBody>
      </p:sp>
      <p:pic>
        <p:nvPicPr>
          <p:cNvPr id="40" name="Image 1" descr="C:\Users\walla\Documents\Master VIU\C9_SistRobMoviles\viu-mrob-sistemas-roboticos-moviles\actividad2\coppeliasim\follower_pid_logs\follower_wheel_command_smoothn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433" y="4480560"/>
            <a:ext cx="2160270" cy="1280160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>
            <a:off x="6510528" y="1444752"/>
            <a:ext cx="21488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6510528" y="1444752"/>
            <a:ext cx="50292" cy="1920240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711696" y="1581912"/>
            <a:ext cx="174650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energía [J]</a:t>
            </a:r>
            <a:endParaRPr lang="en-US" sz="830" dirty="0"/>
          </a:p>
        </p:txBody>
      </p:sp>
      <p:sp>
        <p:nvSpPr>
          <p:cNvPr id="44" name="Text 40"/>
          <p:cNvSpPr/>
          <p:nvPr/>
        </p:nvSpPr>
        <p:spPr>
          <a:xfrm>
            <a:off x="6711696" y="1920240"/>
            <a:ext cx="77358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720" dirty="0"/>
          </a:p>
        </p:txBody>
      </p:sp>
      <p:sp>
        <p:nvSpPr>
          <p:cNvPr id="45" name="Shape 41"/>
          <p:cNvSpPr/>
          <p:nvPr/>
        </p:nvSpPr>
        <p:spPr>
          <a:xfrm>
            <a:off x="7595006" y="1952244"/>
            <a:ext cx="262433" cy="96012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7595006" y="1952244"/>
            <a:ext cx="122813" cy="96012"/>
          </a:xfrm>
          <a:prstGeom prst="rect">
            <a:avLst/>
          </a:prstGeom>
          <a:solidFill>
            <a:srgbClr val="F4A261"/>
          </a:solidFill>
          <a:ln w="8890">
            <a:solidFill>
              <a:srgbClr val="F4A261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003743" y="1909267"/>
            <a:ext cx="472745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75.3</a:t>
            </a:r>
            <a:endParaRPr lang="en-US" sz="690" dirty="0"/>
          </a:p>
        </p:txBody>
      </p:sp>
      <p:sp>
        <p:nvSpPr>
          <p:cNvPr id="48" name="Text 44"/>
          <p:cNvSpPr/>
          <p:nvPr/>
        </p:nvSpPr>
        <p:spPr>
          <a:xfrm>
            <a:off x="6711696" y="2172614"/>
            <a:ext cx="77358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</a:t>
            </a:r>
            <a:endParaRPr lang="en-US" sz="720" dirty="0"/>
          </a:p>
        </p:txBody>
      </p:sp>
      <p:sp>
        <p:nvSpPr>
          <p:cNvPr id="49" name="Shape 45"/>
          <p:cNvSpPr/>
          <p:nvPr/>
        </p:nvSpPr>
        <p:spPr>
          <a:xfrm>
            <a:off x="7595006" y="2204618"/>
            <a:ext cx="262433" cy="96012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7595006" y="2204618"/>
            <a:ext cx="141061" cy="96012"/>
          </a:xfrm>
          <a:prstGeom prst="rect">
            <a:avLst/>
          </a:prstGeom>
          <a:solidFill>
            <a:srgbClr val="1F7A8C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8003743" y="2161642"/>
            <a:ext cx="472745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86.5</a:t>
            </a:r>
            <a:endParaRPr lang="en-US" sz="690" dirty="0"/>
          </a:p>
        </p:txBody>
      </p:sp>
      <p:sp>
        <p:nvSpPr>
          <p:cNvPr id="52" name="Text 48"/>
          <p:cNvSpPr/>
          <p:nvPr/>
        </p:nvSpPr>
        <p:spPr>
          <a:xfrm>
            <a:off x="6711696" y="2424989"/>
            <a:ext cx="77358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</a:t>
            </a:r>
            <a:endParaRPr lang="en-US" sz="720" dirty="0"/>
          </a:p>
        </p:txBody>
      </p:sp>
      <p:sp>
        <p:nvSpPr>
          <p:cNvPr id="53" name="Shape 49"/>
          <p:cNvSpPr/>
          <p:nvPr/>
        </p:nvSpPr>
        <p:spPr>
          <a:xfrm>
            <a:off x="7595006" y="2456993"/>
            <a:ext cx="262433" cy="96012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7595006" y="2456993"/>
            <a:ext cx="262433" cy="96012"/>
          </a:xfrm>
          <a:prstGeom prst="rect">
            <a:avLst/>
          </a:prstGeom>
          <a:solidFill>
            <a:srgbClr val="B91C1C"/>
          </a:solidFill>
          <a:ln w="8890">
            <a:solidFill>
              <a:srgbClr val="B91C1C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8003743" y="2414016"/>
            <a:ext cx="472745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160.9</a:t>
            </a:r>
            <a:endParaRPr lang="en-US" sz="690" dirty="0"/>
          </a:p>
        </p:txBody>
      </p:sp>
      <p:sp>
        <p:nvSpPr>
          <p:cNvPr id="56" name="Text 52"/>
          <p:cNvSpPr/>
          <p:nvPr/>
        </p:nvSpPr>
        <p:spPr>
          <a:xfrm>
            <a:off x="6711696" y="2677363"/>
            <a:ext cx="77358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LQR</a:t>
            </a:r>
            <a:endParaRPr lang="en-US" sz="720" dirty="0"/>
          </a:p>
        </p:txBody>
      </p:sp>
      <p:sp>
        <p:nvSpPr>
          <p:cNvPr id="57" name="Shape 53"/>
          <p:cNvSpPr/>
          <p:nvPr/>
        </p:nvSpPr>
        <p:spPr>
          <a:xfrm>
            <a:off x="7595006" y="2709367"/>
            <a:ext cx="262433" cy="96012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7595006" y="2709367"/>
            <a:ext cx="114720" cy="96012"/>
          </a:xfrm>
          <a:prstGeom prst="rect">
            <a:avLst/>
          </a:prstGeom>
          <a:solidFill>
            <a:srgbClr val="6D5BD0"/>
          </a:solidFill>
          <a:ln w="8890">
            <a:solidFill>
              <a:srgbClr val="6D5BD0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8003743" y="2666390"/>
            <a:ext cx="472745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9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70.3</a:t>
            </a:r>
            <a:endParaRPr lang="en-US" sz="690" dirty="0"/>
          </a:p>
        </p:txBody>
      </p:sp>
      <p:sp>
        <p:nvSpPr>
          <p:cNvPr id="60" name="Text 56"/>
          <p:cNvSpPr/>
          <p:nvPr/>
        </p:nvSpPr>
        <p:spPr>
          <a:xfrm>
            <a:off x="6711696" y="2929738"/>
            <a:ext cx="77358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NMPC</a:t>
            </a:r>
            <a:endParaRPr lang="en-US" sz="720" dirty="0"/>
          </a:p>
        </p:txBody>
      </p:sp>
      <p:sp>
        <p:nvSpPr>
          <p:cNvPr id="61" name="Shape 57"/>
          <p:cNvSpPr/>
          <p:nvPr/>
        </p:nvSpPr>
        <p:spPr>
          <a:xfrm>
            <a:off x="7595006" y="2961742"/>
            <a:ext cx="262433" cy="96012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7595006" y="2961742"/>
            <a:ext cx="121270" cy="96012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8003743" y="2918765"/>
            <a:ext cx="472745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74.4</a:t>
            </a:r>
            <a:endParaRPr lang="en-US" sz="690" dirty="0"/>
          </a:p>
        </p:txBody>
      </p:sp>
      <p:sp>
        <p:nvSpPr>
          <p:cNvPr id="64" name="Shape 60"/>
          <p:cNvSpPr/>
          <p:nvPr/>
        </p:nvSpPr>
        <p:spPr>
          <a:xfrm>
            <a:off x="8979408" y="1444752"/>
            <a:ext cx="21488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5" name="Shape 61"/>
          <p:cNvSpPr/>
          <p:nvPr/>
        </p:nvSpPr>
        <p:spPr>
          <a:xfrm>
            <a:off x="8979408" y="1444752"/>
            <a:ext cx="50292" cy="192024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9180576" y="1581912"/>
            <a:ext cx="174650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variación total</a:t>
            </a:r>
            <a:endParaRPr lang="en-US" sz="830" dirty="0"/>
          </a:p>
        </p:txBody>
      </p:sp>
      <p:sp>
        <p:nvSpPr>
          <p:cNvPr id="67" name="Text 63"/>
          <p:cNvSpPr/>
          <p:nvPr/>
        </p:nvSpPr>
        <p:spPr>
          <a:xfrm>
            <a:off x="9180576" y="1920240"/>
            <a:ext cx="77358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720" dirty="0"/>
          </a:p>
        </p:txBody>
      </p:sp>
      <p:sp>
        <p:nvSpPr>
          <p:cNvPr id="68" name="Shape 64"/>
          <p:cNvSpPr/>
          <p:nvPr/>
        </p:nvSpPr>
        <p:spPr>
          <a:xfrm>
            <a:off x="10063886" y="1952244"/>
            <a:ext cx="262433" cy="96012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10063886" y="1952244"/>
            <a:ext cx="36392" cy="96012"/>
          </a:xfrm>
          <a:prstGeom prst="rect">
            <a:avLst/>
          </a:prstGeom>
          <a:solidFill>
            <a:srgbClr val="F4A261"/>
          </a:solidFill>
          <a:ln w="8890">
            <a:solidFill>
              <a:srgbClr val="F4A261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10472623" y="1909267"/>
            <a:ext cx="472745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50.4</a:t>
            </a:r>
            <a:endParaRPr lang="en-US" sz="690" dirty="0"/>
          </a:p>
        </p:txBody>
      </p:sp>
      <p:sp>
        <p:nvSpPr>
          <p:cNvPr id="71" name="Text 67"/>
          <p:cNvSpPr/>
          <p:nvPr/>
        </p:nvSpPr>
        <p:spPr>
          <a:xfrm>
            <a:off x="9180576" y="2172614"/>
            <a:ext cx="77358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</a:t>
            </a:r>
            <a:endParaRPr lang="en-US" sz="720" dirty="0"/>
          </a:p>
        </p:txBody>
      </p:sp>
      <p:sp>
        <p:nvSpPr>
          <p:cNvPr id="72" name="Shape 68"/>
          <p:cNvSpPr/>
          <p:nvPr/>
        </p:nvSpPr>
        <p:spPr>
          <a:xfrm>
            <a:off x="10063886" y="2204618"/>
            <a:ext cx="262433" cy="96012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10063886" y="2204618"/>
            <a:ext cx="62497" cy="96012"/>
          </a:xfrm>
          <a:prstGeom prst="rect">
            <a:avLst/>
          </a:prstGeom>
          <a:solidFill>
            <a:srgbClr val="1F7A8C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10472623" y="2161642"/>
            <a:ext cx="472745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86.5</a:t>
            </a:r>
            <a:endParaRPr lang="en-US" sz="690" dirty="0"/>
          </a:p>
        </p:txBody>
      </p:sp>
      <p:sp>
        <p:nvSpPr>
          <p:cNvPr id="75" name="Text 71"/>
          <p:cNvSpPr/>
          <p:nvPr/>
        </p:nvSpPr>
        <p:spPr>
          <a:xfrm>
            <a:off x="9180576" y="2424989"/>
            <a:ext cx="77358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</a:t>
            </a:r>
            <a:endParaRPr lang="en-US" sz="720" dirty="0"/>
          </a:p>
        </p:txBody>
      </p:sp>
      <p:sp>
        <p:nvSpPr>
          <p:cNvPr id="76" name="Shape 72"/>
          <p:cNvSpPr/>
          <p:nvPr/>
        </p:nvSpPr>
        <p:spPr>
          <a:xfrm>
            <a:off x="10063886" y="2456993"/>
            <a:ext cx="262433" cy="96012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10063886" y="2456993"/>
            <a:ext cx="262433" cy="96012"/>
          </a:xfrm>
          <a:prstGeom prst="rect">
            <a:avLst/>
          </a:prstGeom>
          <a:solidFill>
            <a:srgbClr val="B91C1C"/>
          </a:solidFill>
          <a:ln w="8890">
            <a:solidFill>
              <a:srgbClr val="B91C1C"/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10472623" y="2414016"/>
            <a:ext cx="472745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363.2</a:t>
            </a:r>
            <a:endParaRPr lang="en-US" sz="690" dirty="0"/>
          </a:p>
        </p:txBody>
      </p:sp>
      <p:sp>
        <p:nvSpPr>
          <p:cNvPr id="79" name="Text 75"/>
          <p:cNvSpPr/>
          <p:nvPr/>
        </p:nvSpPr>
        <p:spPr>
          <a:xfrm>
            <a:off x="9180576" y="2677363"/>
            <a:ext cx="77358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LQR</a:t>
            </a:r>
            <a:endParaRPr lang="en-US" sz="720" dirty="0"/>
          </a:p>
        </p:txBody>
      </p:sp>
      <p:sp>
        <p:nvSpPr>
          <p:cNvPr id="80" name="Shape 76"/>
          <p:cNvSpPr/>
          <p:nvPr/>
        </p:nvSpPr>
        <p:spPr>
          <a:xfrm>
            <a:off x="10063886" y="2709367"/>
            <a:ext cx="262433" cy="96012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10063886" y="2709367"/>
            <a:ext cx="73187" cy="96012"/>
          </a:xfrm>
          <a:prstGeom prst="rect">
            <a:avLst/>
          </a:prstGeom>
          <a:solidFill>
            <a:srgbClr val="6D5BD0"/>
          </a:solidFill>
          <a:ln w="8890">
            <a:solidFill>
              <a:srgbClr val="6D5BD0"/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10472623" y="2666390"/>
            <a:ext cx="472745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101.3</a:t>
            </a:r>
            <a:endParaRPr lang="en-US" sz="690" dirty="0"/>
          </a:p>
        </p:txBody>
      </p:sp>
      <p:sp>
        <p:nvSpPr>
          <p:cNvPr id="83" name="Text 79"/>
          <p:cNvSpPr/>
          <p:nvPr/>
        </p:nvSpPr>
        <p:spPr>
          <a:xfrm>
            <a:off x="9180576" y="2929738"/>
            <a:ext cx="77358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NMPC</a:t>
            </a:r>
            <a:endParaRPr lang="en-US" sz="720" dirty="0"/>
          </a:p>
        </p:txBody>
      </p:sp>
      <p:sp>
        <p:nvSpPr>
          <p:cNvPr id="84" name="Shape 80"/>
          <p:cNvSpPr/>
          <p:nvPr/>
        </p:nvSpPr>
        <p:spPr>
          <a:xfrm>
            <a:off x="10063886" y="2961742"/>
            <a:ext cx="262433" cy="96012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10063886" y="2961742"/>
            <a:ext cx="26068" cy="96012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10472623" y="2918765"/>
            <a:ext cx="472745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9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36.1</a:t>
            </a:r>
            <a:endParaRPr lang="en-US" sz="690" dirty="0"/>
          </a:p>
        </p:txBody>
      </p:sp>
      <p:sp>
        <p:nvSpPr>
          <p:cNvPr id="87" name="Shape 83"/>
          <p:cNvSpPr/>
          <p:nvPr/>
        </p:nvSpPr>
        <p:spPr>
          <a:xfrm>
            <a:off x="6510528" y="3675888"/>
            <a:ext cx="2148840" cy="1682496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88" name="Shape 84"/>
          <p:cNvSpPr/>
          <p:nvPr/>
        </p:nvSpPr>
        <p:spPr>
          <a:xfrm>
            <a:off x="6510528" y="3675888"/>
            <a:ext cx="50292" cy="168249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89" name="Text 85"/>
          <p:cNvSpPr/>
          <p:nvPr/>
        </p:nvSpPr>
        <p:spPr>
          <a:xfrm>
            <a:off x="6711696" y="3813048"/>
            <a:ext cx="174650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flips al detenerse Bill</a:t>
            </a:r>
            <a:endParaRPr lang="en-US" sz="830" dirty="0"/>
          </a:p>
        </p:txBody>
      </p:sp>
      <p:sp>
        <p:nvSpPr>
          <p:cNvPr id="90" name="Text 86"/>
          <p:cNvSpPr/>
          <p:nvPr/>
        </p:nvSpPr>
        <p:spPr>
          <a:xfrm>
            <a:off x="6711696" y="4151376"/>
            <a:ext cx="77358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720" dirty="0"/>
          </a:p>
        </p:txBody>
      </p:sp>
      <p:sp>
        <p:nvSpPr>
          <p:cNvPr id="91" name="Shape 87"/>
          <p:cNvSpPr/>
          <p:nvPr/>
        </p:nvSpPr>
        <p:spPr>
          <a:xfrm>
            <a:off x="7595006" y="4183380"/>
            <a:ext cx="262433" cy="96012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7595006" y="4183380"/>
            <a:ext cx="124310" cy="96012"/>
          </a:xfrm>
          <a:prstGeom prst="rect">
            <a:avLst/>
          </a:prstGeom>
          <a:solidFill>
            <a:srgbClr val="F4A261"/>
          </a:solidFill>
          <a:ln w="8890">
            <a:solidFill>
              <a:srgbClr val="F4A261"/>
            </a:solidFill>
            <a:prstDash val="solid"/>
          </a:ln>
        </p:spPr>
      </p:sp>
      <p:sp>
        <p:nvSpPr>
          <p:cNvPr id="93" name="Text 89"/>
          <p:cNvSpPr/>
          <p:nvPr/>
        </p:nvSpPr>
        <p:spPr>
          <a:xfrm>
            <a:off x="8003743" y="4140403"/>
            <a:ext cx="472745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690" dirty="0"/>
          </a:p>
        </p:txBody>
      </p:sp>
      <p:sp>
        <p:nvSpPr>
          <p:cNvPr id="94" name="Text 90"/>
          <p:cNvSpPr/>
          <p:nvPr/>
        </p:nvSpPr>
        <p:spPr>
          <a:xfrm>
            <a:off x="6711696" y="4356202"/>
            <a:ext cx="77358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</a:t>
            </a:r>
            <a:endParaRPr lang="en-US" sz="720" dirty="0"/>
          </a:p>
        </p:txBody>
      </p:sp>
      <p:sp>
        <p:nvSpPr>
          <p:cNvPr id="95" name="Shape 91"/>
          <p:cNvSpPr/>
          <p:nvPr/>
        </p:nvSpPr>
        <p:spPr>
          <a:xfrm>
            <a:off x="7595006" y="4388206"/>
            <a:ext cx="262433" cy="96012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7595006" y="4388206"/>
            <a:ext cx="62155" cy="96012"/>
          </a:xfrm>
          <a:prstGeom prst="rect">
            <a:avLst/>
          </a:prstGeom>
          <a:solidFill>
            <a:srgbClr val="1F7A8C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97" name="Text 93"/>
          <p:cNvSpPr/>
          <p:nvPr/>
        </p:nvSpPr>
        <p:spPr>
          <a:xfrm>
            <a:off x="8003743" y="4345229"/>
            <a:ext cx="472745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690" dirty="0"/>
          </a:p>
        </p:txBody>
      </p:sp>
      <p:sp>
        <p:nvSpPr>
          <p:cNvPr id="98" name="Text 94"/>
          <p:cNvSpPr/>
          <p:nvPr/>
        </p:nvSpPr>
        <p:spPr>
          <a:xfrm>
            <a:off x="6711696" y="4561027"/>
            <a:ext cx="77358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</a:t>
            </a:r>
            <a:endParaRPr lang="en-US" sz="720" dirty="0"/>
          </a:p>
        </p:txBody>
      </p:sp>
      <p:sp>
        <p:nvSpPr>
          <p:cNvPr id="99" name="Shape 95"/>
          <p:cNvSpPr/>
          <p:nvPr/>
        </p:nvSpPr>
        <p:spPr>
          <a:xfrm>
            <a:off x="7595006" y="4593031"/>
            <a:ext cx="262433" cy="96012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7595006" y="4593031"/>
            <a:ext cx="262433" cy="96012"/>
          </a:xfrm>
          <a:prstGeom prst="rect">
            <a:avLst/>
          </a:prstGeom>
          <a:solidFill>
            <a:srgbClr val="B91C1C"/>
          </a:solidFill>
          <a:ln w="8890">
            <a:solidFill>
              <a:srgbClr val="B91C1C"/>
            </a:solidFill>
            <a:prstDash val="solid"/>
          </a:ln>
        </p:spPr>
      </p:sp>
      <p:sp>
        <p:nvSpPr>
          <p:cNvPr id="101" name="Text 97"/>
          <p:cNvSpPr/>
          <p:nvPr/>
        </p:nvSpPr>
        <p:spPr>
          <a:xfrm>
            <a:off x="8003743" y="4550054"/>
            <a:ext cx="472745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690" dirty="0"/>
          </a:p>
        </p:txBody>
      </p:sp>
      <p:sp>
        <p:nvSpPr>
          <p:cNvPr id="102" name="Text 98"/>
          <p:cNvSpPr/>
          <p:nvPr/>
        </p:nvSpPr>
        <p:spPr>
          <a:xfrm>
            <a:off x="6711696" y="4765853"/>
            <a:ext cx="77358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LQR</a:t>
            </a:r>
            <a:endParaRPr lang="en-US" sz="720" dirty="0"/>
          </a:p>
        </p:txBody>
      </p:sp>
      <p:sp>
        <p:nvSpPr>
          <p:cNvPr id="103" name="Shape 99"/>
          <p:cNvSpPr/>
          <p:nvPr/>
        </p:nvSpPr>
        <p:spPr>
          <a:xfrm>
            <a:off x="7595006" y="4797857"/>
            <a:ext cx="262433" cy="96012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7595006" y="4797857"/>
            <a:ext cx="103592" cy="96012"/>
          </a:xfrm>
          <a:prstGeom prst="rect">
            <a:avLst/>
          </a:prstGeom>
          <a:solidFill>
            <a:srgbClr val="6D5BD0"/>
          </a:solidFill>
          <a:ln w="8890">
            <a:solidFill>
              <a:srgbClr val="6D5BD0"/>
            </a:solidFill>
            <a:prstDash val="solid"/>
          </a:ln>
        </p:spPr>
      </p:sp>
      <p:sp>
        <p:nvSpPr>
          <p:cNvPr id="105" name="Text 101"/>
          <p:cNvSpPr/>
          <p:nvPr/>
        </p:nvSpPr>
        <p:spPr>
          <a:xfrm>
            <a:off x="8003743" y="4754880"/>
            <a:ext cx="472745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9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690" dirty="0"/>
          </a:p>
        </p:txBody>
      </p:sp>
      <p:sp>
        <p:nvSpPr>
          <p:cNvPr id="106" name="Text 102"/>
          <p:cNvSpPr/>
          <p:nvPr/>
        </p:nvSpPr>
        <p:spPr>
          <a:xfrm>
            <a:off x="6711696" y="4970678"/>
            <a:ext cx="77358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NMPC</a:t>
            </a:r>
            <a:endParaRPr lang="en-US" sz="720" dirty="0"/>
          </a:p>
        </p:txBody>
      </p:sp>
      <p:sp>
        <p:nvSpPr>
          <p:cNvPr id="107" name="Shape 103"/>
          <p:cNvSpPr/>
          <p:nvPr/>
        </p:nvSpPr>
        <p:spPr>
          <a:xfrm>
            <a:off x="7595006" y="5002682"/>
            <a:ext cx="262433" cy="96012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7595006" y="5002682"/>
            <a:ext cx="27625" cy="96012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</p:sp>
      <p:sp>
        <p:nvSpPr>
          <p:cNvPr id="109" name="Text 105"/>
          <p:cNvSpPr/>
          <p:nvPr/>
        </p:nvSpPr>
        <p:spPr>
          <a:xfrm>
            <a:off x="8003743" y="4959706"/>
            <a:ext cx="472745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9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90" dirty="0"/>
          </a:p>
        </p:txBody>
      </p:sp>
      <p:sp>
        <p:nvSpPr>
          <p:cNvPr id="110" name="Shape 106"/>
          <p:cNvSpPr/>
          <p:nvPr/>
        </p:nvSpPr>
        <p:spPr>
          <a:xfrm>
            <a:off x="8979408" y="3749040"/>
            <a:ext cx="2148840" cy="1325880"/>
          </a:xfrm>
          <a:prstGeom prst="roundRect">
            <a:avLst>
              <a:gd name="adj" fmla="val 8276"/>
            </a:avLst>
          </a:prstGeom>
          <a:solidFill>
            <a:srgbClr val="071826"/>
          </a:solidFill>
          <a:ln w="9525">
            <a:solidFill>
              <a:srgbClr val="071826"/>
            </a:solidFill>
            <a:prstDash val="solid"/>
          </a:ln>
        </p:spPr>
      </p:sp>
      <p:sp>
        <p:nvSpPr>
          <p:cNvPr id="111" name="Text 107"/>
          <p:cNvSpPr/>
          <p:nvPr/>
        </p:nvSpPr>
        <p:spPr>
          <a:xfrm>
            <a:off x="9180576" y="3913632"/>
            <a:ext cx="174650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INTERPRETACIÓN</a:t>
            </a:r>
            <a:endParaRPr lang="en-US" sz="720" dirty="0"/>
          </a:p>
        </p:txBody>
      </p:sp>
      <p:sp>
        <p:nvSpPr>
          <p:cNvPr id="112" name="Text 108"/>
          <p:cNvSpPr/>
          <p:nvPr/>
        </p:nvSpPr>
        <p:spPr>
          <a:xfrm>
            <a:off x="9180576" y="4187952"/>
            <a:ext cx="1746504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controlador se elige por precisión y costo físico. Error bajo sin suavidad no da un buen resultado operativo.</a:t>
            </a:r>
            <a:endParaRPr lang="en-US" sz="11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 potencial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Fuerza hacia Bill y repulsión local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FBE8DF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vector de guía combina atracción al punto p* con seguridad ante obstáculos.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713232" y="1371600"/>
            <a:ext cx="534924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77409" y="1444752"/>
            <a:ext cx="9144" cy="45171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2241586" y="1444752"/>
            <a:ext cx="9144" cy="45171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3005763" y="1444752"/>
            <a:ext cx="9144" cy="45171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3769941" y="1444752"/>
            <a:ext cx="9144" cy="45171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4534118" y="1444752"/>
            <a:ext cx="9144" cy="45171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5298295" y="1444752"/>
            <a:ext cx="9144" cy="45171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786384" y="2148840"/>
            <a:ext cx="5202936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786384" y="2926080"/>
            <a:ext cx="5202936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786384" y="3703320"/>
            <a:ext cx="5202936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786384" y="4480560"/>
            <a:ext cx="5202936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786384" y="5257800"/>
            <a:ext cx="5202936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1593982" y="4099438"/>
            <a:ext cx="798820" cy="7988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50893" y="4341937"/>
            <a:ext cx="484998" cy="313822"/>
          </a:xfrm>
          <a:prstGeom prst="roundRect">
            <a:avLst>
              <a:gd name="adj" fmla="val 34965"/>
            </a:avLst>
          </a:prstGeom>
          <a:solidFill>
            <a:srgbClr val="E6F4F6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665305" y="4284878"/>
            <a:ext cx="106985" cy="427939"/>
          </a:xfrm>
          <a:prstGeom prst="rect">
            <a:avLst/>
          </a:prstGeom>
          <a:solidFill>
            <a:srgbClr val="0F1A2A"/>
          </a:solidFill>
          <a:ln w="8890">
            <a:solidFill>
              <a:srgbClr val="0F1A2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14494" y="4284878"/>
            <a:ext cx="106985" cy="427939"/>
          </a:xfrm>
          <a:prstGeom prst="rect">
            <a:avLst/>
          </a:prstGeom>
          <a:solidFill>
            <a:srgbClr val="0F1A2A"/>
          </a:solidFill>
          <a:ln w="8890">
            <a:solidFill>
              <a:srgbClr val="0F1A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93392" y="4498848"/>
            <a:ext cx="570586" cy="9144"/>
          </a:xfrm>
          <a:prstGeom prst="line">
            <a:avLst/>
          </a:prstGeom>
          <a:noFill/>
          <a:ln w="20320">
            <a:solidFill>
              <a:srgbClr val="1F7A8C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993392" y="3928262"/>
            <a:ext cx="9144" cy="570586"/>
          </a:xfrm>
          <a:prstGeom prst="line">
            <a:avLst/>
          </a:prstGeom>
          <a:noFill/>
          <a:ln w="20320">
            <a:solidFill>
              <a:srgbClr val="2DB7E5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2307214" y="4406128"/>
            <a:ext cx="242499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x_R</a:t>
            </a:r>
            <a:endParaRPr lang="en-US" sz="740" dirty="0"/>
          </a:p>
        </p:txBody>
      </p:sp>
      <p:sp>
        <p:nvSpPr>
          <p:cNvPr id="52" name="Text 50"/>
          <p:cNvSpPr/>
          <p:nvPr/>
        </p:nvSpPr>
        <p:spPr>
          <a:xfrm>
            <a:off x="2036186" y="3999586"/>
            <a:ext cx="242499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DB7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y_R</a:t>
            </a:r>
            <a:endParaRPr lang="en-US" sz="740" dirty="0"/>
          </a:p>
        </p:txBody>
      </p:sp>
      <p:sp>
        <p:nvSpPr>
          <p:cNvPr id="53" name="Text 51"/>
          <p:cNvSpPr/>
          <p:nvPr/>
        </p:nvSpPr>
        <p:spPr>
          <a:xfrm>
            <a:off x="1636776" y="4941052"/>
            <a:ext cx="713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p_R robot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4626132" y="1882932"/>
            <a:ext cx="513527" cy="513527"/>
          </a:xfrm>
          <a:prstGeom prst="ellipse">
            <a:avLst/>
          </a:prstGeom>
          <a:solidFill>
            <a:srgbClr val="FFF3E6"/>
          </a:solidFill>
          <a:ln w="9525">
            <a:solidFill>
              <a:srgbClr val="F4A26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83044" y="2039844"/>
            <a:ext cx="199705" cy="199705"/>
          </a:xfrm>
          <a:prstGeom prst="ellipse">
            <a:avLst/>
          </a:prstGeom>
          <a:solidFill>
            <a:srgbClr val="F4A261"/>
          </a:solidFill>
          <a:ln w="9525">
            <a:solidFill>
              <a:srgbClr val="F4A26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82896" y="2139696"/>
            <a:ext cx="513527" cy="9144"/>
          </a:xfrm>
          <a:prstGeom prst="line">
            <a:avLst/>
          </a:prstGeom>
          <a:noFill/>
          <a:ln w="20320">
            <a:solidFill>
              <a:srgbClr val="F4A261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 flipH="1">
            <a:off x="4569074" y="2139696"/>
            <a:ext cx="313822" cy="9144"/>
          </a:xfrm>
          <a:prstGeom prst="line">
            <a:avLst/>
          </a:prstGeom>
          <a:noFill/>
          <a:ln w="11430">
            <a:solidFill>
              <a:srgbClr val="C9D5E0"/>
            </a:solidFill>
            <a:prstDash val="solid"/>
            <a:tailEnd type="none"/>
          </a:ln>
        </p:spPr>
      </p:sp>
      <p:sp>
        <p:nvSpPr>
          <p:cNvPr id="58" name="Text 56"/>
          <p:cNvSpPr/>
          <p:nvPr/>
        </p:nvSpPr>
        <p:spPr>
          <a:xfrm>
            <a:off x="4754514" y="1726021"/>
            <a:ext cx="328087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p_B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153924" y="1997050"/>
            <a:ext cx="49926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theta_B</a:t>
            </a:r>
            <a:endParaRPr lang="en-US" sz="740" dirty="0"/>
          </a:p>
        </p:txBody>
      </p:sp>
      <p:sp>
        <p:nvSpPr>
          <p:cNvPr id="60" name="Text 58"/>
          <p:cNvSpPr/>
          <p:nvPr/>
        </p:nvSpPr>
        <p:spPr>
          <a:xfrm>
            <a:off x="4654662" y="2482047"/>
            <a:ext cx="4564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050792" y="2057400"/>
            <a:ext cx="164592" cy="164592"/>
          </a:xfrm>
          <a:prstGeom prst="ellipse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566160" y="1728216"/>
            <a:ext cx="98755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p* detrás de Bill</a:t>
            </a:r>
            <a:endParaRPr lang="en-US" sz="770" dirty="0"/>
          </a:p>
        </p:txBody>
      </p:sp>
      <p:sp>
        <p:nvSpPr>
          <p:cNvPr id="63" name="Shape 61"/>
          <p:cNvSpPr/>
          <p:nvPr/>
        </p:nvSpPr>
        <p:spPr>
          <a:xfrm>
            <a:off x="2962656" y="3529584"/>
            <a:ext cx="877824" cy="877824"/>
          </a:xfrm>
          <a:prstGeom prst="ellipse">
            <a:avLst/>
          </a:prstGeom>
          <a:solidFill>
            <a:srgbClr val="FFF6F6">
              <a:alpha val="82000"/>
            </a:srgbClr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127248" y="3749040"/>
            <a:ext cx="548640" cy="438912"/>
          </a:xfrm>
          <a:prstGeom prst="rect">
            <a:avLst/>
          </a:prstGeom>
          <a:solidFill>
            <a:srgbClr val="FDECEC"/>
          </a:solidFill>
          <a:ln w="8890">
            <a:solidFill>
              <a:srgbClr val="B91C1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90088" y="3456432"/>
            <a:ext cx="8229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obstáculo</a:t>
            </a:r>
            <a:endParaRPr lang="en-US" sz="710" dirty="0"/>
          </a:p>
        </p:txBody>
      </p:sp>
      <p:sp>
        <p:nvSpPr>
          <p:cNvPr id="66" name="Shape 64"/>
          <p:cNvSpPr/>
          <p:nvPr/>
        </p:nvSpPr>
        <p:spPr>
          <a:xfrm flipV="1">
            <a:off x="1993392" y="4005072"/>
            <a:ext cx="1362456" cy="493776"/>
          </a:xfrm>
          <a:prstGeom prst="line">
            <a:avLst/>
          </a:prstGeom>
          <a:noFill/>
          <a:ln w="12065">
            <a:solidFill>
              <a:srgbClr val="5E6C7A"/>
            </a:solidFill>
            <a:prstDash val="solid"/>
            <a:tailEnd type="none"/>
          </a:ln>
        </p:spPr>
      </p:sp>
      <p:sp>
        <p:nvSpPr>
          <p:cNvPr id="67" name="Text 65"/>
          <p:cNvSpPr/>
          <p:nvPr/>
        </p:nvSpPr>
        <p:spPr>
          <a:xfrm>
            <a:off x="2596896" y="4114800"/>
            <a:ext cx="329184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rho_i</a:t>
            </a:r>
            <a:endParaRPr lang="en-US" sz="720" dirty="0"/>
          </a:p>
        </p:txBody>
      </p:sp>
      <p:sp>
        <p:nvSpPr>
          <p:cNvPr id="68" name="Shape 66"/>
          <p:cNvSpPr/>
          <p:nvPr/>
        </p:nvSpPr>
        <p:spPr>
          <a:xfrm flipV="1">
            <a:off x="2084832" y="2231136"/>
            <a:ext cx="1956816" cy="2176272"/>
          </a:xfrm>
          <a:prstGeom prst="line">
            <a:avLst/>
          </a:prstGeom>
          <a:noFill/>
          <a:ln w="25400">
            <a:solidFill>
              <a:srgbClr val="C97A5C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 flipH="1">
            <a:off x="1353312" y="4572000"/>
            <a:ext cx="566928" cy="493776"/>
          </a:xfrm>
          <a:prstGeom prst="line">
            <a:avLst/>
          </a:prstGeom>
          <a:noFill/>
          <a:ln w="2413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 flipV="1">
            <a:off x="2103120" y="3401568"/>
            <a:ext cx="950976" cy="1078992"/>
          </a:xfrm>
          <a:prstGeom prst="line">
            <a:avLst/>
          </a:prstGeom>
          <a:noFill/>
          <a:ln w="31750">
            <a:solidFill>
              <a:srgbClr val="1F7A8C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3072384" y="2816352"/>
            <a:ext cx="950976" cy="256032"/>
          </a:xfrm>
          <a:prstGeom prst="roundRect">
            <a:avLst>
              <a:gd name="adj" fmla="val 42857"/>
            </a:avLst>
          </a:prstGeom>
          <a:solidFill>
            <a:srgbClr val="FBE8DF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18104" y="2871216"/>
            <a:ext cx="85953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F_att hacia p*</a:t>
            </a:r>
            <a:endParaRPr lang="en-US" sz="720" dirty="0"/>
          </a:p>
        </p:txBody>
      </p:sp>
      <p:sp>
        <p:nvSpPr>
          <p:cNvPr id="73" name="Shape 71"/>
          <p:cNvSpPr/>
          <p:nvPr/>
        </p:nvSpPr>
        <p:spPr>
          <a:xfrm>
            <a:off x="1133856" y="4864608"/>
            <a:ext cx="896112" cy="256032"/>
          </a:xfrm>
          <a:prstGeom prst="roundRect">
            <a:avLst>
              <a:gd name="adj" fmla="val 42857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179576" y="4919472"/>
            <a:ext cx="80467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F_rep local</a:t>
            </a:r>
            <a:endParaRPr lang="en-US" sz="720" dirty="0"/>
          </a:p>
        </p:txBody>
      </p:sp>
      <p:sp>
        <p:nvSpPr>
          <p:cNvPr id="75" name="Shape 73"/>
          <p:cNvSpPr/>
          <p:nvPr/>
        </p:nvSpPr>
        <p:spPr>
          <a:xfrm>
            <a:off x="2505456" y="3712464"/>
            <a:ext cx="841248" cy="256032"/>
          </a:xfrm>
          <a:prstGeom prst="roundRect">
            <a:avLst>
              <a:gd name="adj" fmla="val 42857"/>
            </a:avLst>
          </a:prstGeom>
          <a:solidFill>
            <a:srgbClr val="E6F4F6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551176" y="3767328"/>
            <a:ext cx="7498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 resultante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6446520" y="1554480"/>
            <a:ext cx="44348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6446520" y="1554480"/>
            <a:ext cx="50292" cy="841248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647688" y="1700784"/>
            <a:ext cx="40325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Atracción</a:t>
            </a:r>
            <a:endParaRPr lang="en-US" sz="940" dirty="0"/>
          </a:p>
        </p:txBody>
      </p:sp>
      <p:sp>
        <p:nvSpPr>
          <p:cNvPr id="80" name="Text 78"/>
          <p:cNvSpPr/>
          <p:nvPr/>
        </p:nvSpPr>
        <p:spPr>
          <a:xfrm>
            <a:off x="6647688" y="2029968"/>
            <a:ext cx="403250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F_att = k_att (p* - p_R)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6446520" y="2743200"/>
            <a:ext cx="4434840" cy="16276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446520" y="2743200"/>
            <a:ext cx="50292" cy="16276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647688" y="2889504"/>
            <a:ext cx="40325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Repulsión</a:t>
            </a:r>
            <a:endParaRPr lang="en-US" sz="940" dirty="0"/>
          </a:p>
        </p:txBody>
      </p:sp>
      <p:sp>
        <p:nvSpPr>
          <p:cNvPr id="84" name="Text 82"/>
          <p:cNvSpPr/>
          <p:nvPr/>
        </p:nvSpPr>
        <p:spPr>
          <a:xfrm>
            <a:off x="6647688" y="3218688"/>
            <a:ext cx="4032504" cy="10607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 rho_i &lt; rho_0: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F_rep,i = eta(1/rho_i - 1/rho_0)(1/rho_i^2)n_i</a:t>
            </a:r>
            <a:endParaRPr lang="en-US" sz="930" dirty="0"/>
          </a:p>
          <a:p>
            <a:pPr algn="l" indent="0" marL="0">
              <a:buNone/>
            </a:pP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 rho_i &gt;= rho_0: F_rep,i = 0</a:t>
            </a:r>
            <a:endParaRPr lang="en-US" sz="930" dirty="0"/>
          </a:p>
        </p:txBody>
      </p:sp>
      <p:sp>
        <p:nvSpPr>
          <p:cNvPr id="85" name="Shape 83"/>
          <p:cNvSpPr/>
          <p:nvPr/>
        </p:nvSpPr>
        <p:spPr>
          <a:xfrm>
            <a:off x="6446520" y="4709160"/>
            <a:ext cx="44348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6446520" y="4709160"/>
            <a:ext cx="50292" cy="91440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647688" y="4855464"/>
            <a:ext cx="40325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de guía</a:t>
            </a:r>
            <a:endParaRPr lang="en-US" sz="940" dirty="0"/>
          </a:p>
        </p:txBody>
      </p:sp>
      <p:sp>
        <p:nvSpPr>
          <p:cNvPr id="88" name="Text 86"/>
          <p:cNvSpPr/>
          <p:nvPr/>
        </p:nvSpPr>
        <p:spPr>
          <a:xfrm>
            <a:off x="6647688" y="5184648"/>
            <a:ext cx="403250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 = F_att + sum_i F_rep,i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alpha = atan2(F_y, F_x)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 local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directa o SLAM_WAYPOINT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FBE8DF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mapa añade un objetivo intermedio cuando la ruta directa queda bloqueada.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749808" y="1298448"/>
            <a:ext cx="6766560" cy="4480560"/>
          </a:xfrm>
          <a:prstGeom prst="roundRect">
            <a:avLst>
              <a:gd name="adj" fmla="val 2449"/>
            </a:avLst>
          </a:prstGeom>
          <a:solidFill>
            <a:srgbClr val="F3F6F8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1554480"/>
            <a:ext cx="6400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54480" y="1627632"/>
            <a:ext cx="9144" cy="369417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2194560" y="1627632"/>
            <a:ext cx="9144" cy="369417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2834640" y="1627632"/>
            <a:ext cx="9144" cy="369417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3474720" y="1627632"/>
            <a:ext cx="9144" cy="369417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4114800" y="1627632"/>
            <a:ext cx="9144" cy="369417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4754880" y="1627632"/>
            <a:ext cx="9144" cy="369417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5394960" y="1627632"/>
            <a:ext cx="9144" cy="369417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6035040" y="1627632"/>
            <a:ext cx="9144" cy="369417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6675120" y="1627632"/>
            <a:ext cx="9144" cy="369417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987552" y="2103120"/>
            <a:ext cx="6254496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987552" y="2651760"/>
            <a:ext cx="6254496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987552" y="3200400"/>
            <a:ext cx="6254496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987552" y="3749040"/>
            <a:ext cx="6254496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987552" y="4297680"/>
            <a:ext cx="6254496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987552" y="4846320"/>
            <a:ext cx="6254496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1204082" y="1597274"/>
            <a:ext cx="737372" cy="7373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348923" y="1821119"/>
            <a:ext cx="447690" cy="289682"/>
          </a:xfrm>
          <a:prstGeom prst="roundRect">
            <a:avLst>
              <a:gd name="adj" fmla="val 37879"/>
            </a:avLst>
          </a:prstGeom>
          <a:solidFill>
            <a:srgbClr val="E6F4F6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69919" y="1768450"/>
            <a:ext cx="98755" cy="395021"/>
          </a:xfrm>
          <a:prstGeom prst="rect">
            <a:avLst/>
          </a:prstGeom>
          <a:solidFill>
            <a:srgbClr val="0F1A2A"/>
          </a:solidFill>
          <a:ln w="8890">
            <a:solidFill>
              <a:srgbClr val="0F1A2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76862" y="1768450"/>
            <a:ext cx="98755" cy="395021"/>
          </a:xfrm>
          <a:prstGeom prst="rect">
            <a:avLst/>
          </a:prstGeom>
          <a:solidFill>
            <a:srgbClr val="0F1A2A"/>
          </a:solidFill>
          <a:ln w="8890">
            <a:solidFill>
              <a:srgbClr val="0F1A2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572768" y="1965960"/>
            <a:ext cx="526694" cy="9144"/>
          </a:xfrm>
          <a:prstGeom prst="line">
            <a:avLst/>
          </a:prstGeom>
          <a:noFill/>
          <a:ln w="20320">
            <a:solidFill>
              <a:srgbClr val="1F7A8C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V="1">
            <a:off x="1572768" y="1439266"/>
            <a:ext cx="9144" cy="526694"/>
          </a:xfrm>
          <a:prstGeom prst="line">
            <a:avLst/>
          </a:prstGeom>
          <a:noFill/>
          <a:ln w="20320">
            <a:solidFill>
              <a:srgbClr val="2DB7E5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1862450" y="1880372"/>
            <a:ext cx="223845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x_R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1612270" y="1505102"/>
            <a:ext cx="223845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DB7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y_R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1243584" y="2374148"/>
            <a:ext cx="6583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3749040" y="2834640"/>
            <a:ext cx="749808" cy="585216"/>
          </a:xfrm>
          <a:prstGeom prst="rect">
            <a:avLst/>
          </a:prstGeom>
          <a:solidFill>
            <a:srgbClr val="FDECEC"/>
          </a:solidFill>
          <a:ln w="8890">
            <a:solidFill>
              <a:srgbClr val="B91C1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510528" y="4645152"/>
            <a:ext cx="201168" cy="201168"/>
          </a:xfrm>
          <a:prstGeom prst="ellipse">
            <a:avLst/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47088" y="2176272"/>
            <a:ext cx="4535424" cy="2514600"/>
          </a:xfrm>
          <a:prstGeom prst="line">
            <a:avLst/>
          </a:prstGeom>
          <a:noFill/>
          <a:ln w="17780">
            <a:solidFill>
              <a:srgbClr val="C97A5C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1847088" y="1920240"/>
            <a:ext cx="1170432" cy="2560320"/>
          </a:xfrm>
          <a:prstGeom prst="line">
            <a:avLst/>
          </a:prstGeom>
          <a:noFill/>
          <a:ln w="15240">
            <a:solidFill>
              <a:srgbClr val="6D5BD0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3017520" y="4480560"/>
            <a:ext cx="3364992" cy="210312"/>
          </a:xfrm>
          <a:prstGeom prst="line">
            <a:avLst/>
          </a:prstGeom>
          <a:noFill/>
          <a:ln w="15240">
            <a:solidFill>
              <a:srgbClr val="6D5BD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7936992" y="1463040"/>
            <a:ext cx="3401568" cy="1243584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936992" y="1463040"/>
            <a:ext cx="50292" cy="1243584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138160" y="1609344"/>
            <a:ext cx="29992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</a:t>
            </a:r>
            <a:endParaRPr lang="en-US" sz="940" dirty="0"/>
          </a:p>
        </p:txBody>
      </p:sp>
      <p:sp>
        <p:nvSpPr>
          <p:cNvPr id="67" name="Text 65"/>
          <p:cNvSpPr/>
          <p:nvPr/>
        </p:nvSpPr>
        <p:spPr>
          <a:xfrm>
            <a:off x="8138160" y="1938528"/>
            <a:ext cx="2999232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 una celda persistente corta el segmento R1-goal: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usar punto lateral dentro del área útil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 no: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ruta directa</a:t>
            </a:r>
            <a:endParaRPr lang="en-US" sz="840" dirty="0"/>
          </a:p>
        </p:txBody>
      </p:sp>
      <p:sp>
        <p:nvSpPr>
          <p:cNvPr id="68" name="Shape 66"/>
          <p:cNvSpPr/>
          <p:nvPr/>
        </p:nvSpPr>
        <p:spPr>
          <a:xfrm>
            <a:off x="7936992" y="3163824"/>
            <a:ext cx="3401568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7936992" y="3163824"/>
            <a:ext cx="50292" cy="1225296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138160" y="3310128"/>
            <a:ext cx="29992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</a:t>
            </a:r>
            <a:endParaRPr lang="en-US" sz="940" dirty="0"/>
          </a:p>
        </p:txBody>
      </p:sp>
      <p:sp>
        <p:nvSpPr>
          <p:cNvPr id="71" name="Text 69"/>
          <p:cNvSpPr/>
          <p:nvPr/>
        </p:nvSpPr>
        <p:spPr>
          <a:xfrm>
            <a:off x="8138160" y="3639312"/>
            <a:ext cx="299923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plannedWaypointTo(goal)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heading = atan2(dy,dx)-theta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controlador diferencial mantiene evitación reactiva</a:t>
            </a:r>
            <a:endParaRPr lang="en-US" sz="820" dirty="0"/>
          </a:p>
        </p:txBody>
      </p:sp>
      <p:sp>
        <p:nvSpPr>
          <p:cNvPr id="72" name="Shape 70"/>
          <p:cNvSpPr/>
          <p:nvPr/>
        </p:nvSpPr>
        <p:spPr>
          <a:xfrm>
            <a:off x="7936992" y="5047488"/>
            <a:ext cx="1645920" cy="960120"/>
          </a:xfrm>
          <a:prstGeom prst="roundRect">
            <a:avLst>
              <a:gd name="adj" fmla="val 6667"/>
            </a:avLst>
          </a:prstGeom>
          <a:solidFill>
            <a:srgbClr val="FBE8DF"/>
          </a:solidFill>
          <a:ln w="5334">
            <a:solidFill>
              <a:srgbClr val="C97A5C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7936992" y="5047488"/>
            <a:ext cx="50292" cy="960120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36992" y="5047488"/>
            <a:ext cx="73152" cy="9601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101584" y="5166360"/>
            <a:ext cx="131673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C97A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5,5 s</a:t>
            </a:r>
            <a:endParaRPr lang="en-US" sz="1850" dirty="0"/>
          </a:p>
        </p:txBody>
      </p:sp>
      <p:sp>
        <p:nvSpPr>
          <p:cNvPr id="76" name="Text 74"/>
          <p:cNvSpPr/>
          <p:nvPr/>
        </p:nvSpPr>
        <p:spPr>
          <a:xfrm>
            <a:off x="8101584" y="5495544"/>
            <a:ext cx="131673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</a:t>
            </a:r>
            <a:endParaRPr lang="en-US" sz="870" dirty="0"/>
          </a:p>
        </p:txBody>
      </p:sp>
      <p:sp>
        <p:nvSpPr>
          <p:cNvPr id="77" name="Text 75"/>
          <p:cNvSpPr/>
          <p:nvPr/>
        </p:nvSpPr>
        <p:spPr>
          <a:xfrm>
            <a:off x="8101584" y="5696712"/>
            <a:ext cx="131673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recuperación sin apagar evitación</a:t>
            </a:r>
            <a:endParaRPr lang="en-US" sz="770" dirty="0"/>
          </a:p>
        </p:txBody>
      </p:sp>
      <p:sp>
        <p:nvSpPr>
          <p:cNvPr id="78" name="Shape 76"/>
          <p:cNvSpPr/>
          <p:nvPr/>
        </p:nvSpPr>
        <p:spPr>
          <a:xfrm>
            <a:off x="9893808" y="5047488"/>
            <a:ext cx="1645920" cy="960120"/>
          </a:xfrm>
          <a:prstGeom prst="roundRect">
            <a:avLst>
              <a:gd name="adj" fmla="val 6667"/>
            </a:avLst>
          </a:prstGeom>
          <a:solidFill>
            <a:srgbClr val="EAF7F4"/>
          </a:solidFill>
          <a:ln w="5334">
            <a:solidFill>
              <a:srgbClr val="2A9D8F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9893808" y="5047488"/>
            <a:ext cx="50292" cy="9601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893808" y="5047488"/>
            <a:ext cx="73152" cy="96012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058400" y="5166360"/>
            <a:ext cx="131673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0,40 m</a:t>
            </a:r>
            <a:endParaRPr lang="en-US" sz="1850" dirty="0"/>
          </a:p>
        </p:txBody>
      </p:sp>
      <p:sp>
        <p:nvSpPr>
          <p:cNvPr id="82" name="Text 80"/>
          <p:cNvSpPr/>
          <p:nvPr/>
        </p:nvSpPr>
        <p:spPr>
          <a:xfrm>
            <a:off x="10058400" y="5495544"/>
            <a:ext cx="131673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margen</a:t>
            </a:r>
            <a:endParaRPr lang="en-US" sz="870" dirty="0"/>
          </a:p>
        </p:txBody>
      </p:sp>
      <p:sp>
        <p:nvSpPr>
          <p:cNvPr id="83" name="Text 81"/>
          <p:cNvSpPr/>
          <p:nvPr/>
        </p:nvSpPr>
        <p:spPr>
          <a:xfrm>
            <a:off x="10058400" y="5696712"/>
            <a:ext cx="131673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separación deseada frente al mapa</a:t>
            </a:r>
            <a:endParaRPr lang="en-US" sz="77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Kalman-landmark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F0EEFB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probabilística y mapa de puntos observados.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786384" y="1499616"/>
            <a:ext cx="1481328" cy="658368"/>
          </a:xfrm>
          <a:prstGeom prst="roundRect">
            <a:avLst>
              <a:gd name="adj" fmla="val 16667"/>
            </a:avLst>
          </a:prstGeom>
          <a:solidFill>
            <a:srgbClr val="E6F4F6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1664208"/>
            <a:ext cx="124358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odometría u_k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0" y="1499616"/>
            <a:ext cx="1481328" cy="658368"/>
          </a:xfrm>
          <a:prstGeom prst="roundRect">
            <a:avLst>
              <a:gd name="adj" fmla="val 16667"/>
            </a:avLst>
          </a:prstGeom>
          <a:solidFill>
            <a:srgbClr val="EAF7F4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52928" y="1664208"/>
            <a:ext cx="124358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predicción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x-, P-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86384" y="2798064"/>
            <a:ext cx="1481328" cy="658368"/>
          </a:xfrm>
          <a:prstGeom prst="roundRect">
            <a:avLst>
              <a:gd name="adj" fmla="val 16667"/>
            </a:avLst>
          </a:prstGeom>
          <a:solidFill>
            <a:srgbClr val="FBE8DF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" y="2962656"/>
            <a:ext cx="124358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rayos z_i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0" y="2798064"/>
            <a:ext cx="1481328" cy="658368"/>
          </a:xfrm>
          <a:prstGeom prst="roundRect">
            <a:avLst>
              <a:gd name="adj" fmla="val 16667"/>
            </a:avLst>
          </a:prstGeom>
          <a:solidFill>
            <a:srgbClr val="F0EEFB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52928" y="2962656"/>
            <a:ext cx="124358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asociación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landmark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00016" y="2048256"/>
            <a:ext cx="1481328" cy="658368"/>
          </a:xfrm>
          <a:prstGeom prst="roundRect">
            <a:avLst>
              <a:gd name="adj" fmla="val 16667"/>
            </a:avLst>
          </a:prstGeom>
          <a:solidFill>
            <a:srgbClr val="EAF7F4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9744" y="2212848"/>
            <a:ext cx="124358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corrección EKF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267712" y="1828800"/>
            <a:ext cx="475488" cy="9144"/>
          </a:xfrm>
          <a:prstGeom prst="line">
            <a:avLst/>
          </a:prstGeom>
          <a:noFill/>
          <a:ln w="12700">
            <a:solidFill>
              <a:srgbClr val="5E6C7A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2267712" y="3127248"/>
            <a:ext cx="475488" cy="9144"/>
          </a:xfrm>
          <a:prstGeom prst="line">
            <a:avLst/>
          </a:prstGeom>
          <a:noFill/>
          <a:ln w="12700">
            <a:solidFill>
              <a:srgbClr val="5E6C7A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4224528" y="2468880"/>
            <a:ext cx="475488" cy="658368"/>
          </a:xfrm>
          <a:prstGeom prst="line">
            <a:avLst/>
          </a:prstGeom>
          <a:noFill/>
          <a:ln w="12700">
            <a:solidFill>
              <a:srgbClr val="5E6C7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224528" y="1828800"/>
            <a:ext cx="475488" cy="411480"/>
          </a:xfrm>
          <a:prstGeom prst="line">
            <a:avLst/>
          </a:prstGeom>
          <a:noFill/>
          <a:ln w="12700">
            <a:solidFill>
              <a:srgbClr val="5E6C7A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784848" y="1463040"/>
            <a:ext cx="38862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784848" y="1463040"/>
            <a:ext cx="50292" cy="13258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86016" y="1609344"/>
            <a:ext cx="348386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endParaRPr lang="en-US" sz="940" dirty="0"/>
          </a:p>
        </p:txBody>
      </p:sp>
      <p:sp>
        <p:nvSpPr>
          <p:cNvPr id="50" name="Text 48"/>
          <p:cNvSpPr/>
          <p:nvPr/>
        </p:nvSpPr>
        <p:spPr>
          <a:xfrm>
            <a:off x="6986016" y="1938528"/>
            <a:ext cx="3483864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x_k^- = f(x_{k-1},u_k)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P_k^- = F_k P_{k-1} F_k^T + Q_k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K_k = P_k^-H_k^T(H_kP_k^-H_k^T+R_k)^-1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6784848" y="3063240"/>
            <a:ext cx="388620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784848" y="3063240"/>
            <a:ext cx="50292" cy="1170432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86016" y="3209544"/>
            <a:ext cx="348386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en la simulación</a:t>
            </a:r>
            <a:endParaRPr lang="en-US" sz="940" dirty="0"/>
          </a:p>
        </p:txBody>
      </p:sp>
      <p:sp>
        <p:nvSpPr>
          <p:cNvPr id="54" name="Text 52"/>
          <p:cNvSpPr/>
          <p:nvPr/>
        </p:nvSpPr>
        <p:spPr>
          <a:xfrm>
            <a:off x="6986016" y="3538728"/>
            <a:ext cx="3483864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Cada impacto de sensor se transforma al marco del almacén. Si coincide con un landmark existente corrige la pose; si no, crea un punto nuevo.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841248" y="4846320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EAF7F4"/>
          </a:solidFill>
          <a:ln w="5334">
            <a:solidFill>
              <a:srgbClr val="2A9D8F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41248" y="4846320"/>
            <a:ext cx="50292" cy="9601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1248" y="4846320"/>
            <a:ext cx="73152" cy="96012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05840" y="4965192"/>
            <a:ext cx="149961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0,03142 m</a:t>
            </a:r>
            <a:endParaRPr lang="en-US" sz="1850" dirty="0"/>
          </a:p>
        </p:txBody>
      </p:sp>
      <p:sp>
        <p:nvSpPr>
          <p:cNvPr id="59" name="Text 57"/>
          <p:cNvSpPr/>
          <p:nvPr/>
        </p:nvSpPr>
        <p:spPr>
          <a:xfrm>
            <a:off x="1005840" y="5294376"/>
            <a:ext cx="149961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 Fase 1</a:t>
            </a:r>
            <a:endParaRPr lang="en-US" sz="870" dirty="0"/>
          </a:p>
        </p:txBody>
      </p:sp>
      <p:sp>
        <p:nvSpPr>
          <p:cNvPr id="60" name="Text 58"/>
          <p:cNvSpPr/>
          <p:nvPr/>
        </p:nvSpPr>
        <p:spPr>
          <a:xfrm>
            <a:off x="1005840" y="5495544"/>
            <a:ext cx="14996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 error de pose</a:t>
            </a:r>
            <a:endParaRPr lang="en-US" sz="770" dirty="0"/>
          </a:p>
        </p:txBody>
      </p:sp>
      <p:sp>
        <p:nvSpPr>
          <p:cNvPr id="61" name="Shape 59"/>
          <p:cNvSpPr/>
          <p:nvPr/>
        </p:nvSpPr>
        <p:spPr>
          <a:xfrm>
            <a:off x="2907792" y="4846320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EAF7F4"/>
          </a:solidFill>
          <a:ln w="5334">
            <a:solidFill>
              <a:srgbClr val="2A9D8F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2907792" y="4846320"/>
            <a:ext cx="50292" cy="9601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907792" y="4846320"/>
            <a:ext cx="73152" cy="96012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072384" y="4965192"/>
            <a:ext cx="149961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20-24</a:t>
            </a:r>
            <a:endParaRPr lang="en-US" sz="1850" dirty="0"/>
          </a:p>
        </p:txBody>
      </p:sp>
      <p:sp>
        <p:nvSpPr>
          <p:cNvPr id="65" name="Text 63"/>
          <p:cNvSpPr/>
          <p:nvPr/>
        </p:nvSpPr>
        <p:spPr>
          <a:xfrm>
            <a:off x="3072384" y="5294376"/>
            <a:ext cx="149961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landmarks</a:t>
            </a:r>
            <a:endParaRPr lang="en-US" sz="870" dirty="0"/>
          </a:p>
        </p:txBody>
      </p:sp>
      <p:sp>
        <p:nvSpPr>
          <p:cNvPr id="66" name="Text 64"/>
          <p:cNvSpPr/>
          <p:nvPr/>
        </p:nvSpPr>
        <p:spPr>
          <a:xfrm>
            <a:off x="3072384" y="5495544"/>
            <a:ext cx="14996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según fase</a:t>
            </a:r>
            <a:endParaRPr lang="en-US" sz="770" dirty="0"/>
          </a:p>
        </p:txBody>
      </p:sp>
      <p:sp>
        <p:nvSpPr>
          <p:cNvPr id="67" name="Shape 65"/>
          <p:cNvSpPr/>
          <p:nvPr/>
        </p:nvSpPr>
        <p:spPr>
          <a:xfrm>
            <a:off x="4974336" y="4846320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FBE8DF"/>
          </a:solidFill>
          <a:ln w="5334">
            <a:solidFill>
              <a:srgbClr val="C97A5C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974336" y="4846320"/>
            <a:ext cx="50292" cy="960120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974336" y="4846320"/>
            <a:ext cx="73152" cy="9601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38928" y="4965192"/>
            <a:ext cx="149961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C97A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límite</a:t>
            </a:r>
            <a:endParaRPr lang="en-US" sz="1850" dirty="0"/>
          </a:p>
        </p:txBody>
      </p:sp>
      <p:sp>
        <p:nvSpPr>
          <p:cNvPr id="71" name="Text 69"/>
          <p:cNvSpPr/>
          <p:nvPr/>
        </p:nvSpPr>
        <p:spPr>
          <a:xfrm>
            <a:off x="5138928" y="5294376"/>
            <a:ext cx="149961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puntual</a:t>
            </a:r>
            <a:endParaRPr lang="en-US" sz="870" dirty="0"/>
          </a:p>
        </p:txBody>
      </p:sp>
      <p:sp>
        <p:nvSpPr>
          <p:cNvPr id="72" name="Text 70"/>
          <p:cNvSpPr/>
          <p:nvPr/>
        </p:nvSpPr>
        <p:spPr>
          <a:xfrm>
            <a:off x="5138928" y="5495544"/>
            <a:ext cx="14996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representa paredes como áreas</a:t>
            </a:r>
            <a:endParaRPr lang="en-US" sz="77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Grid log-odds inspirada en GMapping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F0EEFB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Ocupación por celdas usando la pose estimada; no incluye filtro de partículas.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749808" y="1335024"/>
            <a:ext cx="5120640" cy="4297680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9808" y="1335024"/>
            <a:ext cx="50292" cy="4297680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" y="1609344"/>
            <a:ext cx="9144" cy="36027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444752" y="1609344"/>
            <a:ext cx="9144" cy="36027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1883664" y="1609344"/>
            <a:ext cx="9144" cy="36027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2322576" y="1609344"/>
            <a:ext cx="9144" cy="36027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2761488" y="1609344"/>
            <a:ext cx="9144" cy="36027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3200400" y="1609344"/>
            <a:ext cx="9144" cy="36027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3639312" y="1609344"/>
            <a:ext cx="9144" cy="36027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4078224" y="1609344"/>
            <a:ext cx="9144" cy="36027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4517136" y="1609344"/>
            <a:ext cx="9144" cy="36027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1005840" y="1609344"/>
            <a:ext cx="3657600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1005840" y="2048256"/>
            <a:ext cx="3657600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1005840" y="2487168"/>
            <a:ext cx="3657600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1005840" y="2926080"/>
            <a:ext cx="3657600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1005840" y="3364992"/>
            <a:ext cx="3657600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1005840" y="3803904"/>
            <a:ext cx="3657600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1005840" y="4242816"/>
            <a:ext cx="3657600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1005840" y="4681728"/>
            <a:ext cx="3657600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1417320" y="1993392"/>
            <a:ext cx="182880" cy="182880"/>
          </a:xfrm>
          <a:prstGeom prst="ellipse">
            <a:avLst/>
          </a:prstGeom>
          <a:solidFill>
            <a:srgbClr val="1F7A8C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517904" y="2048256"/>
            <a:ext cx="2798064" cy="2139696"/>
          </a:xfrm>
          <a:prstGeom prst="line">
            <a:avLst/>
          </a:prstGeom>
          <a:noFill/>
          <a:ln w="15240">
            <a:solidFill>
              <a:srgbClr val="C97A5C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1920240" y="2359152"/>
            <a:ext cx="237744" cy="237744"/>
          </a:xfrm>
          <a:prstGeom prst="rect">
            <a:avLst/>
          </a:prstGeom>
          <a:solidFill>
            <a:srgbClr val="E6F4F6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359152" y="2688336"/>
            <a:ext cx="237744" cy="237744"/>
          </a:xfrm>
          <a:prstGeom prst="rect">
            <a:avLst/>
          </a:prstGeom>
          <a:solidFill>
            <a:srgbClr val="E6F4F6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98064" y="3017520"/>
            <a:ext cx="237744" cy="237744"/>
          </a:xfrm>
          <a:prstGeom prst="rect">
            <a:avLst/>
          </a:prstGeom>
          <a:solidFill>
            <a:srgbClr val="E6F4F6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36976" y="3346704"/>
            <a:ext cx="237744" cy="237744"/>
          </a:xfrm>
          <a:prstGeom prst="rect">
            <a:avLst/>
          </a:prstGeom>
          <a:solidFill>
            <a:srgbClr val="E6F4F6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114800" y="3950208"/>
            <a:ext cx="274320" cy="274320"/>
          </a:xfrm>
          <a:prstGeom prst="rect">
            <a:avLst/>
          </a:prstGeom>
          <a:solidFill>
            <a:srgbClr val="FBE8DF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443984" y="4279392"/>
            <a:ext cx="274320" cy="274320"/>
          </a:xfrm>
          <a:prstGeom prst="rect">
            <a:avLst/>
          </a:prstGeom>
          <a:solidFill>
            <a:srgbClr val="FBE8DF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443984" y="3950208"/>
            <a:ext cx="274320" cy="274320"/>
          </a:xfrm>
          <a:prstGeom prst="rect">
            <a:avLst/>
          </a:prstGeom>
          <a:solidFill>
            <a:srgbClr val="FBE8DF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83680" y="1463040"/>
            <a:ext cx="42062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583680" y="1463040"/>
            <a:ext cx="50292" cy="1554480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84848" y="1609344"/>
            <a:ext cx="38039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Actualización</a:t>
            </a:r>
            <a:endParaRPr lang="en-US" sz="940" dirty="0"/>
          </a:p>
        </p:txBody>
      </p:sp>
      <p:sp>
        <p:nvSpPr>
          <p:cNvPr id="64" name="Text 62"/>
          <p:cNvSpPr/>
          <p:nvPr/>
        </p:nvSpPr>
        <p:spPr>
          <a:xfrm>
            <a:off x="6784848" y="1938528"/>
            <a:ext cx="3803904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L_t(c)=clip(L_{t-1}(c)+l(c|z_t,x_t))</a:t>
            </a:r>
            <a:endParaRPr lang="en-US" sz="840" dirty="0"/>
          </a:p>
          <a:p>
            <a:pPr algn="l" indent="0" marL="0">
              <a:buNone/>
            </a:pP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celdas del rayo -&gt; libres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celda de impacto -&gt; ocupada</a:t>
            </a:r>
            <a:endParaRPr lang="en-US" sz="840" dirty="0"/>
          </a:p>
        </p:txBody>
      </p:sp>
      <p:sp>
        <p:nvSpPr>
          <p:cNvPr id="65" name="Shape 63"/>
          <p:cNvSpPr/>
          <p:nvPr/>
        </p:nvSpPr>
        <p:spPr>
          <a:xfrm>
            <a:off x="6583680" y="3310128"/>
            <a:ext cx="42062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583680" y="3310128"/>
            <a:ext cx="50292" cy="10789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84848" y="3456432"/>
            <a:ext cx="38039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940" dirty="0"/>
          </a:p>
        </p:txBody>
      </p:sp>
      <p:sp>
        <p:nvSpPr>
          <p:cNvPr id="68" name="Text 66"/>
          <p:cNvSpPr/>
          <p:nvPr/>
        </p:nvSpPr>
        <p:spPr>
          <a:xfrm>
            <a:off x="6784848" y="3785616"/>
            <a:ext cx="3803904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La versión Lua implementa actualización de ocupación por log-odds. No es GMapping completo: no hay filtro de partículas ni árbol de trayectorias.</a:t>
            </a:r>
            <a:endParaRPr lang="en-US" sz="760" dirty="0"/>
          </a:p>
        </p:txBody>
      </p:sp>
      <p:sp>
        <p:nvSpPr>
          <p:cNvPr id="69" name="Shape 67"/>
          <p:cNvSpPr/>
          <p:nvPr/>
        </p:nvSpPr>
        <p:spPr>
          <a:xfrm>
            <a:off x="841248" y="4846320"/>
            <a:ext cx="1645920" cy="960120"/>
          </a:xfrm>
          <a:prstGeom prst="roundRect">
            <a:avLst>
              <a:gd name="adj" fmla="val 6667"/>
            </a:avLst>
          </a:prstGeom>
          <a:solidFill>
            <a:srgbClr val="FBE8DF"/>
          </a:solidFill>
          <a:ln w="5334">
            <a:solidFill>
              <a:srgbClr val="C97A5C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841248" y="4846320"/>
            <a:ext cx="50292" cy="960120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41248" y="4846320"/>
            <a:ext cx="73152" cy="9601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05840" y="4965192"/>
            <a:ext cx="131673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C97A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94</a:t>
            </a:r>
            <a:endParaRPr lang="en-US" sz="1850" dirty="0"/>
          </a:p>
        </p:txBody>
      </p:sp>
      <p:sp>
        <p:nvSpPr>
          <p:cNvPr id="73" name="Text 71"/>
          <p:cNvSpPr/>
          <p:nvPr/>
        </p:nvSpPr>
        <p:spPr>
          <a:xfrm>
            <a:off x="1005840" y="5294376"/>
            <a:ext cx="131673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celdas</a:t>
            </a:r>
            <a:endParaRPr lang="en-US" sz="870" dirty="0"/>
          </a:p>
        </p:txBody>
      </p:sp>
      <p:sp>
        <p:nvSpPr>
          <p:cNvPr id="74" name="Text 72"/>
          <p:cNvSpPr/>
          <p:nvPr/>
        </p:nvSpPr>
        <p:spPr>
          <a:xfrm>
            <a:off x="1005840" y="5495544"/>
            <a:ext cx="131673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ocupadas Fase 1</a:t>
            </a:r>
            <a:endParaRPr lang="en-US" sz="770" dirty="0"/>
          </a:p>
        </p:txBody>
      </p:sp>
      <p:sp>
        <p:nvSpPr>
          <p:cNvPr id="75" name="Shape 73"/>
          <p:cNvSpPr/>
          <p:nvPr/>
        </p:nvSpPr>
        <p:spPr>
          <a:xfrm>
            <a:off x="2761488" y="4846320"/>
            <a:ext cx="1645920" cy="960120"/>
          </a:xfrm>
          <a:prstGeom prst="roundRect">
            <a:avLst>
              <a:gd name="adj" fmla="val 6667"/>
            </a:avLst>
          </a:prstGeom>
          <a:solidFill>
            <a:srgbClr val="FBE8DF"/>
          </a:solidFill>
          <a:ln w="5334">
            <a:solidFill>
              <a:srgbClr val="C97A5C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2761488" y="4846320"/>
            <a:ext cx="50292" cy="960120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61488" y="4846320"/>
            <a:ext cx="73152" cy="9601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926080" y="4965192"/>
            <a:ext cx="131673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C97A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1850" dirty="0"/>
          </a:p>
        </p:txBody>
      </p:sp>
      <p:sp>
        <p:nvSpPr>
          <p:cNvPr id="79" name="Text 77"/>
          <p:cNvSpPr/>
          <p:nvPr/>
        </p:nvSpPr>
        <p:spPr>
          <a:xfrm>
            <a:off x="2926080" y="5294376"/>
            <a:ext cx="131673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rasgos</a:t>
            </a:r>
            <a:endParaRPr lang="en-US" sz="870" dirty="0"/>
          </a:p>
        </p:txBody>
      </p:sp>
      <p:sp>
        <p:nvSpPr>
          <p:cNvPr id="80" name="Text 78"/>
          <p:cNvSpPr/>
          <p:nvPr/>
        </p:nvSpPr>
        <p:spPr>
          <a:xfrm>
            <a:off x="2926080" y="5495544"/>
            <a:ext cx="131673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770" dirty="0"/>
          </a:p>
        </p:txBody>
      </p:sp>
      <p:sp>
        <p:nvSpPr>
          <p:cNvPr id="81" name="Shape 79"/>
          <p:cNvSpPr/>
          <p:nvPr/>
        </p:nvSpPr>
        <p:spPr>
          <a:xfrm>
            <a:off x="4681728" y="4846320"/>
            <a:ext cx="1783080" cy="960120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 w="5334">
            <a:solidFill>
              <a:srgbClr val="B91C1C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4681728" y="4846320"/>
            <a:ext cx="50292" cy="9601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681728" y="4846320"/>
            <a:ext cx="73152" cy="960120"/>
          </a:xfrm>
          <a:prstGeom prst="rect">
            <a:avLst/>
          </a:prstGeom>
          <a:solidFill>
            <a:srgbClr val="B91C1C"/>
          </a:solidFill>
          <a:ln w="8890">
            <a:solidFill>
              <a:srgbClr val="B91C1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846320" y="4965192"/>
            <a:ext cx="145389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B91C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límite</a:t>
            </a:r>
            <a:endParaRPr lang="en-US" sz="1850" dirty="0"/>
          </a:p>
        </p:txBody>
      </p:sp>
      <p:sp>
        <p:nvSpPr>
          <p:cNvPr id="85" name="Text 83"/>
          <p:cNvSpPr/>
          <p:nvPr/>
        </p:nvSpPr>
        <p:spPr>
          <a:xfrm>
            <a:off x="4846320" y="5294376"/>
            <a:ext cx="145389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</a:t>
            </a:r>
            <a:endParaRPr lang="en-US" sz="870" dirty="0"/>
          </a:p>
        </p:txBody>
      </p:sp>
      <p:sp>
        <p:nvSpPr>
          <p:cNvPr id="86" name="Text 84"/>
          <p:cNvSpPr/>
          <p:nvPr/>
        </p:nvSpPr>
        <p:spPr>
          <a:xfrm>
            <a:off x="4846320" y="5495544"/>
            <a:ext cx="145389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pose usada para trazar rayos</a:t>
            </a:r>
            <a:endParaRPr lang="en-US" sz="77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Scan-to-map inspirado en Hector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F0EEFB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Corrección local de pose por encaje contra la grid.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749808" y="1335024"/>
            <a:ext cx="5120640" cy="4297680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9808" y="1335024"/>
            <a:ext cx="50292" cy="42976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" y="1609344"/>
            <a:ext cx="9144" cy="36027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444752" y="1609344"/>
            <a:ext cx="9144" cy="36027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1883664" y="1609344"/>
            <a:ext cx="9144" cy="36027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2322576" y="1609344"/>
            <a:ext cx="9144" cy="36027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2761488" y="1609344"/>
            <a:ext cx="9144" cy="36027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3200400" y="1609344"/>
            <a:ext cx="9144" cy="36027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3639312" y="1609344"/>
            <a:ext cx="9144" cy="36027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4078224" y="1609344"/>
            <a:ext cx="9144" cy="36027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4517136" y="1609344"/>
            <a:ext cx="9144" cy="3602736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1005840" y="1609344"/>
            <a:ext cx="3657600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1005840" y="2048256"/>
            <a:ext cx="3657600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1005840" y="2487168"/>
            <a:ext cx="3657600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1005840" y="2926080"/>
            <a:ext cx="3657600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1005840" y="3364992"/>
            <a:ext cx="3657600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1005840" y="3803904"/>
            <a:ext cx="3657600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1005840" y="4242816"/>
            <a:ext cx="3657600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1005840" y="4681728"/>
            <a:ext cx="3657600" cy="9144"/>
          </a:xfrm>
          <a:prstGeom prst="line">
            <a:avLst/>
          </a:prstGeom>
          <a:noFill/>
          <a:ln w="4445">
            <a:solidFill>
              <a:srgbClr val="C9D5E0"/>
            </a:solidFill>
            <a:prstDash val="solid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3840480" y="4069080"/>
            <a:ext cx="237744" cy="237744"/>
          </a:xfrm>
          <a:prstGeom prst="rect">
            <a:avLst/>
          </a:prstGeom>
          <a:solidFill>
            <a:srgbClr val="EAF7F4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79392" y="4069080"/>
            <a:ext cx="237744" cy="237744"/>
          </a:xfrm>
          <a:prstGeom prst="rect">
            <a:avLst/>
          </a:prstGeom>
          <a:solidFill>
            <a:srgbClr val="EAF7F4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279392" y="3630168"/>
            <a:ext cx="237744" cy="237744"/>
          </a:xfrm>
          <a:prstGeom prst="rect">
            <a:avLst/>
          </a:prstGeom>
          <a:solidFill>
            <a:srgbClr val="EAF7F4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40480" y="3191256"/>
            <a:ext cx="237744" cy="237744"/>
          </a:xfrm>
          <a:prstGeom prst="rect">
            <a:avLst/>
          </a:prstGeom>
          <a:solidFill>
            <a:srgbClr val="EAF7F4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401568" y="3191256"/>
            <a:ext cx="237744" cy="237744"/>
          </a:xfrm>
          <a:prstGeom prst="rect">
            <a:avLst/>
          </a:prstGeom>
          <a:solidFill>
            <a:srgbClr val="EAF7F4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444752" y="2029968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591056" y="2157984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298448" y="2176272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444752" y="2029968"/>
            <a:ext cx="2031458" cy="544328"/>
          </a:xfrm>
          <a:prstGeom prst="line">
            <a:avLst/>
          </a:prstGeom>
          <a:noFill/>
          <a:ln w="6985">
            <a:solidFill>
              <a:srgbClr val="1F7A8C"/>
            </a:solidFill>
            <a:prstDash val="solid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1444752" y="2029968"/>
            <a:ext cx="1884707" cy="1088136"/>
          </a:xfrm>
          <a:prstGeom prst="line">
            <a:avLst/>
          </a:prstGeom>
          <a:noFill/>
          <a:ln w="6985">
            <a:solidFill>
              <a:srgbClr val="1F7A8C"/>
            </a:solidFill>
            <a:prstDash val="solid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1444752" y="2029968"/>
            <a:ext cx="1618100" cy="1562581"/>
          </a:xfrm>
          <a:prstGeom prst="line">
            <a:avLst/>
          </a:prstGeom>
          <a:noFill/>
          <a:ln w="6985">
            <a:solidFill>
              <a:srgbClr val="1F7A8C"/>
            </a:solidFill>
            <a:prstDash val="solid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1444752" y="2029968"/>
            <a:ext cx="1230778" cy="1969656"/>
          </a:xfrm>
          <a:prstGeom prst="line">
            <a:avLst/>
          </a:prstGeom>
          <a:noFill/>
          <a:ln w="6985">
            <a:solidFill>
              <a:srgbClr val="1F7A8C"/>
            </a:solidFill>
            <a:prstDash val="solid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1444752" y="2029968"/>
            <a:ext cx="740321" cy="2278473"/>
          </a:xfrm>
          <a:prstGeom prst="line">
            <a:avLst/>
          </a:prstGeom>
          <a:noFill/>
          <a:ln w="6985">
            <a:solidFill>
              <a:srgbClr val="1F7A8C"/>
            </a:solidFill>
            <a:prstDash val="solid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6583680" y="1463040"/>
            <a:ext cx="42062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583680" y="1463040"/>
            <a:ext cx="50292" cy="13258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84848" y="1609344"/>
            <a:ext cx="38039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940" dirty="0"/>
          </a:p>
        </p:txBody>
      </p:sp>
      <p:sp>
        <p:nvSpPr>
          <p:cNvPr id="68" name="Text 66"/>
          <p:cNvSpPr/>
          <p:nvPr/>
        </p:nvSpPr>
        <p:spPr>
          <a:xfrm>
            <a:off x="6784848" y="1938528"/>
            <a:ext cx="3803904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xi* = argmax_xi (1/N) sum_i M(T_xi p_i)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x_k &lt;- x_k^- + alpha(xi* - x_k^-)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583680" y="3127248"/>
            <a:ext cx="42062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583680" y="3127248"/>
            <a:ext cx="50292" cy="10789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84848" y="3273552"/>
            <a:ext cx="38039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en la simulación</a:t>
            </a:r>
            <a:endParaRPr lang="en-US" sz="940" dirty="0"/>
          </a:p>
        </p:txBody>
      </p:sp>
      <p:sp>
        <p:nvSpPr>
          <p:cNvPr id="72" name="Text 70"/>
          <p:cNvSpPr/>
          <p:nvPr/>
        </p:nvSpPr>
        <p:spPr>
          <a:xfrm>
            <a:off x="6784848" y="3602736"/>
            <a:ext cx="3803904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 prueban pequeñas correcciones alrededor de la pose predicha. Es una aproximación Lua, no Hector completo multi-resolución.</a:t>
            </a:r>
            <a:endParaRPr lang="en-US" sz="780" dirty="0"/>
          </a:p>
        </p:txBody>
      </p:sp>
      <p:sp>
        <p:nvSpPr>
          <p:cNvPr id="73" name="Shape 71"/>
          <p:cNvSpPr/>
          <p:nvPr/>
        </p:nvSpPr>
        <p:spPr>
          <a:xfrm>
            <a:off x="841248" y="4846320"/>
            <a:ext cx="1737360" cy="960120"/>
          </a:xfrm>
          <a:prstGeom prst="roundRect">
            <a:avLst>
              <a:gd name="adj" fmla="val 6667"/>
            </a:avLst>
          </a:prstGeom>
          <a:solidFill>
            <a:srgbClr val="E6F4F6"/>
          </a:solidFill>
          <a:ln w="5334">
            <a:solidFill>
              <a:srgbClr val="1F7A8C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841248" y="4846320"/>
            <a:ext cx="50292" cy="96012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41248" y="4846320"/>
            <a:ext cx="73152" cy="960120"/>
          </a:xfrm>
          <a:prstGeom prst="rect">
            <a:avLst/>
          </a:prstGeom>
          <a:solidFill>
            <a:srgbClr val="1F7A8C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05840" y="4965192"/>
            <a:ext cx="140817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F7A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15,233 m</a:t>
            </a:r>
            <a:endParaRPr lang="en-US" sz="1850" dirty="0"/>
          </a:p>
        </p:txBody>
      </p:sp>
      <p:sp>
        <p:nvSpPr>
          <p:cNvPr id="77" name="Text 75"/>
          <p:cNvSpPr/>
          <p:nvPr/>
        </p:nvSpPr>
        <p:spPr>
          <a:xfrm>
            <a:off x="1005840" y="5294376"/>
            <a:ext cx="140817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</a:t>
            </a:r>
            <a:endParaRPr lang="en-US" sz="870" dirty="0"/>
          </a:p>
        </p:txBody>
      </p:sp>
      <p:sp>
        <p:nvSpPr>
          <p:cNvPr id="78" name="Text 76"/>
          <p:cNvSpPr/>
          <p:nvPr/>
        </p:nvSpPr>
        <p:spPr>
          <a:xfrm>
            <a:off x="1005840" y="5495544"/>
            <a:ext cx="140817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corta Fase 1</a:t>
            </a:r>
            <a:endParaRPr lang="en-US" sz="770" dirty="0"/>
          </a:p>
        </p:txBody>
      </p:sp>
      <p:sp>
        <p:nvSpPr>
          <p:cNvPr id="79" name="Shape 77"/>
          <p:cNvSpPr/>
          <p:nvPr/>
        </p:nvSpPr>
        <p:spPr>
          <a:xfrm>
            <a:off x="2852928" y="4846320"/>
            <a:ext cx="1737360" cy="960120"/>
          </a:xfrm>
          <a:prstGeom prst="roundRect">
            <a:avLst>
              <a:gd name="adj" fmla="val 6667"/>
            </a:avLst>
          </a:prstGeom>
          <a:solidFill>
            <a:srgbClr val="E6F4F6"/>
          </a:solidFill>
          <a:ln w="5334">
            <a:solidFill>
              <a:srgbClr val="1F7A8C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2852928" y="4846320"/>
            <a:ext cx="50292" cy="96012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52928" y="4846320"/>
            <a:ext cx="73152" cy="960120"/>
          </a:xfrm>
          <a:prstGeom prst="rect">
            <a:avLst/>
          </a:prstGeom>
          <a:solidFill>
            <a:srgbClr val="1F7A8C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017520" y="4965192"/>
            <a:ext cx="140817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F7A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0,333</a:t>
            </a:r>
            <a:endParaRPr lang="en-US" sz="1850" dirty="0"/>
          </a:p>
        </p:txBody>
      </p:sp>
      <p:sp>
        <p:nvSpPr>
          <p:cNvPr id="83" name="Text 81"/>
          <p:cNvSpPr/>
          <p:nvPr/>
        </p:nvSpPr>
        <p:spPr>
          <a:xfrm>
            <a:off x="3017520" y="5294376"/>
            <a:ext cx="140817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precisión</a:t>
            </a:r>
            <a:endParaRPr lang="en-US" sz="870" dirty="0"/>
          </a:p>
        </p:txBody>
      </p:sp>
      <p:sp>
        <p:nvSpPr>
          <p:cNvPr id="84" name="Text 82"/>
          <p:cNvSpPr/>
          <p:nvPr/>
        </p:nvSpPr>
        <p:spPr>
          <a:xfrm>
            <a:off x="3017520" y="5495544"/>
            <a:ext cx="140817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rasgos Fase 2</a:t>
            </a:r>
            <a:endParaRPr lang="en-US" sz="770" dirty="0"/>
          </a:p>
        </p:txBody>
      </p:sp>
      <p:sp>
        <p:nvSpPr>
          <p:cNvPr id="85" name="Shape 83"/>
          <p:cNvSpPr/>
          <p:nvPr/>
        </p:nvSpPr>
        <p:spPr>
          <a:xfrm>
            <a:off x="4864608" y="4846320"/>
            <a:ext cx="1737360" cy="960120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 w="5334">
            <a:solidFill>
              <a:srgbClr val="B91C1C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4864608" y="4846320"/>
            <a:ext cx="50292" cy="9601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864608" y="4846320"/>
            <a:ext cx="73152" cy="960120"/>
          </a:xfrm>
          <a:prstGeom prst="rect">
            <a:avLst/>
          </a:prstGeom>
          <a:solidFill>
            <a:srgbClr val="B91C1C"/>
          </a:solidFill>
          <a:ln w="8890">
            <a:solidFill>
              <a:srgbClr val="B91C1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029200" y="4965192"/>
            <a:ext cx="140817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B91C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límite</a:t>
            </a:r>
            <a:endParaRPr lang="en-US" sz="1850" dirty="0"/>
          </a:p>
        </p:txBody>
      </p:sp>
      <p:sp>
        <p:nvSpPr>
          <p:cNvPr id="89" name="Text 87"/>
          <p:cNvSpPr/>
          <p:nvPr/>
        </p:nvSpPr>
        <p:spPr>
          <a:xfrm>
            <a:off x="5029200" y="5294376"/>
            <a:ext cx="140817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óptimos</a:t>
            </a:r>
            <a:endParaRPr lang="en-US" sz="870" dirty="0"/>
          </a:p>
        </p:txBody>
      </p:sp>
      <p:sp>
        <p:nvSpPr>
          <p:cNvPr id="90" name="Text 88"/>
          <p:cNvSpPr/>
          <p:nvPr/>
        </p:nvSpPr>
        <p:spPr>
          <a:xfrm>
            <a:off x="5029200" y="5495544"/>
            <a:ext cx="140817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locales si falta geometría</a:t>
            </a:r>
            <a:endParaRPr lang="en-US" sz="77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Submapas inspirados en Cartographer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F0EEFB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Submapas locales y cierres de ciclo simplificados.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749808" y="1335024"/>
            <a:ext cx="5120640" cy="4297680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9808" y="1335024"/>
            <a:ext cx="50292" cy="429768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8992" y="3291840"/>
            <a:ext cx="1481328" cy="841248"/>
          </a:xfrm>
          <a:prstGeom prst="roundRect">
            <a:avLst>
              <a:gd name="adj" fmla="val 13043"/>
            </a:avLst>
          </a:prstGeom>
          <a:solidFill>
            <a:srgbClr val="F0EEFB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88720" y="3438144"/>
            <a:ext cx="3200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2194560" y="2651760"/>
            <a:ext cx="1481328" cy="841248"/>
          </a:xfrm>
          <a:prstGeom prst="roundRect">
            <a:avLst>
              <a:gd name="adj" fmla="val 13043"/>
            </a:avLst>
          </a:prstGeom>
          <a:solidFill>
            <a:srgbClr val="F0EEFB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04288" y="2798064"/>
            <a:ext cx="3200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3273552" y="3246120"/>
            <a:ext cx="1481328" cy="841248"/>
          </a:xfrm>
          <a:prstGeom prst="roundRect">
            <a:avLst>
              <a:gd name="adj" fmla="val 13043"/>
            </a:avLst>
          </a:prstGeom>
          <a:solidFill>
            <a:srgbClr val="F0EEFB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3392424"/>
            <a:ext cx="3200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S3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2148840" y="1874520"/>
            <a:ext cx="1481328" cy="841248"/>
          </a:xfrm>
          <a:prstGeom prst="roundRect">
            <a:avLst>
              <a:gd name="adj" fmla="val 13043"/>
            </a:avLst>
          </a:prstGeom>
          <a:solidFill>
            <a:srgbClr val="F0EEFB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58568" y="2020824"/>
            <a:ext cx="3200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1152144" y="3621024"/>
            <a:ext cx="2926080" cy="18288"/>
          </a:xfrm>
          <a:prstGeom prst="line">
            <a:avLst/>
          </a:prstGeom>
          <a:noFill/>
          <a:ln w="1524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H="1" flipV="1">
            <a:off x="1481328" y="3419856"/>
            <a:ext cx="2596896" cy="219456"/>
          </a:xfrm>
          <a:prstGeom prst="line">
            <a:avLst/>
          </a:prstGeom>
          <a:noFill/>
          <a:ln w="12700">
            <a:solidFill>
              <a:srgbClr val="C97A5C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078224" y="3639312"/>
            <a:ext cx="237744" cy="237744"/>
          </a:xfrm>
          <a:prstGeom prst="ellipse">
            <a:avLst/>
          </a:prstGeom>
          <a:solidFill>
            <a:srgbClr val="1F7A8C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1463040"/>
            <a:ext cx="4206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583680" y="1463040"/>
            <a:ext cx="50292" cy="123444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84848" y="1609344"/>
            <a:ext cx="38039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</a:t>
            </a:r>
            <a:endParaRPr lang="en-US" sz="940" dirty="0"/>
          </a:p>
        </p:txBody>
      </p:sp>
      <p:sp>
        <p:nvSpPr>
          <p:cNvPr id="49" name="Text 47"/>
          <p:cNvSpPr/>
          <p:nvPr/>
        </p:nvSpPr>
        <p:spPr>
          <a:xfrm>
            <a:off x="6784848" y="1938528"/>
            <a:ext cx="3803904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scan -&gt; submapa activo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nuevo submapa por distancia/tiempo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score alto con submapa antiguo -&gt; cierre</a:t>
            </a:r>
            <a:endParaRPr lang="en-US" sz="840" dirty="0"/>
          </a:p>
        </p:txBody>
      </p:sp>
      <p:sp>
        <p:nvSpPr>
          <p:cNvPr id="50" name="Shape 48"/>
          <p:cNvSpPr/>
          <p:nvPr/>
        </p:nvSpPr>
        <p:spPr>
          <a:xfrm>
            <a:off x="6583680" y="3063240"/>
            <a:ext cx="4206240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583680" y="3063240"/>
            <a:ext cx="50292" cy="113385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84848" y="3209544"/>
            <a:ext cx="38039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940" dirty="0"/>
          </a:p>
        </p:txBody>
      </p:sp>
      <p:sp>
        <p:nvSpPr>
          <p:cNvPr id="53" name="Text 51"/>
          <p:cNvSpPr/>
          <p:nvPr/>
        </p:nvSpPr>
        <p:spPr>
          <a:xfrm>
            <a:off x="6784848" y="3538728"/>
            <a:ext cx="3803904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A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La versión Lua conserva submapas y restricciones locales. No hay optimización global de grafo ni loop closure completo como Cartographer.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841248" y="4846320"/>
            <a:ext cx="1645920" cy="960120"/>
          </a:xfrm>
          <a:prstGeom prst="roundRect">
            <a:avLst>
              <a:gd name="adj" fmla="val 6667"/>
            </a:avLst>
          </a:prstGeom>
          <a:solidFill>
            <a:srgbClr val="F0EEFB"/>
          </a:solidFill>
          <a:ln w="5334">
            <a:solidFill>
              <a:srgbClr val="6D5BD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41248" y="4846320"/>
            <a:ext cx="50292" cy="96012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1248" y="4846320"/>
            <a:ext cx="73152" cy="960120"/>
          </a:xfrm>
          <a:prstGeom prst="rect">
            <a:avLst/>
          </a:prstGeom>
          <a:solidFill>
            <a:srgbClr val="6D5BD0"/>
          </a:solidFill>
          <a:ln w="8890">
            <a:solidFill>
              <a:srgbClr val="6D5B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5840" y="4965192"/>
            <a:ext cx="131673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6D5B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850" dirty="0"/>
          </a:p>
        </p:txBody>
      </p:sp>
      <p:sp>
        <p:nvSpPr>
          <p:cNvPr id="58" name="Text 56"/>
          <p:cNvSpPr/>
          <p:nvPr/>
        </p:nvSpPr>
        <p:spPr>
          <a:xfrm>
            <a:off x="1005840" y="5294376"/>
            <a:ext cx="131673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submapas</a:t>
            </a:r>
            <a:endParaRPr lang="en-US" sz="870" dirty="0"/>
          </a:p>
        </p:txBody>
      </p:sp>
      <p:sp>
        <p:nvSpPr>
          <p:cNvPr id="59" name="Text 57"/>
          <p:cNvSpPr/>
          <p:nvPr/>
        </p:nvSpPr>
        <p:spPr>
          <a:xfrm>
            <a:off x="1005840" y="5495544"/>
            <a:ext cx="131673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finales</a:t>
            </a:r>
            <a:endParaRPr lang="en-US" sz="770" dirty="0"/>
          </a:p>
        </p:txBody>
      </p:sp>
      <p:sp>
        <p:nvSpPr>
          <p:cNvPr id="60" name="Shape 58"/>
          <p:cNvSpPr/>
          <p:nvPr/>
        </p:nvSpPr>
        <p:spPr>
          <a:xfrm>
            <a:off x="2761488" y="4846320"/>
            <a:ext cx="1645920" cy="960120"/>
          </a:xfrm>
          <a:prstGeom prst="roundRect">
            <a:avLst>
              <a:gd name="adj" fmla="val 6667"/>
            </a:avLst>
          </a:prstGeom>
          <a:solidFill>
            <a:srgbClr val="F0EEFB"/>
          </a:solidFill>
          <a:ln w="5334">
            <a:solidFill>
              <a:srgbClr val="6D5BD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2761488" y="4846320"/>
            <a:ext cx="50292" cy="96012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61488" y="4846320"/>
            <a:ext cx="73152" cy="960120"/>
          </a:xfrm>
          <a:prstGeom prst="rect">
            <a:avLst/>
          </a:prstGeom>
          <a:solidFill>
            <a:srgbClr val="6D5BD0"/>
          </a:solidFill>
          <a:ln w="8890">
            <a:solidFill>
              <a:srgbClr val="6D5BD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26080" y="4965192"/>
            <a:ext cx="131673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6D5B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50" dirty="0"/>
          </a:p>
        </p:txBody>
      </p:sp>
      <p:sp>
        <p:nvSpPr>
          <p:cNvPr id="64" name="Text 62"/>
          <p:cNvSpPr/>
          <p:nvPr/>
        </p:nvSpPr>
        <p:spPr>
          <a:xfrm>
            <a:off x="2926080" y="5294376"/>
            <a:ext cx="131673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cierres</a:t>
            </a:r>
            <a:endParaRPr lang="en-US" sz="870" dirty="0"/>
          </a:p>
        </p:txBody>
      </p:sp>
      <p:sp>
        <p:nvSpPr>
          <p:cNvPr id="65" name="Text 63"/>
          <p:cNvSpPr/>
          <p:nvPr/>
        </p:nvSpPr>
        <p:spPr>
          <a:xfrm>
            <a:off x="2926080" y="5495544"/>
            <a:ext cx="131673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ciclo</a:t>
            </a:r>
            <a:endParaRPr lang="en-US" sz="770" dirty="0"/>
          </a:p>
        </p:txBody>
      </p:sp>
      <p:sp>
        <p:nvSpPr>
          <p:cNvPr id="66" name="Shape 64"/>
          <p:cNvSpPr/>
          <p:nvPr/>
        </p:nvSpPr>
        <p:spPr>
          <a:xfrm>
            <a:off x="4681728" y="4846320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F0EEFB"/>
          </a:solidFill>
          <a:ln w="5334">
            <a:solidFill>
              <a:srgbClr val="6D5BD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681728" y="4846320"/>
            <a:ext cx="50292" cy="96012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681728" y="4846320"/>
            <a:ext cx="73152" cy="960120"/>
          </a:xfrm>
          <a:prstGeom prst="rect">
            <a:avLst/>
          </a:prstGeom>
          <a:solidFill>
            <a:srgbClr val="6D5BD0"/>
          </a:solidFill>
          <a:ln w="8890">
            <a:solidFill>
              <a:srgbClr val="6D5B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46320" y="4965192"/>
            <a:ext cx="149961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6D5B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95,327 %</a:t>
            </a:r>
            <a:endParaRPr lang="en-US" sz="1850" dirty="0"/>
          </a:p>
        </p:txBody>
      </p:sp>
      <p:sp>
        <p:nvSpPr>
          <p:cNvPr id="70" name="Text 68"/>
          <p:cNvSpPr/>
          <p:nvPr/>
        </p:nvSpPr>
        <p:spPr>
          <a:xfrm>
            <a:off x="4846320" y="5294376"/>
            <a:ext cx="149961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</a:t>
            </a:r>
            <a:endParaRPr lang="en-US" sz="870" dirty="0"/>
          </a:p>
        </p:txBody>
      </p:sp>
      <p:sp>
        <p:nvSpPr>
          <p:cNvPr id="71" name="Text 69"/>
          <p:cNvSpPr/>
          <p:nvPr/>
        </p:nvSpPr>
        <p:spPr>
          <a:xfrm>
            <a:off x="4846320" y="5495544"/>
            <a:ext cx="14996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máxima Fase 2</a:t>
            </a:r>
            <a:endParaRPr lang="en-US" sz="77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 SLAM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modos en la misma celda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F0EEFB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Variantes Lua sobre las mismas señales y el mismo recorrido; n=1 ejecución por método.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713232" y="1444752"/>
            <a:ext cx="2788920" cy="2212848"/>
          </a:xfrm>
          <a:prstGeom prst="roundRect">
            <a:avLst>
              <a:gd name="adj" fmla="val 4959"/>
            </a:avLst>
          </a:prstGeom>
          <a:solidFill>
            <a:srgbClr val="071826"/>
          </a:solidFill>
          <a:ln w="9525">
            <a:solidFill>
              <a:srgbClr val="0718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1719072"/>
            <a:ext cx="10972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DB7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 RMSE</a:t>
            </a:r>
            <a:endParaRPr lang="en-US" sz="760" dirty="0"/>
          </a:p>
        </p:txBody>
      </p:sp>
      <p:sp>
        <p:nvSpPr>
          <p:cNvPr id="35" name="Text 33"/>
          <p:cNvSpPr/>
          <p:nvPr/>
        </p:nvSpPr>
        <p:spPr>
          <a:xfrm>
            <a:off x="932688" y="2029968"/>
            <a:ext cx="19202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Kalman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932688" y="2542032"/>
            <a:ext cx="120700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0.0314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2157984" y="2724912"/>
            <a:ext cx="73152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DFF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RMSE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32688" y="3127248"/>
            <a:ext cx="17830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DFF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0.0467 · max 0.0582</a:t>
            </a:r>
            <a:endParaRPr lang="en-US" sz="770" dirty="0"/>
          </a:p>
        </p:txBody>
      </p:sp>
      <p:sp>
        <p:nvSpPr>
          <p:cNvPr id="39" name="Shape 37"/>
          <p:cNvSpPr/>
          <p:nvPr/>
        </p:nvSpPr>
        <p:spPr>
          <a:xfrm>
            <a:off x="3840480" y="1481328"/>
            <a:ext cx="1572768" cy="2084832"/>
          </a:xfrm>
          <a:prstGeom prst="roundRect">
            <a:avLst>
              <a:gd name="adj" fmla="val 6977"/>
            </a:avLst>
          </a:prstGeom>
          <a:solidFill>
            <a:srgbClr val="EAF7F4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68496" y="1682496"/>
            <a:ext cx="329184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#1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968496" y="1920240"/>
            <a:ext cx="120700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Kalman</a:t>
            </a:r>
            <a:endParaRPr lang="en-US" sz="1480" dirty="0"/>
          </a:p>
        </p:txBody>
      </p:sp>
      <p:sp>
        <p:nvSpPr>
          <p:cNvPr id="42" name="Text 40"/>
          <p:cNvSpPr/>
          <p:nvPr/>
        </p:nvSpPr>
        <p:spPr>
          <a:xfrm>
            <a:off x="3968496" y="2395728"/>
            <a:ext cx="85953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0.0314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4773168" y="2496312"/>
            <a:ext cx="475488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 [m]</a:t>
            </a:r>
            <a:endParaRPr lang="en-US" sz="670" dirty="0"/>
          </a:p>
        </p:txBody>
      </p:sp>
      <p:sp>
        <p:nvSpPr>
          <p:cNvPr id="44" name="Text 42"/>
          <p:cNvSpPr/>
          <p:nvPr/>
        </p:nvSpPr>
        <p:spPr>
          <a:xfrm>
            <a:off x="3968496" y="2834640"/>
            <a:ext cx="10972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0.0467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968496" y="3090672"/>
            <a:ext cx="120700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rasgos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687568" y="1481328"/>
            <a:ext cx="1572768" cy="2084832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15584" y="1682496"/>
            <a:ext cx="329184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815584" y="1920240"/>
            <a:ext cx="120700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Log-odds</a:t>
            </a:r>
            <a:endParaRPr lang="en-US" sz="1480" dirty="0"/>
          </a:p>
        </p:txBody>
      </p:sp>
      <p:sp>
        <p:nvSpPr>
          <p:cNvPr id="49" name="Text 47"/>
          <p:cNvSpPr/>
          <p:nvPr/>
        </p:nvSpPr>
        <p:spPr>
          <a:xfrm>
            <a:off x="5815584" y="2395728"/>
            <a:ext cx="85953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D5B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0.0412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6620256" y="2496312"/>
            <a:ext cx="475488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 [m]</a:t>
            </a:r>
            <a:endParaRPr lang="en-US" sz="670" dirty="0"/>
          </a:p>
        </p:txBody>
      </p:sp>
      <p:sp>
        <p:nvSpPr>
          <p:cNvPr id="51" name="Text 49"/>
          <p:cNvSpPr/>
          <p:nvPr/>
        </p:nvSpPr>
        <p:spPr>
          <a:xfrm>
            <a:off x="5815584" y="2834640"/>
            <a:ext cx="10972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0.0572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815584" y="3090672"/>
            <a:ext cx="120700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94 rasgos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534656" y="1481328"/>
            <a:ext cx="1572768" cy="2084832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62672" y="1682496"/>
            <a:ext cx="329184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#3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662672" y="1920240"/>
            <a:ext cx="120700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Submapas</a:t>
            </a:r>
            <a:endParaRPr lang="en-US" sz="1480" dirty="0"/>
          </a:p>
        </p:txBody>
      </p:sp>
      <p:sp>
        <p:nvSpPr>
          <p:cNvPr id="56" name="Text 54"/>
          <p:cNvSpPr/>
          <p:nvPr/>
        </p:nvSpPr>
        <p:spPr>
          <a:xfrm>
            <a:off x="7662672" y="2395728"/>
            <a:ext cx="85953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7A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0.0415</a:t>
            </a:r>
            <a:endParaRPr lang="en-US" sz="2100" dirty="0"/>
          </a:p>
        </p:txBody>
      </p:sp>
      <p:sp>
        <p:nvSpPr>
          <p:cNvPr id="57" name="Text 55"/>
          <p:cNvSpPr/>
          <p:nvPr/>
        </p:nvSpPr>
        <p:spPr>
          <a:xfrm>
            <a:off x="8467344" y="2496312"/>
            <a:ext cx="475488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 [m]</a:t>
            </a:r>
            <a:endParaRPr lang="en-US" sz="670" dirty="0"/>
          </a:p>
        </p:txBody>
      </p:sp>
      <p:sp>
        <p:nvSpPr>
          <p:cNvPr id="58" name="Text 56"/>
          <p:cNvSpPr/>
          <p:nvPr/>
        </p:nvSpPr>
        <p:spPr>
          <a:xfrm>
            <a:off x="7662672" y="2834640"/>
            <a:ext cx="10972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0.0603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7662672" y="3090672"/>
            <a:ext cx="120700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submapas · 4 cierres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9381744" y="1481328"/>
            <a:ext cx="1572768" cy="2084832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509760" y="1682496"/>
            <a:ext cx="329184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#4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9509760" y="1920240"/>
            <a:ext cx="120700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Scan-to-map</a:t>
            </a:r>
            <a:endParaRPr lang="en-US" sz="1480" dirty="0"/>
          </a:p>
        </p:txBody>
      </p:sp>
      <p:sp>
        <p:nvSpPr>
          <p:cNvPr id="63" name="Text 61"/>
          <p:cNvSpPr/>
          <p:nvPr/>
        </p:nvSpPr>
        <p:spPr>
          <a:xfrm>
            <a:off x="9509760" y="2395728"/>
            <a:ext cx="85953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97A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0.0445</a:t>
            </a:r>
            <a:endParaRPr lang="en-US" sz="2100" dirty="0"/>
          </a:p>
        </p:txBody>
      </p:sp>
      <p:sp>
        <p:nvSpPr>
          <p:cNvPr id="64" name="Text 62"/>
          <p:cNvSpPr/>
          <p:nvPr/>
        </p:nvSpPr>
        <p:spPr>
          <a:xfrm>
            <a:off x="10314432" y="2496312"/>
            <a:ext cx="475488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 [m]</a:t>
            </a:r>
            <a:endParaRPr lang="en-US" sz="670" dirty="0"/>
          </a:p>
        </p:txBody>
      </p:sp>
      <p:sp>
        <p:nvSpPr>
          <p:cNvPr id="65" name="Text 63"/>
          <p:cNvSpPr/>
          <p:nvPr/>
        </p:nvSpPr>
        <p:spPr>
          <a:xfrm>
            <a:off x="9509760" y="2834640"/>
            <a:ext cx="10972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0.0760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9509760" y="3090672"/>
            <a:ext cx="120700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 rasgos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713232" y="3913632"/>
            <a:ext cx="55778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713232" y="3913632"/>
            <a:ext cx="50292" cy="17830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77824" y="4032504"/>
            <a:ext cx="524865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trayectoria, error y mapa</a:t>
            </a:r>
            <a:endParaRPr lang="en-US" sz="800" dirty="0"/>
          </a:p>
        </p:txBody>
      </p:sp>
      <p:pic>
        <p:nvPicPr>
          <p:cNvPr id="70" name="Image 0" descr="C:\Users\walla\Documents\Master VIU\C9_SistRobMoviles\viu-mrob-sistemas-roboticos-moviles\actividad2\coppeliasim\phase1_slam_logs\phase1_slam_algorithm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7223" y="4261104"/>
            <a:ext cx="2309857" cy="1344168"/>
          </a:xfrm>
          <a:prstGeom prst="rect">
            <a:avLst/>
          </a:prstGeom>
        </p:spPr>
      </p:pic>
      <p:sp>
        <p:nvSpPr>
          <p:cNvPr id="71" name="Text 68"/>
          <p:cNvSpPr/>
          <p:nvPr/>
        </p:nvSpPr>
        <p:spPr>
          <a:xfrm>
            <a:off x="5989320" y="3858768"/>
            <a:ext cx="2011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RANKING POR RMSE</a:t>
            </a:r>
            <a:endParaRPr lang="en-US" sz="800" dirty="0"/>
          </a:p>
        </p:txBody>
      </p:sp>
      <p:sp>
        <p:nvSpPr>
          <p:cNvPr id="72" name="Text 69"/>
          <p:cNvSpPr/>
          <p:nvPr/>
        </p:nvSpPr>
        <p:spPr>
          <a:xfrm>
            <a:off x="5989320" y="4187952"/>
            <a:ext cx="1737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Kalman</a:t>
            </a:r>
            <a:endParaRPr lang="en-US" sz="800" dirty="0"/>
          </a:p>
        </p:txBody>
      </p:sp>
      <p:sp>
        <p:nvSpPr>
          <p:cNvPr id="73" name="Shape 70"/>
          <p:cNvSpPr/>
          <p:nvPr/>
        </p:nvSpPr>
        <p:spPr>
          <a:xfrm>
            <a:off x="7799832" y="4215384"/>
            <a:ext cx="566928" cy="109728"/>
          </a:xfrm>
          <a:prstGeom prst="rect">
            <a:avLst/>
          </a:prstGeom>
          <a:solidFill>
            <a:srgbClr val="E6ECF2"/>
          </a:solidFill>
          <a:ln w="8890">
            <a:solidFill>
              <a:srgbClr val="E6ECF2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7799832" y="4215384"/>
            <a:ext cx="400740" cy="109728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439912" y="4178808"/>
            <a:ext cx="6583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0.031 m</a:t>
            </a:r>
            <a:endParaRPr lang="en-US" sz="780" dirty="0"/>
          </a:p>
        </p:txBody>
      </p:sp>
      <p:sp>
        <p:nvSpPr>
          <p:cNvPr id="76" name="Text 73"/>
          <p:cNvSpPr/>
          <p:nvPr/>
        </p:nvSpPr>
        <p:spPr>
          <a:xfrm>
            <a:off x="5989320" y="4517136"/>
            <a:ext cx="1737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Log-odds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7799832" y="4544568"/>
            <a:ext cx="566928" cy="109728"/>
          </a:xfrm>
          <a:prstGeom prst="rect">
            <a:avLst/>
          </a:prstGeom>
          <a:solidFill>
            <a:srgbClr val="E6ECF2"/>
          </a:solidFill>
          <a:ln w="8890">
            <a:solidFill>
              <a:srgbClr val="E6ECF2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7799832" y="4544568"/>
            <a:ext cx="525094" cy="109728"/>
          </a:xfrm>
          <a:prstGeom prst="rect">
            <a:avLst/>
          </a:prstGeom>
          <a:solidFill>
            <a:srgbClr val="6D5BD0"/>
          </a:solidFill>
          <a:ln w="8890">
            <a:solidFill>
              <a:srgbClr val="6D5BD0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8439912" y="4507992"/>
            <a:ext cx="6583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0.041 m</a:t>
            </a:r>
            <a:endParaRPr lang="en-US" sz="780" dirty="0"/>
          </a:p>
        </p:txBody>
      </p:sp>
      <p:sp>
        <p:nvSpPr>
          <p:cNvPr id="80" name="Text 77"/>
          <p:cNvSpPr/>
          <p:nvPr/>
        </p:nvSpPr>
        <p:spPr>
          <a:xfrm>
            <a:off x="5989320" y="4846320"/>
            <a:ext cx="1737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Submapas</a:t>
            </a:r>
            <a:endParaRPr lang="en-US" sz="800" dirty="0"/>
          </a:p>
        </p:txBody>
      </p:sp>
      <p:sp>
        <p:nvSpPr>
          <p:cNvPr id="81" name="Shape 78"/>
          <p:cNvSpPr/>
          <p:nvPr/>
        </p:nvSpPr>
        <p:spPr>
          <a:xfrm>
            <a:off x="7799832" y="4873752"/>
            <a:ext cx="566928" cy="109728"/>
          </a:xfrm>
          <a:prstGeom prst="rect">
            <a:avLst/>
          </a:prstGeom>
          <a:solidFill>
            <a:srgbClr val="E6ECF2"/>
          </a:solidFill>
          <a:ln w="8890">
            <a:solidFill>
              <a:srgbClr val="E6ECF2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799832" y="4873752"/>
            <a:ext cx="529175" cy="109728"/>
          </a:xfrm>
          <a:prstGeom prst="rect">
            <a:avLst/>
          </a:prstGeom>
          <a:solidFill>
            <a:srgbClr val="1F7A8C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8439912" y="4837176"/>
            <a:ext cx="6583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0.041 m</a:t>
            </a:r>
            <a:endParaRPr lang="en-US" sz="780" dirty="0"/>
          </a:p>
        </p:txBody>
      </p:sp>
      <p:sp>
        <p:nvSpPr>
          <p:cNvPr id="84" name="Text 81"/>
          <p:cNvSpPr/>
          <p:nvPr/>
        </p:nvSpPr>
        <p:spPr>
          <a:xfrm>
            <a:off x="5989320" y="5175504"/>
            <a:ext cx="1737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Scan-to-map</a:t>
            </a:r>
            <a:endParaRPr lang="en-US" sz="800" dirty="0"/>
          </a:p>
        </p:txBody>
      </p:sp>
      <p:sp>
        <p:nvSpPr>
          <p:cNvPr id="85" name="Shape 82"/>
          <p:cNvSpPr/>
          <p:nvPr/>
        </p:nvSpPr>
        <p:spPr>
          <a:xfrm>
            <a:off x="7799832" y="5202936"/>
            <a:ext cx="566928" cy="109728"/>
          </a:xfrm>
          <a:prstGeom prst="rect">
            <a:avLst/>
          </a:prstGeom>
          <a:solidFill>
            <a:srgbClr val="E6ECF2"/>
          </a:solidFill>
          <a:ln w="8890">
            <a:solidFill>
              <a:srgbClr val="E6ECF2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7799832" y="5202936"/>
            <a:ext cx="566928" cy="109728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8439912" y="5166360"/>
            <a:ext cx="6583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0.044 m</a:t>
            </a:r>
            <a:endParaRPr lang="en-US" sz="780" dirty="0"/>
          </a:p>
        </p:txBody>
      </p:sp>
      <p:sp>
        <p:nvSpPr>
          <p:cNvPr id="88" name="Shape 85"/>
          <p:cNvSpPr/>
          <p:nvPr/>
        </p:nvSpPr>
        <p:spPr>
          <a:xfrm>
            <a:off x="9418320" y="3858768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071826"/>
          </a:solidFill>
          <a:ln w="9525">
            <a:solidFill>
              <a:srgbClr val="071826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9619488" y="4023360"/>
            <a:ext cx="151790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INTERPRETACIÓN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9619488" y="4297680"/>
            <a:ext cx="1517904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Kalman minimiza error de pose. Las diferencias pequeñas deben leerse con la limitación de una sola ejecución por método.</a:t>
            </a:r>
            <a:endParaRPr lang="en-US" sz="11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Estados exportados durante la misión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F0EEFB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misión se valida con estados temporales: tarea, movimiento, planner, Bill, batería y SLAM.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658368" y="1325880"/>
            <a:ext cx="10927080" cy="438912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8368" y="1325880"/>
            <a:ext cx="50292" cy="4389120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1444752"/>
            <a:ext cx="1059789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 exportado desde CoppeliaSim</a:t>
            </a:r>
            <a:endParaRPr lang="en-US" sz="800" dirty="0"/>
          </a:p>
        </p:txBody>
      </p:sp>
      <p:pic>
        <p:nvPicPr>
          <p:cNvPr id="36" name="Image 0" descr="C:\Users\walla\Documents\Master VIU\C9_SistRobMoviles\viu-mrob-sistemas-roboticos-moviles\actividad2\coppeliasim\phase1_slam_logs\phase1_slam_task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5699" y="1673352"/>
            <a:ext cx="6652418" cy="3950208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841248" y="5833872"/>
            <a:ext cx="2148840" cy="960120"/>
          </a:xfrm>
          <a:prstGeom prst="roundRect">
            <a:avLst>
              <a:gd name="adj" fmla="val 6667"/>
            </a:avLst>
          </a:prstGeom>
          <a:solidFill>
            <a:srgbClr val="EAF1FB"/>
          </a:solidFill>
          <a:ln w="5334">
            <a:solidFill>
              <a:srgbClr val="2B6CB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841248" y="5833872"/>
            <a:ext cx="50292" cy="9601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41248" y="5833872"/>
            <a:ext cx="73152" cy="960120"/>
          </a:xfrm>
          <a:prstGeom prst="rect">
            <a:avLst/>
          </a:prstGeom>
          <a:solidFill>
            <a:srgbClr val="2B6CB0"/>
          </a:solidFill>
          <a:ln w="8890">
            <a:solidFill>
              <a:srgbClr val="2B6CB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5840" y="5952744"/>
            <a:ext cx="181965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2B6C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WAIT_B1</a:t>
            </a:r>
            <a:endParaRPr lang="en-US" sz="1850" dirty="0"/>
          </a:p>
        </p:txBody>
      </p:sp>
      <p:sp>
        <p:nvSpPr>
          <p:cNvPr id="41" name="Text 38"/>
          <p:cNvSpPr/>
          <p:nvPr/>
        </p:nvSpPr>
        <p:spPr>
          <a:xfrm>
            <a:off x="1005840" y="6281928"/>
            <a:ext cx="181965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espera</a:t>
            </a:r>
            <a:endParaRPr lang="en-US" sz="870" dirty="0"/>
          </a:p>
        </p:txBody>
      </p:sp>
      <p:sp>
        <p:nvSpPr>
          <p:cNvPr id="42" name="Text 39"/>
          <p:cNvSpPr/>
          <p:nvPr/>
        </p:nvSpPr>
        <p:spPr>
          <a:xfrm>
            <a:off x="1005840" y="6483096"/>
            <a:ext cx="181965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 se detiene mientras Bill trabaja</a:t>
            </a:r>
            <a:endParaRPr lang="en-US" sz="770" dirty="0"/>
          </a:p>
        </p:txBody>
      </p:sp>
      <p:sp>
        <p:nvSpPr>
          <p:cNvPr id="43" name="Shape 40"/>
          <p:cNvSpPr/>
          <p:nvPr/>
        </p:nvSpPr>
        <p:spPr>
          <a:xfrm>
            <a:off x="3401568" y="5833872"/>
            <a:ext cx="2148840" cy="960120"/>
          </a:xfrm>
          <a:prstGeom prst="roundRect">
            <a:avLst>
              <a:gd name="adj" fmla="val 6667"/>
            </a:avLst>
          </a:prstGeom>
          <a:solidFill>
            <a:srgbClr val="FBE8DF"/>
          </a:solidFill>
          <a:ln w="5334">
            <a:solidFill>
              <a:srgbClr val="C97A5C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3401568" y="5833872"/>
            <a:ext cx="50292" cy="960120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401568" y="5833872"/>
            <a:ext cx="73152" cy="9601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566160" y="5952744"/>
            <a:ext cx="181965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C97A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AVOIDING</a:t>
            </a:r>
            <a:endParaRPr lang="en-US" sz="1850" dirty="0"/>
          </a:p>
        </p:txBody>
      </p:sp>
      <p:sp>
        <p:nvSpPr>
          <p:cNvPr id="47" name="Text 44"/>
          <p:cNvSpPr/>
          <p:nvPr/>
        </p:nvSpPr>
        <p:spPr>
          <a:xfrm>
            <a:off x="3566160" y="6281928"/>
            <a:ext cx="181965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870" dirty="0"/>
          </a:p>
        </p:txBody>
      </p:sp>
      <p:sp>
        <p:nvSpPr>
          <p:cNvPr id="48" name="Text 45"/>
          <p:cNvSpPr/>
          <p:nvPr/>
        </p:nvSpPr>
        <p:spPr>
          <a:xfrm>
            <a:off x="3566160" y="6483096"/>
            <a:ext cx="181965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 y reducción de velocidad</a:t>
            </a:r>
            <a:endParaRPr lang="en-US" sz="770" dirty="0"/>
          </a:p>
        </p:txBody>
      </p:sp>
      <p:sp>
        <p:nvSpPr>
          <p:cNvPr id="49" name="Shape 46"/>
          <p:cNvSpPr/>
          <p:nvPr/>
        </p:nvSpPr>
        <p:spPr>
          <a:xfrm>
            <a:off x="5961888" y="5833872"/>
            <a:ext cx="2148840" cy="960120"/>
          </a:xfrm>
          <a:prstGeom prst="roundRect">
            <a:avLst>
              <a:gd name="adj" fmla="val 6667"/>
            </a:avLst>
          </a:prstGeom>
          <a:solidFill>
            <a:srgbClr val="F0EEFB"/>
          </a:solidFill>
          <a:ln w="5334">
            <a:solidFill>
              <a:srgbClr val="6D5BD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5961888" y="5833872"/>
            <a:ext cx="50292" cy="96012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961888" y="5833872"/>
            <a:ext cx="73152" cy="960120"/>
          </a:xfrm>
          <a:prstGeom prst="rect">
            <a:avLst/>
          </a:prstGeom>
          <a:solidFill>
            <a:srgbClr val="6D5BD0"/>
          </a:solidFill>
          <a:ln w="8890">
            <a:solidFill>
              <a:srgbClr val="6D5BD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126480" y="5952744"/>
            <a:ext cx="181965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6D5B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SLAM</a:t>
            </a:r>
            <a:endParaRPr lang="en-US" sz="1850" dirty="0"/>
          </a:p>
        </p:txBody>
      </p:sp>
      <p:sp>
        <p:nvSpPr>
          <p:cNvPr id="53" name="Text 50"/>
          <p:cNvSpPr/>
          <p:nvPr/>
        </p:nvSpPr>
        <p:spPr>
          <a:xfrm>
            <a:off x="6126480" y="6281928"/>
            <a:ext cx="181965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</a:t>
            </a:r>
            <a:endParaRPr lang="en-US" sz="870" dirty="0"/>
          </a:p>
        </p:txBody>
      </p:sp>
      <p:sp>
        <p:nvSpPr>
          <p:cNvPr id="54" name="Text 51"/>
          <p:cNvSpPr/>
          <p:nvPr/>
        </p:nvSpPr>
        <p:spPr>
          <a:xfrm>
            <a:off x="6126480" y="6483096"/>
            <a:ext cx="181965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actualizaciones y planner observables</a:t>
            </a:r>
            <a:endParaRPr lang="en-US" sz="770" dirty="0"/>
          </a:p>
        </p:txBody>
      </p:sp>
      <p:sp>
        <p:nvSpPr>
          <p:cNvPr id="55" name="Shape 52"/>
          <p:cNvSpPr/>
          <p:nvPr/>
        </p:nvSpPr>
        <p:spPr>
          <a:xfrm>
            <a:off x="8522208" y="5833872"/>
            <a:ext cx="2148840" cy="960120"/>
          </a:xfrm>
          <a:prstGeom prst="roundRect">
            <a:avLst>
              <a:gd name="adj" fmla="val 6667"/>
            </a:avLst>
          </a:prstGeom>
          <a:solidFill>
            <a:srgbClr val="EAF7F4"/>
          </a:solidFill>
          <a:ln w="5334">
            <a:solidFill>
              <a:srgbClr val="2A9D8F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8522208" y="5833872"/>
            <a:ext cx="50292" cy="9601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522208" y="5833872"/>
            <a:ext cx="73152" cy="96012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686800" y="5952744"/>
            <a:ext cx="181965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CHARGE</a:t>
            </a:r>
            <a:endParaRPr lang="en-US" sz="1850" dirty="0"/>
          </a:p>
        </p:txBody>
      </p:sp>
      <p:sp>
        <p:nvSpPr>
          <p:cNvPr id="59" name="Text 56"/>
          <p:cNvSpPr/>
          <p:nvPr/>
        </p:nvSpPr>
        <p:spPr>
          <a:xfrm>
            <a:off x="8686800" y="6281928"/>
            <a:ext cx="181965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870" dirty="0"/>
          </a:p>
        </p:txBody>
      </p:sp>
      <p:sp>
        <p:nvSpPr>
          <p:cNvPr id="60" name="Text 57"/>
          <p:cNvSpPr/>
          <p:nvPr/>
        </p:nvSpPr>
        <p:spPr>
          <a:xfrm>
            <a:off x="8686800" y="6483096"/>
            <a:ext cx="181965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retorno final a estación</a:t>
            </a:r>
            <a:endParaRPr lang="en-US" sz="77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desconocido con obstáculos dinámicos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F0EEFB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robot empieza sin mapa completo y replanifica cuando aparecen obstáculos detectados por los rayos.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658368" y="1417320"/>
            <a:ext cx="544068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8368" y="1417320"/>
            <a:ext cx="50292" cy="283464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1536192"/>
            <a:ext cx="511149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 con zona no observada</a:t>
            </a:r>
            <a:endParaRPr lang="en-US" sz="800" dirty="0"/>
          </a:p>
        </p:txBody>
      </p:sp>
      <p:pic>
        <p:nvPicPr>
          <p:cNvPr id="36" name="Image 0" descr="C:\Users\walla\Documents\Master VIU\C9_SistRobMoviles\viu-mrob-sistemas-roboticos-moviles\actividad2\figures\phase1\coppeliasim_phase2_initial_unknown_orien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5079" y="1764792"/>
            <a:ext cx="3407258" cy="2395728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6291072" y="1417320"/>
            <a:ext cx="544068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291072" y="1417320"/>
            <a:ext cx="50292" cy="2834640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55664" y="1536192"/>
            <a:ext cx="511149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replanificación ante obstáculo dinámico</a:t>
            </a:r>
            <a:endParaRPr lang="en-US" sz="800" dirty="0"/>
          </a:p>
        </p:txBody>
      </p:sp>
      <p:pic>
        <p:nvPicPr>
          <p:cNvPr id="40" name="Image 1" descr="C:\Users\walla\Documents\Master VIU\C9_SistRobMoviles\viu-mrob-sistemas-roboticos-moviles\actividad2\figures\phase1\coppeliasim_phase2_replan_dynamic_orien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783" y="1764792"/>
            <a:ext cx="3407258" cy="2395728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>
            <a:off x="841248" y="507492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EAF7F4"/>
          </a:solidFill>
          <a:ln w="5334">
            <a:solidFill>
              <a:srgbClr val="2A9D8F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841248" y="5074920"/>
            <a:ext cx="50292" cy="9601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41248" y="5074920"/>
            <a:ext cx="73152" cy="96012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1005840" y="5193792"/>
            <a:ext cx="163677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0,03185 m</a:t>
            </a:r>
            <a:endParaRPr lang="en-US" sz="1850" dirty="0"/>
          </a:p>
        </p:txBody>
      </p:sp>
      <p:sp>
        <p:nvSpPr>
          <p:cNvPr id="45" name="Text 41"/>
          <p:cNvSpPr/>
          <p:nvPr/>
        </p:nvSpPr>
        <p:spPr>
          <a:xfrm>
            <a:off x="1005840" y="5522976"/>
            <a:ext cx="163677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Kalman</a:t>
            </a:r>
            <a:endParaRPr lang="en-US" sz="870" dirty="0"/>
          </a:p>
        </p:txBody>
      </p:sp>
      <p:sp>
        <p:nvSpPr>
          <p:cNvPr id="46" name="Text 42"/>
          <p:cNvSpPr/>
          <p:nvPr/>
        </p:nvSpPr>
        <p:spPr>
          <a:xfrm>
            <a:off x="1005840" y="5724144"/>
            <a:ext cx="163677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 RMSE de pose</a:t>
            </a:r>
            <a:endParaRPr lang="en-US" sz="770" dirty="0"/>
          </a:p>
        </p:txBody>
      </p:sp>
      <p:sp>
        <p:nvSpPr>
          <p:cNvPr id="47" name="Shape 43"/>
          <p:cNvSpPr/>
          <p:nvPr/>
        </p:nvSpPr>
        <p:spPr>
          <a:xfrm>
            <a:off x="3127248" y="507492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0EEFB"/>
          </a:solidFill>
          <a:ln w="5334">
            <a:solidFill>
              <a:srgbClr val="6D5BD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8" name="Shape 44"/>
          <p:cNvSpPr/>
          <p:nvPr/>
        </p:nvSpPr>
        <p:spPr>
          <a:xfrm>
            <a:off x="3127248" y="5074920"/>
            <a:ext cx="50292" cy="96012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3127248" y="5074920"/>
            <a:ext cx="73152" cy="960120"/>
          </a:xfrm>
          <a:prstGeom prst="rect">
            <a:avLst/>
          </a:prstGeom>
          <a:solidFill>
            <a:srgbClr val="6D5BD0"/>
          </a:solidFill>
          <a:ln w="8890">
            <a:solidFill>
              <a:srgbClr val="6D5BD0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291840" y="5193792"/>
            <a:ext cx="163677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6D5B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95,327 %</a:t>
            </a:r>
            <a:endParaRPr lang="en-US" sz="1850" dirty="0"/>
          </a:p>
        </p:txBody>
      </p:sp>
      <p:sp>
        <p:nvSpPr>
          <p:cNvPr id="51" name="Text 47"/>
          <p:cNvSpPr/>
          <p:nvPr/>
        </p:nvSpPr>
        <p:spPr>
          <a:xfrm>
            <a:off x="3291840" y="5522976"/>
            <a:ext cx="163677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Submapas</a:t>
            </a:r>
            <a:endParaRPr lang="en-US" sz="870" dirty="0"/>
          </a:p>
        </p:txBody>
      </p:sp>
      <p:sp>
        <p:nvSpPr>
          <p:cNvPr id="52" name="Text 48"/>
          <p:cNvSpPr/>
          <p:nvPr/>
        </p:nvSpPr>
        <p:spPr>
          <a:xfrm>
            <a:off x="3291840" y="5724144"/>
            <a:ext cx="163677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mayor actividad de mapa</a:t>
            </a:r>
            <a:endParaRPr lang="en-US" sz="770" dirty="0"/>
          </a:p>
        </p:txBody>
      </p:sp>
      <p:sp>
        <p:nvSpPr>
          <p:cNvPr id="53" name="Shape 49"/>
          <p:cNvSpPr/>
          <p:nvPr/>
        </p:nvSpPr>
        <p:spPr>
          <a:xfrm>
            <a:off x="5413248" y="507492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BE8DF"/>
          </a:solidFill>
          <a:ln w="5334">
            <a:solidFill>
              <a:srgbClr val="C97A5C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54" name="Shape 50"/>
          <p:cNvSpPr/>
          <p:nvPr/>
        </p:nvSpPr>
        <p:spPr>
          <a:xfrm>
            <a:off x="5413248" y="5074920"/>
            <a:ext cx="50292" cy="960120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5413248" y="5074920"/>
            <a:ext cx="73152" cy="9601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577840" y="5193792"/>
            <a:ext cx="163677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C97A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17-25</a:t>
            </a:r>
            <a:endParaRPr lang="en-US" sz="1850" dirty="0"/>
          </a:p>
        </p:txBody>
      </p:sp>
      <p:sp>
        <p:nvSpPr>
          <p:cNvPr id="57" name="Text 53"/>
          <p:cNvSpPr/>
          <p:nvPr/>
        </p:nvSpPr>
        <p:spPr>
          <a:xfrm>
            <a:off x="5577840" y="5522976"/>
            <a:ext cx="163677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replans</a:t>
            </a:r>
            <a:endParaRPr lang="en-US" sz="870" dirty="0"/>
          </a:p>
        </p:txBody>
      </p:sp>
      <p:sp>
        <p:nvSpPr>
          <p:cNvPr id="58" name="Text 54"/>
          <p:cNvSpPr/>
          <p:nvPr/>
        </p:nvSpPr>
        <p:spPr>
          <a:xfrm>
            <a:off x="5577840" y="5724144"/>
            <a:ext cx="163677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según método SLAM</a:t>
            </a:r>
            <a:endParaRPr lang="en-US" sz="770" dirty="0"/>
          </a:p>
        </p:txBody>
      </p:sp>
      <p:sp>
        <p:nvSpPr>
          <p:cNvPr id="59" name="Shape 55"/>
          <p:cNvSpPr/>
          <p:nvPr/>
        </p:nvSpPr>
        <p:spPr>
          <a:xfrm>
            <a:off x="7699248" y="507492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 w="5334">
            <a:solidFill>
              <a:srgbClr val="B91C1C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0" name="Shape 56"/>
          <p:cNvSpPr/>
          <p:nvPr/>
        </p:nvSpPr>
        <p:spPr>
          <a:xfrm>
            <a:off x="7699248" y="5074920"/>
            <a:ext cx="50292" cy="9601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7699248" y="5074920"/>
            <a:ext cx="73152" cy="960120"/>
          </a:xfrm>
          <a:prstGeom prst="rect">
            <a:avLst/>
          </a:prstGeom>
          <a:solidFill>
            <a:srgbClr val="B91C1C"/>
          </a:solidFill>
          <a:ln w="8890">
            <a:solidFill>
              <a:srgbClr val="B91C1C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7863840" y="5193792"/>
            <a:ext cx="163677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B91C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0-1</a:t>
            </a:r>
            <a:endParaRPr lang="en-US" sz="1850" dirty="0"/>
          </a:p>
        </p:txBody>
      </p:sp>
      <p:sp>
        <p:nvSpPr>
          <p:cNvPr id="63" name="Text 59"/>
          <p:cNvSpPr/>
          <p:nvPr/>
        </p:nvSpPr>
        <p:spPr>
          <a:xfrm>
            <a:off x="7863840" y="5522976"/>
            <a:ext cx="163677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</a:t>
            </a:r>
            <a:endParaRPr lang="en-US" sz="870" dirty="0"/>
          </a:p>
        </p:txBody>
      </p:sp>
      <p:sp>
        <p:nvSpPr>
          <p:cNvPr id="64" name="Text 60"/>
          <p:cNvSpPr/>
          <p:nvPr/>
        </p:nvSpPr>
        <p:spPr>
          <a:xfrm>
            <a:off x="7863840" y="5724144"/>
            <a:ext cx="163677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recuperación del planner</a:t>
            </a:r>
            <a:endParaRPr lang="en-US" sz="77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corrección Fase 2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Bloqueo local y RECOVERY_DIRECT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AF7F4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grids podían bloquear rutas por celdas cercanas al robot o al objetivo. Se añadieron filtros antes de activar waypoints.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749808" y="1481328"/>
            <a:ext cx="2359152" cy="1170432"/>
          </a:xfrm>
          <a:prstGeom prst="roundRect">
            <a:avLst>
              <a:gd name="adj" fmla="val 5469"/>
            </a:avLst>
          </a:prstGeom>
          <a:solidFill>
            <a:srgbClr val="E6F4F6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9808" y="1481328"/>
            <a:ext cx="50292" cy="1170432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1700784"/>
            <a:ext cx="1874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persistencia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914400" y="1993392"/>
            <a:ext cx="188366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celda bloqueante solo tras detecciones repetidas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3538728" y="1481328"/>
            <a:ext cx="2359152" cy="1170432"/>
          </a:xfrm>
          <a:prstGeom prst="roundRect">
            <a:avLst>
              <a:gd name="adj" fmla="val 5469"/>
            </a:avLst>
          </a:prstGeom>
          <a:solidFill>
            <a:srgbClr val="EAF7F4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538728" y="1481328"/>
            <a:ext cx="50292" cy="1170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03320" y="1700784"/>
            <a:ext cx="1874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distancia local</a:t>
            </a:r>
            <a:endParaRPr lang="en-US" sz="830" dirty="0"/>
          </a:p>
        </p:txBody>
      </p:sp>
      <p:sp>
        <p:nvSpPr>
          <p:cNvPr id="40" name="Text 38"/>
          <p:cNvSpPr/>
          <p:nvPr/>
        </p:nvSpPr>
        <p:spPr>
          <a:xfrm>
            <a:off x="3703320" y="1993392"/>
            <a:ext cx="188366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ignora celdas dentro del radio de R1 o pegadas al objetivo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6327648" y="1481328"/>
            <a:ext cx="2359152" cy="1170432"/>
          </a:xfrm>
          <a:prstGeom prst="roundRect">
            <a:avLst>
              <a:gd name="adj" fmla="val 5469"/>
            </a:avLst>
          </a:prstGeom>
          <a:solidFill>
            <a:srgbClr val="FBE8D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27648" y="1481328"/>
            <a:ext cx="50292" cy="1170432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1700784"/>
            <a:ext cx="1874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área útil</a:t>
            </a:r>
            <a:endParaRPr lang="en-US" sz="830" dirty="0"/>
          </a:p>
        </p:txBody>
      </p:sp>
      <p:sp>
        <p:nvSpPr>
          <p:cNvPr id="44" name="Text 42"/>
          <p:cNvSpPr/>
          <p:nvPr/>
        </p:nvSpPr>
        <p:spPr>
          <a:xfrm>
            <a:off x="6492240" y="1993392"/>
            <a:ext cx="188366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waypoint fuera del pasillo operativo recibe penalización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9116568" y="1481328"/>
            <a:ext cx="2359152" cy="1170432"/>
          </a:xfrm>
          <a:prstGeom prst="roundRect">
            <a:avLst>
              <a:gd name="adj" fmla="val 5469"/>
            </a:avLst>
          </a:prstGeom>
          <a:solidFill>
            <a:srgbClr val="F0EEFB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116568" y="1481328"/>
            <a:ext cx="50292" cy="1170432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81160" y="1700784"/>
            <a:ext cx="1874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RECOVERY_DIRECT</a:t>
            </a:r>
            <a:endParaRPr lang="en-US" sz="830" dirty="0"/>
          </a:p>
        </p:txBody>
      </p:sp>
      <p:sp>
        <p:nvSpPr>
          <p:cNvPr id="48" name="Text 46"/>
          <p:cNvSpPr/>
          <p:nvPr/>
        </p:nvSpPr>
        <p:spPr>
          <a:xfrm>
            <a:off x="9281160" y="1993392"/>
            <a:ext cx="188366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objetivo directo durante una ventana corta y conserva evitación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914400" y="3520440"/>
            <a:ext cx="1508760" cy="566928"/>
          </a:xfrm>
          <a:prstGeom prst="roundRect">
            <a:avLst>
              <a:gd name="adj" fmla="val 11290"/>
            </a:avLst>
          </a:prstGeom>
          <a:solidFill>
            <a:srgbClr val="FDECEC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14400" y="3520440"/>
            <a:ext cx="50292" cy="5669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5840" y="3712464"/>
            <a:ext cx="12984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crudo</a:t>
            </a:r>
            <a:endParaRPr lang="en-US" sz="710" dirty="0"/>
          </a:p>
        </p:txBody>
      </p:sp>
      <p:sp>
        <p:nvSpPr>
          <p:cNvPr id="52" name="Shape 50"/>
          <p:cNvSpPr/>
          <p:nvPr/>
        </p:nvSpPr>
        <p:spPr>
          <a:xfrm>
            <a:off x="2450592" y="3803904"/>
            <a:ext cx="457200" cy="9144"/>
          </a:xfrm>
          <a:prstGeom prst="line">
            <a:avLst/>
          </a:prstGeom>
          <a:noFill/>
          <a:ln w="12700">
            <a:solidFill>
              <a:srgbClr val="0F1A2A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3063240" y="3520440"/>
            <a:ext cx="1508760" cy="566928"/>
          </a:xfrm>
          <a:prstGeom prst="roundRect">
            <a:avLst>
              <a:gd name="adj" fmla="val 11290"/>
            </a:avLst>
          </a:prstGeom>
          <a:solidFill>
            <a:srgbClr val="FBE8D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063240" y="3520440"/>
            <a:ext cx="50292" cy="566928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54680" y="3712464"/>
            <a:ext cx="12984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filtros</a:t>
            </a:r>
            <a:endParaRPr lang="en-US" sz="710" dirty="0"/>
          </a:p>
        </p:txBody>
      </p:sp>
      <p:sp>
        <p:nvSpPr>
          <p:cNvPr id="56" name="Shape 54"/>
          <p:cNvSpPr/>
          <p:nvPr/>
        </p:nvSpPr>
        <p:spPr>
          <a:xfrm>
            <a:off x="4599432" y="3803904"/>
            <a:ext cx="457200" cy="9144"/>
          </a:xfrm>
          <a:prstGeom prst="line">
            <a:avLst/>
          </a:prstGeom>
          <a:noFill/>
          <a:ln w="12700">
            <a:solidFill>
              <a:srgbClr val="0F1A2A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5212080" y="3520440"/>
            <a:ext cx="1508760" cy="566928"/>
          </a:xfrm>
          <a:prstGeom prst="roundRect">
            <a:avLst>
              <a:gd name="adj" fmla="val 11290"/>
            </a:avLst>
          </a:prstGeom>
          <a:solidFill>
            <a:srgbClr val="F0EEFB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212080" y="3520440"/>
            <a:ext cx="50292" cy="566928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03520" y="3712464"/>
            <a:ext cx="12984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waypoint</a:t>
            </a:r>
            <a:endParaRPr lang="en-US" sz="710" dirty="0"/>
          </a:p>
        </p:txBody>
      </p:sp>
      <p:sp>
        <p:nvSpPr>
          <p:cNvPr id="60" name="Shape 58"/>
          <p:cNvSpPr/>
          <p:nvPr/>
        </p:nvSpPr>
        <p:spPr>
          <a:xfrm>
            <a:off x="6748272" y="3803904"/>
            <a:ext cx="457200" cy="9144"/>
          </a:xfrm>
          <a:prstGeom prst="line">
            <a:avLst/>
          </a:prstGeom>
          <a:noFill/>
          <a:ln w="12700">
            <a:solidFill>
              <a:srgbClr val="0F1A2A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7360920" y="3520440"/>
            <a:ext cx="1508760" cy="566928"/>
          </a:xfrm>
          <a:prstGeom prst="roundRect">
            <a:avLst>
              <a:gd name="adj" fmla="val 11290"/>
            </a:avLst>
          </a:prstGeom>
          <a:solidFill>
            <a:srgbClr val="E6F4F6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360920" y="3520440"/>
            <a:ext cx="50292" cy="5669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52360" y="3712464"/>
            <a:ext cx="12984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reactivo</a:t>
            </a:r>
            <a:endParaRPr lang="en-US" sz="710" dirty="0"/>
          </a:p>
        </p:txBody>
      </p:sp>
      <p:sp>
        <p:nvSpPr>
          <p:cNvPr id="64" name="Shape 62"/>
          <p:cNvSpPr/>
          <p:nvPr/>
        </p:nvSpPr>
        <p:spPr>
          <a:xfrm>
            <a:off x="8897112" y="3803904"/>
            <a:ext cx="457200" cy="9144"/>
          </a:xfrm>
          <a:prstGeom prst="line">
            <a:avLst/>
          </a:prstGeom>
          <a:noFill/>
          <a:ln w="12700">
            <a:solidFill>
              <a:srgbClr val="0F1A2A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9509760" y="3520440"/>
            <a:ext cx="1508760" cy="566928"/>
          </a:xfrm>
          <a:prstGeom prst="roundRect">
            <a:avLst>
              <a:gd name="adj" fmla="val 11290"/>
            </a:avLst>
          </a:prstGeom>
          <a:solidFill>
            <a:srgbClr val="EAF7F4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9509760" y="3520440"/>
            <a:ext cx="50292" cy="5669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601200" y="3712464"/>
            <a:ext cx="12984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</a:t>
            </a:r>
            <a:endParaRPr lang="en-US" sz="710" dirty="0"/>
          </a:p>
        </p:txBody>
      </p:sp>
      <p:sp>
        <p:nvSpPr>
          <p:cNvPr id="68" name="Shape 66"/>
          <p:cNvSpPr/>
          <p:nvPr/>
        </p:nvSpPr>
        <p:spPr>
          <a:xfrm>
            <a:off x="914400" y="5230368"/>
            <a:ext cx="2011680" cy="960120"/>
          </a:xfrm>
          <a:prstGeom prst="roundRect">
            <a:avLst>
              <a:gd name="adj" fmla="val 6667"/>
            </a:avLst>
          </a:prstGeom>
          <a:solidFill>
            <a:srgbClr val="EAF7F4"/>
          </a:solidFill>
          <a:ln w="5334">
            <a:solidFill>
              <a:srgbClr val="2A9D8F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914400" y="5230368"/>
            <a:ext cx="50292" cy="9601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14400" y="5230368"/>
            <a:ext cx="73152" cy="96012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78992" y="5349240"/>
            <a:ext cx="168249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4/4</a:t>
            </a:r>
            <a:endParaRPr lang="en-US" sz="1850" dirty="0"/>
          </a:p>
        </p:txBody>
      </p:sp>
      <p:sp>
        <p:nvSpPr>
          <p:cNvPr id="72" name="Text 70"/>
          <p:cNvSpPr/>
          <p:nvPr/>
        </p:nvSpPr>
        <p:spPr>
          <a:xfrm>
            <a:off x="1078992" y="5678424"/>
            <a:ext cx="168249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métodos</a:t>
            </a:r>
            <a:endParaRPr lang="en-US" sz="870" dirty="0"/>
          </a:p>
        </p:txBody>
      </p:sp>
      <p:sp>
        <p:nvSpPr>
          <p:cNvPr id="73" name="Text 71"/>
          <p:cNvSpPr/>
          <p:nvPr/>
        </p:nvSpPr>
        <p:spPr>
          <a:xfrm>
            <a:off x="1078992" y="5879592"/>
            <a:ext cx="168249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completan Fase 2 tras la corrección</a:t>
            </a:r>
            <a:endParaRPr lang="en-US" sz="770" dirty="0"/>
          </a:p>
        </p:txBody>
      </p:sp>
      <p:sp>
        <p:nvSpPr>
          <p:cNvPr id="74" name="Shape 72"/>
          <p:cNvSpPr/>
          <p:nvPr/>
        </p:nvSpPr>
        <p:spPr>
          <a:xfrm>
            <a:off x="3310128" y="5230368"/>
            <a:ext cx="2011680" cy="960120"/>
          </a:xfrm>
          <a:prstGeom prst="roundRect">
            <a:avLst>
              <a:gd name="adj" fmla="val 6667"/>
            </a:avLst>
          </a:prstGeom>
          <a:solidFill>
            <a:srgbClr val="F0EEFB"/>
          </a:solidFill>
          <a:ln w="5334">
            <a:solidFill>
              <a:srgbClr val="6D5BD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3310128" y="5230368"/>
            <a:ext cx="50292" cy="96012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310128" y="5230368"/>
            <a:ext cx="73152" cy="960120"/>
          </a:xfrm>
          <a:prstGeom prst="rect">
            <a:avLst/>
          </a:prstGeom>
          <a:solidFill>
            <a:srgbClr val="6D5BD0"/>
          </a:solidFill>
          <a:ln w="8890">
            <a:solidFill>
              <a:srgbClr val="6D5BD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474720" y="5349240"/>
            <a:ext cx="168249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6D5B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50" dirty="0"/>
          </a:p>
        </p:txBody>
      </p:sp>
      <p:sp>
        <p:nvSpPr>
          <p:cNvPr id="78" name="Text 76"/>
          <p:cNvSpPr/>
          <p:nvPr/>
        </p:nvSpPr>
        <p:spPr>
          <a:xfrm>
            <a:off x="3474720" y="5678424"/>
            <a:ext cx="168249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</a:t>
            </a:r>
            <a:endParaRPr lang="en-US" sz="870" dirty="0"/>
          </a:p>
        </p:txBody>
      </p:sp>
      <p:sp>
        <p:nvSpPr>
          <p:cNvPr id="79" name="Text 77"/>
          <p:cNvSpPr/>
          <p:nvPr/>
        </p:nvSpPr>
        <p:spPr>
          <a:xfrm>
            <a:off x="3474720" y="5879592"/>
            <a:ext cx="168249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observada en submapas</a:t>
            </a:r>
            <a:endParaRPr lang="en-US" sz="770" dirty="0"/>
          </a:p>
        </p:txBody>
      </p:sp>
      <p:sp>
        <p:nvSpPr>
          <p:cNvPr id="80" name="Shape 78"/>
          <p:cNvSpPr/>
          <p:nvPr/>
        </p:nvSpPr>
        <p:spPr>
          <a:xfrm>
            <a:off x="5705856" y="5230368"/>
            <a:ext cx="2011680" cy="960120"/>
          </a:xfrm>
          <a:prstGeom prst="roundRect">
            <a:avLst>
              <a:gd name="adj" fmla="val 6667"/>
            </a:avLst>
          </a:prstGeom>
          <a:solidFill>
            <a:srgbClr val="E6F4F6"/>
          </a:solidFill>
          <a:ln w="5334">
            <a:solidFill>
              <a:srgbClr val="1F7A8C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5705856" y="5230368"/>
            <a:ext cx="50292" cy="96012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705856" y="5230368"/>
            <a:ext cx="73152" cy="960120"/>
          </a:xfrm>
          <a:prstGeom prst="rect">
            <a:avLst/>
          </a:prstGeom>
          <a:solidFill>
            <a:srgbClr val="1F7A8C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70448" y="5349240"/>
            <a:ext cx="168249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F7A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850" dirty="0"/>
          </a:p>
        </p:txBody>
      </p:sp>
      <p:sp>
        <p:nvSpPr>
          <p:cNvPr id="84" name="Text 82"/>
          <p:cNvSpPr/>
          <p:nvPr/>
        </p:nvSpPr>
        <p:spPr>
          <a:xfrm>
            <a:off x="5870448" y="5678424"/>
            <a:ext cx="168249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mínimo</a:t>
            </a:r>
            <a:endParaRPr lang="en-US" sz="870" dirty="0"/>
          </a:p>
        </p:txBody>
      </p:sp>
      <p:sp>
        <p:nvSpPr>
          <p:cNvPr id="85" name="Text 83"/>
          <p:cNvSpPr/>
          <p:nvPr/>
        </p:nvSpPr>
        <p:spPr>
          <a:xfrm>
            <a:off x="5870448" y="5879592"/>
            <a:ext cx="168249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replanificaciones Kalman</a:t>
            </a:r>
            <a:endParaRPr lang="en-US" sz="770" dirty="0"/>
          </a:p>
        </p:txBody>
      </p:sp>
      <p:sp>
        <p:nvSpPr>
          <p:cNvPr id="86" name="Shape 84"/>
          <p:cNvSpPr/>
          <p:nvPr/>
        </p:nvSpPr>
        <p:spPr>
          <a:xfrm>
            <a:off x="8101584" y="5230368"/>
            <a:ext cx="2011680" cy="960120"/>
          </a:xfrm>
          <a:prstGeom prst="roundRect">
            <a:avLst>
              <a:gd name="adj" fmla="val 6667"/>
            </a:avLst>
          </a:prstGeom>
          <a:solidFill>
            <a:srgbClr val="FBE8DF"/>
          </a:solidFill>
          <a:ln w="5334">
            <a:solidFill>
              <a:srgbClr val="C97A5C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8101584" y="5230368"/>
            <a:ext cx="50292" cy="960120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101584" y="5230368"/>
            <a:ext cx="73152" cy="9601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266176" y="5349240"/>
            <a:ext cx="168249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C97A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1850" dirty="0"/>
          </a:p>
        </p:txBody>
      </p:sp>
      <p:sp>
        <p:nvSpPr>
          <p:cNvPr id="90" name="Text 88"/>
          <p:cNvSpPr/>
          <p:nvPr/>
        </p:nvSpPr>
        <p:spPr>
          <a:xfrm>
            <a:off x="8266176" y="5678424"/>
            <a:ext cx="168249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máximo</a:t>
            </a:r>
            <a:endParaRPr lang="en-US" sz="870" dirty="0"/>
          </a:p>
        </p:txBody>
      </p:sp>
      <p:sp>
        <p:nvSpPr>
          <p:cNvPr id="91" name="Text 89"/>
          <p:cNvSpPr/>
          <p:nvPr/>
        </p:nvSpPr>
        <p:spPr>
          <a:xfrm>
            <a:off x="8266176" y="5879592"/>
            <a:ext cx="168249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replanificaciones submapas</a:t>
            </a:r>
            <a:endParaRPr lang="en-US" sz="77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SLAM con mapa desconocido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AF7F4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escena conserva la misión T1 y T2 y añade obstáculos no modelados, zonas desconocidas y replanificación.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640080" y="1417320"/>
            <a:ext cx="576072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" y="1417320"/>
            <a:ext cx="50292" cy="283464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1536192"/>
            <a:ext cx="54315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 Fase 2</a:t>
            </a:r>
            <a:endParaRPr lang="en-US" sz="800" dirty="0"/>
          </a:p>
        </p:txBody>
      </p:sp>
      <p:pic>
        <p:nvPicPr>
          <p:cNvPr id="36" name="Image 0" descr="C:\Users\walla\Documents\Master VIU\C9_SistRobMoviles\viu-mrob-sistemas-roboticos-moviles\actividad2\coppeliasim\phase2_slam_logs\phase2_slam_unknown_algorithm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7009" y="1764792"/>
            <a:ext cx="4026862" cy="2395728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640080" y="4462272"/>
            <a:ext cx="576072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0080" y="4462272"/>
            <a:ext cx="50292" cy="12984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04672" y="4581144"/>
            <a:ext cx="54315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reconstrucción por instante</a:t>
            </a:r>
            <a:endParaRPr lang="en-US" sz="800" dirty="0"/>
          </a:p>
        </p:txBody>
      </p:sp>
      <p:pic>
        <p:nvPicPr>
          <p:cNvPr id="40" name="Image 1" descr="C:\Users\walla\Documents\Master VIU\C9_SistRobMoviles\viu-mrob-sistemas-roboticos-moviles\actividad2\coppeliasim\phase2_slam_logs\phase2_slam_mapping_snapsho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6486" y="4809744"/>
            <a:ext cx="1347909" cy="859536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>
            <a:off x="6766560" y="1481328"/>
            <a:ext cx="205740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6766560" y="1481328"/>
            <a:ext cx="50292" cy="10241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949440" y="1609344"/>
            <a:ext cx="16916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Kalman</a:t>
            </a:r>
            <a:endParaRPr lang="en-US" sz="2500" dirty="0"/>
          </a:p>
        </p:txBody>
      </p:sp>
      <p:sp>
        <p:nvSpPr>
          <p:cNvPr id="44" name="Text 40"/>
          <p:cNvSpPr/>
          <p:nvPr/>
        </p:nvSpPr>
        <p:spPr>
          <a:xfrm>
            <a:off x="6949440" y="1975104"/>
            <a:ext cx="16916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 RMSE: 0.03185 m</a:t>
            </a:r>
            <a:endParaRPr lang="en-US" sz="860" dirty="0"/>
          </a:p>
        </p:txBody>
      </p:sp>
      <p:sp>
        <p:nvSpPr>
          <p:cNvPr id="45" name="Text 41"/>
          <p:cNvSpPr/>
          <p:nvPr/>
        </p:nvSpPr>
        <p:spPr>
          <a:xfrm>
            <a:off x="6949440" y="2194560"/>
            <a:ext cx="16916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estimada</a:t>
            </a:r>
            <a:endParaRPr lang="en-US" sz="740" dirty="0"/>
          </a:p>
        </p:txBody>
      </p:sp>
      <p:sp>
        <p:nvSpPr>
          <p:cNvPr id="46" name="Shape 42"/>
          <p:cNvSpPr/>
          <p:nvPr/>
        </p:nvSpPr>
        <p:spPr>
          <a:xfrm>
            <a:off x="9098280" y="1481328"/>
            <a:ext cx="205740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7" name="Shape 43"/>
          <p:cNvSpPr/>
          <p:nvPr/>
        </p:nvSpPr>
        <p:spPr>
          <a:xfrm>
            <a:off x="9098280" y="1481328"/>
            <a:ext cx="50292" cy="1024128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9281160" y="1609344"/>
            <a:ext cx="16916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6D5B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Submapas</a:t>
            </a:r>
            <a:endParaRPr lang="en-US" sz="2500" dirty="0"/>
          </a:p>
        </p:txBody>
      </p:sp>
      <p:sp>
        <p:nvSpPr>
          <p:cNvPr id="49" name="Text 45"/>
          <p:cNvSpPr/>
          <p:nvPr/>
        </p:nvSpPr>
        <p:spPr>
          <a:xfrm>
            <a:off x="9281160" y="1975104"/>
            <a:ext cx="16916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actividad: 95.327 %</a:t>
            </a:r>
            <a:endParaRPr lang="en-US" sz="860" dirty="0"/>
          </a:p>
        </p:txBody>
      </p:sp>
      <p:sp>
        <p:nvSpPr>
          <p:cNvPr id="50" name="Text 46"/>
          <p:cNvSpPr/>
          <p:nvPr/>
        </p:nvSpPr>
        <p:spPr>
          <a:xfrm>
            <a:off x="9281160" y="2194560"/>
            <a:ext cx="16916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de mapa</a:t>
            </a:r>
            <a:endParaRPr lang="en-US" sz="740" dirty="0"/>
          </a:p>
        </p:txBody>
      </p:sp>
      <p:sp>
        <p:nvSpPr>
          <p:cNvPr id="51" name="Text 47"/>
          <p:cNvSpPr/>
          <p:nvPr/>
        </p:nvSpPr>
        <p:spPr>
          <a:xfrm>
            <a:off x="6784848" y="2907792"/>
            <a:ext cx="187452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REPLANIFICACIONES</a:t>
            </a:r>
            <a:endParaRPr lang="en-US" sz="780" dirty="0"/>
          </a:p>
        </p:txBody>
      </p:sp>
      <p:sp>
        <p:nvSpPr>
          <p:cNvPr id="52" name="Text 48"/>
          <p:cNvSpPr/>
          <p:nvPr/>
        </p:nvSpPr>
        <p:spPr>
          <a:xfrm>
            <a:off x="6784848" y="3246120"/>
            <a:ext cx="1737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Kalman</a:t>
            </a:r>
            <a:endParaRPr lang="en-US" sz="800" dirty="0"/>
          </a:p>
        </p:txBody>
      </p:sp>
      <p:sp>
        <p:nvSpPr>
          <p:cNvPr id="53" name="Shape 49"/>
          <p:cNvSpPr/>
          <p:nvPr/>
        </p:nvSpPr>
        <p:spPr>
          <a:xfrm>
            <a:off x="8595360" y="3273552"/>
            <a:ext cx="658368" cy="109728"/>
          </a:xfrm>
          <a:prstGeom prst="rect">
            <a:avLst/>
          </a:prstGeom>
          <a:solidFill>
            <a:srgbClr val="E6ECF2"/>
          </a:solidFill>
          <a:ln w="8890">
            <a:solidFill>
              <a:srgbClr val="E6ECF2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8595360" y="3273552"/>
            <a:ext cx="447690" cy="109728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9326880" y="3236976"/>
            <a:ext cx="6583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17.0</a:t>
            </a:r>
            <a:endParaRPr lang="en-US" sz="780" dirty="0"/>
          </a:p>
        </p:txBody>
      </p:sp>
      <p:sp>
        <p:nvSpPr>
          <p:cNvPr id="56" name="Text 52"/>
          <p:cNvSpPr/>
          <p:nvPr/>
        </p:nvSpPr>
        <p:spPr>
          <a:xfrm>
            <a:off x="6784848" y="3557016"/>
            <a:ext cx="1737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Submapas</a:t>
            </a:r>
            <a:endParaRPr lang="en-US" sz="800" dirty="0"/>
          </a:p>
        </p:txBody>
      </p:sp>
      <p:sp>
        <p:nvSpPr>
          <p:cNvPr id="57" name="Shape 53"/>
          <p:cNvSpPr/>
          <p:nvPr/>
        </p:nvSpPr>
        <p:spPr>
          <a:xfrm>
            <a:off x="8595360" y="3584448"/>
            <a:ext cx="658368" cy="109728"/>
          </a:xfrm>
          <a:prstGeom prst="rect">
            <a:avLst/>
          </a:prstGeom>
          <a:solidFill>
            <a:srgbClr val="E6ECF2"/>
          </a:solidFill>
          <a:ln w="8890">
            <a:solidFill>
              <a:srgbClr val="E6ECF2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8595360" y="3584448"/>
            <a:ext cx="658368" cy="109728"/>
          </a:xfrm>
          <a:prstGeom prst="rect">
            <a:avLst/>
          </a:prstGeom>
          <a:solidFill>
            <a:srgbClr val="6D5BD0"/>
          </a:solidFill>
          <a:ln w="8890">
            <a:solidFill>
              <a:srgbClr val="6D5BD0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9326880" y="3547872"/>
            <a:ext cx="6583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25.0</a:t>
            </a:r>
            <a:endParaRPr lang="en-US" sz="780" dirty="0"/>
          </a:p>
        </p:txBody>
      </p:sp>
      <p:sp>
        <p:nvSpPr>
          <p:cNvPr id="60" name="Text 56"/>
          <p:cNvSpPr/>
          <p:nvPr/>
        </p:nvSpPr>
        <p:spPr>
          <a:xfrm>
            <a:off x="6784848" y="3867912"/>
            <a:ext cx="1737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Log-odds</a:t>
            </a:r>
            <a:endParaRPr lang="en-US" sz="800" dirty="0"/>
          </a:p>
        </p:txBody>
      </p:sp>
      <p:sp>
        <p:nvSpPr>
          <p:cNvPr id="61" name="Shape 57"/>
          <p:cNvSpPr/>
          <p:nvPr/>
        </p:nvSpPr>
        <p:spPr>
          <a:xfrm>
            <a:off x="8595360" y="3895344"/>
            <a:ext cx="658368" cy="109728"/>
          </a:xfrm>
          <a:prstGeom prst="rect">
            <a:avLst/>
          </a:prstGeom>
          <a:solidFill>
            <a:srgbClr val="E6ECF2"/>
          </a:solidFill>
          <a:ln w="8890">
            <a:solidFill>
              <a:srgbClr val="E6ECF2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8595360" y="3895344"/>
            <a:ext cx="500360" cy="109728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9326880" y="3858768"/>
            <a:ext cx="6583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19.0</a:t>
            </a:r>
            <a:endParaRPr lang="en-US" sz="780" dirty="0"/>
          </a:p>
        </p:txBody>
      </p:sp>
      <p:sp>
        <p:nvSpPr>
          <p:cNvPr id="64" name="Text 60"/>
          <p:cNvSpPr/>
          <p:nvPr/>
        </p:nvSpPr>
        <p:spPr>
          <a:xfrm>
            <a:off x="6784848" y="4178808"/>
            <a:ext cx="1737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Scan-to-map</a:t>
            </a:r>
            <a:endParaRPr lang="en-US" sz="800" dirty="0"/>
          </a:p>
        </p:txBody>
      </p:sp>
      <p:sp>
        <p:nvSpPr>
          <p:cNvPr id="65" name="Shape 61"/>
          <p:cNvSpPr/>
          <p:nvPr/>
        </p:nvSpPr>
        <p:spPr>
          <a:xfrm>
            <a:off x="8595360" y="4206240"/>
            <a:ext cx="658368" cy="109728"/>
          </a:xfrm>
          <a:prstGeom prst="rect">
            <a:avLst/>
          </a:prstGeom>
          <a:solidFill>
            <a:srgbClr val="E6ECF2"/>
          </a:solidFill>
          <a:ln w="8890">
            <a:solidFill>
              <a:srgbClr val="E6ECF2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8595360" y="4206240"/>
            <a:ext cx="632033" cy="109728"/>
          </a:xfrm>
          <a:prstGeom prst="rect">
            <a:avLst/>
          </a:prstGeom>
          <a:solidFill>
            <a:srgbClr val="1F7A8C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9326880" y="4169664"/>
            <a:ext cx="6583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24.0</a:t>
            </a:r>
            <a:endParaRPr lang="en-US" sz="780" dirty="0"/>
          </a:p>
        </p:txBody>
      </p:sp>
      <p:sp>
        <p:nvSpPr>
          <p:cNvPr id="68" name="Shape 64"/>
          <p:cNvSpPr/>
          <p:nvPr/>
        </p:nvSpPr>
        <p:spPr>
          <a:xfrm>
            <a:off x="8823960" y="4315968"/>
            <a:ext cx="2331720" cy="1298448"/>
          </a:xfrm>
          <a:prstGeom prst="roundRect">
            <a:avLst>
              <a:gd name="adj" fmla="val 8451"/>
            </a:avLst>
          </a:prstGeom>
          <a:solidFill>
            <a:srgbClr val="071826"/>
          </a:solidFill>
          <a:ln w="9525">
            <a:solidFill>
              <a:srgbClr val="071826"/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9025128" y="4480560"/>
            <a:ext cx="192938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</a:t>
            </a:r>
            <a:endParaRPr lang="en-US" sz="720" dirty="0"/>
          </a:p>
        </p:txBody>
      </p:sp>
      <p:sp>
        <p:nvSpPr>
          <p:cNvPr id="70" name="Text 66"/>
          <p:cNvSpPr/>
          <p:nvPr/>
        </p:nvSpPr>
        <p:spPr>
          <a:xfrm>
            <a:off x="9025128" y="4754880"/>
            <a:ext cx="1929384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Kalman mantiene el menor error de pose. Submapas tarda más, pero deja más actividad de mapa y activa recuperación una vez.</a:t>
            </a:r>
            <a:endParaRPr lang="en-US" sz="112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Comparación Fase 2: trayectorias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AF7F4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 misión T1/T2, mismos obstáculos dinámicos y cuatro estimadores SLAM.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658368" y="1353312"/>
            <a:ext cx="5742432" cy="4517136"/>
          </a:xfrm>
          <a:prstGeom prst="roundRect">
            <a:avLst>
              <a:gd name="adj" fmla="val 1417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8368" y="1353312"/>
            <a:ext cx="50292" cy="4517136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1472184"/>
            <a:ext cx="54132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trayectorias finales y rasgos detectados</a:t>
            </a:r>
            <a:endParaRPr lang="en-US" sz="800" dirty="0"/>
          </a:p>
        </p:txBody>
      </p:sp>
      <p:pic>
        <p:nvPicPr>
          <p:cNvPr id="36" name="Image 0" descr="C:\Users\walla\Documents\Master VIU\C9_SistRobMoviles\viu-mrob-sistemas-roboticos-moviles\actividad2\slides\assets\phase2_unknown_trajectory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475" y="1700784"/>
            <a:ext cx="4444218" cy="4078224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6839712" y="1481328"/>
            <a:ext cx="21488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</a:t>
            </a:r>
            <a:endParaRPr lang="en-US" sz="1550" dirty="0"/>
          </a:p>
        </p:txBody>
      </p:sp>
      <p:sp>
        <p:nvSpPr>
          <p:cNvPr id="38" name="Shape 35"/>
          <p:cNvSpPr/>
          <p:nvPr/>
        </p:nvSpPr>
        <p:spPr>
          <a:xfrm>
            <a:off x="6876288" y="2011680"/>
            <a:ext cx="91440" cy="91440"/>
          </a:xfrm>
          <a:prstGeom prst="ellipse">
            <a:avLst/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114032" y="1938528"/>
            <a:ext cx="40233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Kalman mantiene la trayectoria más estable en error de pose.</a:t>
            </a:r>
            <a:endParaRPr lang="en-US" sz="910" dirty="0"/>
          </a:p>
        </p:txBody>
      </p:sp>
      <p:sp>
        <p:nvSpPr>
          <p:cNvPr id="40" name="Shape 37"/>
          <p:cNvSpPr/>
          <p:nvPr/>
        </p:nvSpPr>
        <p:spPr>
          <a:xfrm>
            <a:off x="6876288" y="2523744"/>
            <a:ext cx="91440" cy="91440"/>
          </a:xfrm>
          <a:prstGeom prst="ellipse">
            <a:avLst/>
          </a:prstGeom>
          <a:solidFill>
            <a:srgbClr val="1F7A8C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114032" y="2450592"/>
            <a:ext cx="40233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Scan-to-map y log-odds siguen una ruta cercana, con más dispersión local.</a:t>
            </a:r>
            <a:endParaRPr lang="en-US" sz="910" dirty="0"/>
          </a:p>
        </p:txBody>
      </p:sp>
      <p:sp>
        <p:nvSpPr>
          <p:cNvPr id="42" name="Shape 39"/>
          <p:cNvSpPr/>
          <p:nvPr/>
        </p:nvSpPr>
        <p:spPr>
          <a:xfrm>
            <a:off x="6876288" y="3035808"/>
            <a:ext cx="91440" cy="91440"/>
          </a:xfrm>
          <a:prstGeom prst="ellipse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14032" y="2962656"/>
            <a:ext cx="40233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Submapas añade cierres simplificados y más estructura.</a:t>
            </a:r>
            <a:endParaRPr lang="en-US" sz="910" dirty="0"/>
          </a:p>
        </p:txBody>
      </p:sp>
      <p:sp>
        <p:nvSpPr>
          <p:cNvPr id="44" name="Shape 41"/>
          <p:cNvSpPr/>
          <p:nvPr/>
        </p:nvSpPr>
        <p:spPr>
          <a:xfrm>
            <a:off x="6876288" y="3547872"/>
            <a:ext cx="91440" cy="91440"/>
          </a:xfrm>
          <a:prstGeom prst="ellipse">
            <a:avLst/>
          </a:prstGeom>
          <a:solidFill>
            <a:srgbClr val="C97A5C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114032" y="3474720"/>
            <a:ext cx="40233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pallet dinámico modifica el recorrido sin cambiar la misión.</a:t>
            </a:r>
            <a:endParaRPr lang="en-US" sz="910" dirty="0"/>
          </a:p>
        </p:txBody>
      </p:sp>
      <p:sp>
        <p:nvSpPr>
          <p:cNvPr id="46" name="Shape 43"/>
          <p:cNvSpPr/>
          <p:nvPr/>
        </p:nvSpPr>
        <p:spPr>
          <a:xfrm>
            <a:off x="6858000" y="4315968"/>
            <a:ext cx="1572768" cy="960120"/>
          </a:xfrm>
          <a:prstGeom prst="roundRect">
            <a:avLst>
              <a:gd name="adj" fmla="val 6667"/>
            </a:avLst>
          </a:prstGeom>
          <a:solidFill>
            <a:srgbClr val="F0EEFB"/>
          </a:solidFill>
          <a:ln w="5334">
            <a:solidFill>
              <a:srgbClr val="6D5BD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6858000" y="4315968"/>
            <a:ext cx="50292" cy="96012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858000" y="4315968"/>
            <a:ext cx="73152" cy="960120"/>
          </a:xfrm>
          <a:prstGeom prst="rect">
            <a:avLst/>
          </a:prstGeom>
          <a:solidFill>
            <a:srgbClr val="6D5BD0"/>
          </a:solidFill>
          <a:ln w="8890">
            <a:solidFill>
              <a:srgbClr val="6D5BD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022592" y="4434840"/>
            <a:ext cx="124358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6D5B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50" dirty="0"/>
          </a:p>
        </p:txBody>
      </p:sp>
      <p:sp>
        <p:nvSpPr>
          <p:cNvPr id="50" name="Text 47"/>
          <p:cNvSpPr/>
          <p:nvPr/>
        </p:nvSpPr>
        <p:spPr>
          <a:xfrm>
            <a:off x="7022592" y="4764024"/>
            <a:ext cx="124358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modos</a:t>
            </a:r>
            <a:endParaRPr lang="en-US" sz="870" dirty="0"/>
          </a:p>
        </p:txBody>
      </p:sp>
      <p:sp>
        <p:nvSpPr>
          <p:cNvPr id="51" name="Text 48"/>
          <p:cNvSpPr/>
          <p:nvPr/>
        </p:nvSpPr>
        <p:spPr>
          <a:xfrm>
            <a:off x="7022592" y="4965192"/>
            <a:ext cx="12435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 comparados</a:t>
            </a:r>
            <a:endParaRPr lang="en-US" sz="770" dirty="0"/>
          </a:p>
        </p:txBody>
      </p:sp>
      <p:sp>
        <p:nvSpPr>
          <p:cNvPr id="52" name="Shape 49"/>
          <p:cNvSpPr/>
          <p:nvPr/>
        </p:nvSpPr>
        <p:spPr>
          <a:xfrm>
            <a:off x="8668512" y="4315968"/>
            <a:ext cx="1572768" cy="960120"/>
          </a:xfrm>
          <a:prstGeom prst="roundRect">
            <a:avLst>
              <a:gd name="adj" fmla="val 6667"/>
            </a:avLst>
          </a:prstGeom>
          <a:solidFill>
            <a:srgbClr val="FBE8DF"/>
          </a:solidFill>
          <a:ln w="5334">
            <a:solidFill>
              <a:srgbClr val="C97A5C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8668512" y="4315968"/>
            <a:ext cx="50292" cy="960120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668512" y="4315968"/>
            <a:ext cx="73152" cy="9601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833104" y="4434840"/>
            <a:ext cx="124358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C97A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17-25</a:t>
            </a:r>
            <a:endParaRPr lang="en-US" sz="1850" dirty="0"/>
          </a:p>
        </p:txBody>
      </p:sp>
      <p:sp>
        <p:nvSpPr>
          <p:cNvPr id="56" name="Text 53"/>
          <p:cNvSpPr/>
          <p:nvPr/>
        </p:nvSpPr>
        <p:spPr>
          <a:xfrm>
            <a:off x="8833104" y="4764024"/>
            <a:ext cx="124358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replans</a:t>
            </a:r>
            <a:endParaRPr lang="en-US" sz="870" dirty="0"/>
          </a:p>
        </p:txBody>
      </p:sp>
      <p:sp>
        <p:nvSpPr>
          <p:cNvPr id="57" name="Text 54"/>
          <p:cNvSpPr/>
          <p:nvPr/>
        </p:nvSpPr>
        <p:spPr>
          <a:xfrm>
            <a:off x="8833104" y="4965192"/>
            <a:ext cx="12435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rango observado</a:t>
            </a:r>
            <a:endParaRPr lang="en-US" sz="770" dirty="0"/>
          </a:p>
        </p:txBody>
      </p:sp>
      <p:sp>
        <p:nvSpPr>
          <p:cNvPr id="58" name="Shape 55"/>
          <p:cNvSpPr/>
          <p:nvPr/>
        </p:nvSpPr>
        <p:spPr>
          <a:xfrm>
            <a:off x="6858000" y="5303520"/>
            <a:ext cx="1572768" cy="960120"/>
          </a:xfrm>
          <a:prstGeom prst="roundRect">
            <a:avLst>
              <a:gd name="adj" fmla="val 6667"/>
            </a:avLst>
          </a:prstGeom>
          <a:solidFill>
            <a:srgbClr val="E6F4F6"/>
          </a:solidFill>
          <a:ln w="5334">
            <a:solidFill>
              <a:srgbClr val="1F7A8C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6858000" y="5303520"/>
            <a:ext cx="50292" cy="96012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6858000" y="5303520"/>
            <a:ext cx="73152" cy="960120"/>
          </a:xfrm>
          <a:prstGeom prst="rect">
            <a:avLst/>
          </a:prstGeom>
          <a:solidFill>
            <a:srgbClr val="1F7A8C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022592" y="5422392"/>
            <a:ext cx="124358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F7A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9-10</a:t>
            </a:r>
            <a:endParaRPr lang="en-US" sz="1850" dirty="0"/>
          </a:p>
        </p:txBody>
      </p:sp>
      <p:sp>
        <p:nvSpPr>
          <p:cNvPr id="62" name="Text 59"/>
          <p:cNvSpPr/>
          <p:nvPr/>
        </p:nvSpPr>
        <p:spPr>
          <a:xfrm>
            <a:off x="7022592" y="5751576"/>
            <a:ext cx="124358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cruces</a:t>
            </a:r>
            <a:endParaRPr lang="en-US" sz="870" dirty="0"/>
          </a:p>
        </p:txBody>
      </p:sp>
      <p:sp>
        <p:nvSpPr>
          <p:cNvPr id="63" name="Text 60"/>
          <p:cNvSpPr/>
          <p:nvPr/>
        </p:nvSpPr>
        <p:spPr>
          <a:xfrm>
            <a:off x="7022592" y="5952744"/>
            <a:ext cx="12435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dinámicos</a:t>
            </a:r>
            <a:endParaRPr lang="en-US" sz="770" dirty="0"/>
          </a:p>
        </p:txBody>
      </p:sp>
      <p:sp>
        <p:nvSpPr>
          <p:cNvPr id="64" name="Shape 61"/>
          <p:cNvSpPr/>
          <p:nvPr/>
        </p:nvSpPr>
        <p:spPr>
          <a:xfrm>
            <a:off x="8668512" y="5303520"/>
            <a:ext cx="1572768" cy="960120"/>
          </a:xfrm>
          <a:prstGeom prst="roundRect">
            <a:avLst>
              <a:gd name="adj" fmla="val 6667"/>
            </a:avLst>
          </a:prstGeom>
          <a:solidFill>
            <a:srgbClr val="EAF7F4"/>
          </a:solidFill>
          <a:ln w="5334">
            <a:solidFill>
              <a:srgbClr val="2A9D8F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5" name="Shape 62"/>
          <p:cNvSpPr/>
          <p:nvPr/>
        </p:nvSpPr>
        <p:spPr>
          <a:xfrm>
            <a:off x="8668512" y="5303520"/>
            <a:ext cx="50292" cy="9601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8668512" y="5303520"/>
            <a:ext cx="73152" cy="96012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8833104" y="5422392"/>
            <a:ext cx="124358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0-1</a:t>
            </a:r>
            <a:endParaRPr lang="en-US" sz="1850" dirty="0"/>
          </a:p>
        </p:txBody>
      </p:sp>
      <p:sp>
        <p:nvSpPr>
          <p:cNvPr id="68" name="Text 65"/>
          <p:cNvSpPr/>
          <p:nvPr/>
        </p:nvSpPr>
        <p:spPr>
          <a:xfrm>
            <a:off x="8833104" y="5751576"/>
            <a:ext cx="124358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</a:t>
            </a:r>
            <a:endParaRPr lang="en-US" sz="870" dirty="0"/>
          </a:p>
        </p:txBody>
      </p:sp>
      <p:sp>
        <p:nvSpPr>
          <p:cNvPr id="69" name="Text 66"/>
          <p:cNvSpPr/>
          <p:nvPr/>
        </p:nvSpPr>
        <p:spPr>
          <a:xfrm>
            <a:off x="8833104" y="5952744"/>
            <a:ext cx="12435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recuperaciones</a:t>
            </a:r>
            <a:endParaRPr lang="en-US" sz="77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Comparación Fase 2: cobertura temporal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AF7F4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cobertura de mapa se registra durante la ejecución y compara la velocidad de descubrimiento.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658368" y="1298448"/>
            <a:ext cx="8211312" cy="4443984"/>
          </a:xfrm>
          <a:prstGeom prst="roundRect">
            <a:avLst>
              <a:gd name="adj" fmla="val 1440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8368" y="1298448"/>
            <a:ext cx="50292" cy="4443984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1417320"/>
            <a:ext cx="788212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curva de cobertura de mapa</a:t>
            </a:r>
            <a:endParaRPr lang="en-US" sz="800" dirty="0"/>
          </a:p>
        </p:txBody>
      </p:sp>
      <p:pic>
        <p:nvPicPr>
          <p:cNvPr id="36" name="Image 0" descr="C:\Users\walla\Documents\Master VIU\C9_SistRobMoviles\viu-mrob-sistemas-roboticos-moviles\actividad2\slides\assets\phase2_unknown_evidence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16" y="1645920"/>
            <a:ext cx="7351415" cy="400507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9308592" y="1499616"/>
            <a:ext cx="17830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Comportamiento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9308592" y="1901952"/>
            <a:ext cx="210312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grids suben rápido al inicio. Kalman descubre rasgos más despacio, pero termina cerca del mismo rango de cobertura.</a:t>
            </a:r>
            <a:endParaRPr lang="en-US" sz="880" dirty="0"/>
          </a:p>
        </p:txBody>
      </p:sp>
      <p:sp>
        <p:nvSpPr>
          <p:cNvPr id="39" name="Shape 36"/>
          <p:cNvSpPr/>
          <p:nvPr/>
        </p:nvSpPr>
        <p:spPr>
          <a:xfrm>
            <a:off x="9308592" y="3255264"/>
            <a:ext cx="1755648" cy="960120"/>
          </a:xfrm>
          <a:prstGeom prst="roundRect">
            <a:avLst>
              <a:gd name="adj" fmla="val 6667"/>
            </a:avLst>
          </a:prstGeom>
          <a:solidFill>
            <a:srgbClr val="E6F4F6"/>
          </a:solidFill>
          <a:ln w="5334">
            <a:solidFill>
              <a:srgbClr val="1F7A8C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9308592" y="3255264"/>
            <a:ext cx="50292" cy="96012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308592" y="3255264"/>
            <a:ext cx="73152" cy="960120"/>
          </a:xfrm>
          <a:prstGeom prst="rect">
            <a:avLst/>
          </a:prstGeom>
          <a:solidFill>
            <a:srgbClr val="1F7A8C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473184" y="3374136"/>
            <a:ext cx="142646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F7A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5,1 s</a:t>
            </a:r>
            <a:endParaRPr lang="en-US" sz="1850" dirty="0"/>
          </a:p>
        </p:txBody>
      </p:sp>
      <p:sp>
        <p:nvSpPr>
          <p:cNvPr id="43" name="Text 40"/>
          <p:cNvSpPr/>
          <p:nvPr/>
        </p:nvSpPr>
        <p:spPr>
          <a:xfrm>
            <a:off x="9473184" y="3703320"/>
            <a:ext cx="142646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75 % cobertura</a:t>
            </a:r>
            <a:endParaRPr lang="en-US" sz="870" dirty="0"/>
          </a:p>
        </p:txBody>
      </p:sp>
      <p:sp>
        <p:nvSpPr>
          <p:cNvPr id="44" name="Text 41"/>
          <p:cNvSpPr/>
          <p:nvPr/>
        </p:nvSpPr>
        <p:spPr>
          <a:xfrm>
            <a:off x="9473184" y="3904488"/>
            <a:ext cx="142646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log-odds / scan-to-map</a:t>
            </a:r>
            <a:endParaRPr lang="en-US" sz="770" dirty="0"/>
          </a:p>
        </p:txBody>
      </p:sp>
      <p:sp>
        <p:nvSpPr>
          <p:cNvPr id="45" name="Shape 42"/>
          <p:cNvSpPr/>
          <p:nvPr/>
        </p:nvSpPr>
        <p:spPr>
          <a:xfrm>
            <a:off x="9308592" y="4370832"/>
            <a:ext cx="1755648" cy="960120"/>
          </a:xfrm>
          <a:prstGeom prst="roundRect">
            <a:avLst>
              <a:gd name="adj" fmla="val 6667"/>
            </a:avLst>
          </a:prstGeom>
          <a:solidFill>
            <a:srgbClr val="FBE8DF"/>
          </a:solidFill>
          <a:ln w="5334">
            <a:solidFill>
              <a:srgbClr val="C97A5C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9308592" y="4370832"/>
            <a:ext cx="50292" cy="960120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308592" y="4370832"/>
            <a:ext cx="73152" cy="9601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473184" y="4489704"/>
            <a:ext cx="142646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C97A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98,55 s</a:t>
            </a:r>
            <a:endParaRPr lang="en-US" sz="1850" dirty="0"/>
          </a:p>
        </p:txBody>
      </p:sp>
      <p:sp>
        <p:nvSpPr>
          <p:cNvPr id="49" name="Text 46"/>
          <p:cNvSpPr/>
          <p:nvPr/>
        </p:nvSpPr>
        <p:spPr>
          <a:xfrm>
            <a:off x="9473184" y="4818888"/>
            <a:ext cx="142646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75 % Kalman</a:t>
            </a:r>
            <a:endParaRPr lang="en-US" sz="870" dirty="0"/>
          </a:p>
        </p:txBody>
      </p:sp>
      <p:sp>
        <p:nvSpPr>
          <p:cNvPr id="50" name="Text 47"/>
          <p:cNvSpPr/>
          <p:nvPr/>
        </p:nvSpPr>
        <p:spPr>
          <a:xfrm>
            <a:off x="9473184" y="5020056"/>
            <a:ext cx="142646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crecimiento gradual</a:t>
            </a:r>
            <a:endParaRPr lang="en-US" sz="77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Comparación Fase 2: cobertura final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AF7F4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Todos los métodos quedan cerca del 95 % de cobertura final, con diferencias pequeñas pero medibles.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33/39</a:t>
            </a:r>
            <a:endParaRPr lang="en-US" sz="690" dirty="0"/>
          </a:p>
        </p:txBody>
      </p:sp>
      <p:sp>
        <p:nvSpPr>
          <p:cNvPr id="33" name="Text 31"/>
          <p:cNvSpPr/>
          <p:nvPr/>
        </p:nvSpPr>
        <p:spPr>
          <a:xfrm>
            <a:off x="896112" y="1709928"/>
            <a:ext cx="2103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Submapas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3182112" y="1700784"/>
            <a:ext cx="7498080" cy="256032"/>
          </a:xfrm>
          <a:prstGeom prst="rect">
            <a:avLst/>
          </a:prstGeom>
          <a:solidFill>
            <a:srgbClr val="E6ECF2"/>
          </a:solidFill>
          <a:ln w="8890">
            <a:solidFill>
              <a:srgbClr val="E6EC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82112" y="1700784"/>
            <a:ext cx="7445515" cy="256032"/>
          </a:xfrm>
          <a:prstGeom prst="rect">
            <a:avLst/>
          </a:prstGeom>
          <a:solidFill>
            <a:srgbClr val="6D5BD0"/>
          </a:solidFill>
          <a:ln w="8890">
            <a:solidFill>
              <a:srgbClr val="6D5B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899648" y="1636776"/>
            <a:ext cx="9144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124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95,327 %</a:t>
            </a:r>
            <a:endParaRPr lang="en-US" sz="1240" dirty="0"/>
          </a:p>
        </p:txBody>
      </p:sp>
      <p:sp>
        <p:nvSpPr>
          <p:cNvPr id="37" name="Text 35"/>
          <p:cNvSpPr/>
          <p:nvPr/>
        </p:nvSpPr>
        <p:spPr>
          <a:xfrm>
            <a:off x="896112" y="2423160"/>
            <a:ext cx="2103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Scan-to-map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3182112" y="2414016"/>
            <a:ext cx="7498080" cy="256032"/>
          </a:xfrm>
          <a:prstGeom prst="rect">
            <a:avLst/>
          </a:prstGeom>
          <a:solidFill>
            <a:srgbClr val="E6ECF2"/>
          </a:solidFill>
          <a:ln w="8890">
            <a:solidFill>
              <a:srgbClr val="E6EC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82112" y="2414016"/>
            <a:ext cx="7414508" cy="256032"/>
          </a:xfrm>
          <a:prstGeom prst="rect">
            <a:avLst/>
          </a:prstGeom>
          <a:solidFill>
            <a:srgbClr val="1F7A8C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899648" y="2350008"/>
            <a:ext cx="9144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124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94,930 %</a:t>
            </a:r>
            <a:endParaRPr lang="en-US" sz="1240" dirty="0"/>
          </a:p>
        </p:txBody>
      </p:sp>
      <p:sp>
        <p:nvSpPr>
          <p:cNvPr id="41" name="Text 39"/>
          <p:cNvSpPr/>
          <p:nvPr/>
        </p:nvSpPr>
        <p:spPr>
          <a:xfrm>
            <a:off x="896112" y="3136392"/>
            <a:ext cx="2103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Log-odds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3182112" y="3127248"/>
            <a:ext cx="7498080" cy="256032"/>
          </a:xfrm>
          <a:prstGeom prst="rect">
            <a:avLst/>
          </a:prstGeom>
          <a:solidFill>
            <a:srgbClr val="E6ECF2"/>
          </a:solidFill>
          <a:ln w="8890">
            <a:solidFill>
              <a:srgbClr val="E6EC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182112" y="3127248"/>
            <a:ext cx="7408337" cy="25603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899648" y="3063240"/>
            <a:ext cx="9144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124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94,851 %</a:t>
            </a:r>
            <a:endParaRPr lang="en-US" sz="1240" dirty="0"/>
          </a:p>
        </p:txBody>
      </p:sp>
      <p:sp>
        <p:nvSpPr>
          <p:cNvPr id="45" name="Text 43"/>
          <p:cNvSpPr/>
          <p:nvPr/>
        </p:nvSpPr>
        <p:spPr>
          <a:xfrm>
            <a:off x="896112" y="3849624"/>
            <a:ext cx="21031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Kalman landmark</a:t>
            </a:r>
            <a:endParaRPr lang="en-US" sz="940" dirty="0"/>
          </a:p>
        </p:txBody>
      </p:sp>
      <p:sp>
        <p:nvSpPr>
          <p:cNvPr id="46" name="Shape 44"/>
          <p:cNvSpPr/>
          <p:nvPr/>
        </p:nvSpPr>
        <p:spPr>
          <a:xfrm>
            <a:off x="3182112" y="3840480"/>
            <a:ext cx="7498080" cy="256032"/>
          </a:xfrm>
          <a:prstGeom prst="rect">
            <a:avLst/>
          </a:prstGeom>
          <a:solidFill>
            <a:srgbClr val="E6ECF2"/>
          </a:solidFill>
          <a:ln w="8890">
            <a:solidFill>
              <a:srgbClr val="E6EC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82112" y="3840480"/>
            <a:ext cx="7389748" cy="256032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899648" y="3776472"/>
            <a:ext cx="9144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124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94,613 %</a:t>
            </a:r>
            <a:endParaRPr lang="en-US" sz="1240" dirty="0"/>
          </a:p>
        </p:txBody>
      </p:sp>
      <p:sp>
        <p:nvSpPr>
          <p:cNvPr id="49" name="Shape 47"/>
          <p:cNvSpPr/>
          <p:nvPr/>
        </p:nvSpPr>
        <p:spPr>
          <a:xfrm>
            <a:off x="877824" y="4937760"/>
            <a:ext cx="9875520" cy="676656"/>
          </a:xfrm>
          <a:prstGeom prst="roundRect">
            <a:avLst>
              <a:gd name="adj" fmla="val 16216"/>
            </a:avLst>
          </a:prstGeom>
          <a:solidFill>
            <a:srgbClr val="071826"/>
          </a:solidFill>
          <a:ln w="9525">
            <a:solidFill>
              <a:srgbClr val="0718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78992" y="5102352"/>
            <a:ext cx="947318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1078992" y="5376672"/>
            <a:ext cx="947318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Submapas alcanza la mayor cobertura final; la diferencia frente a scan-to-map y log-odds es menor a medio punto porcentual.</a:t>
            </a:r>
            <a:endParaRPr lang="en-US" sz="11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desconocido y obstáculos dinámicos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AF7F4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escena introduce zonas no observadas y obstáculos que obligan a replanificar.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658368" y="1298448"/>
            <a:ext cx="7086600" cy="4443984"/>
          </a:xfrm>
          <a:prstGeom prst="roundRect">
            <a:avLst>
              <a:gd name="adj" fmla="val 1440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8368" y="1298448"/>
            <a:ext cx="50292" cy="444398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1417320"/>
            <a:ext cx="675741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y obstáculos</a:t>
            </a:r>
            <a:endParaRPr lang="en-US" sz="800" dirty="0"/>
          </a:p>
        </p:txBody>
      </p:sp>
      <p:pic>
        <p:nvPicPr>
          <p:cNvPr id="36" name="Image 0" descr="C:\Users\walla\Documents\Master VIU\C9_SistRobMoviles\viu-mrob-sistemas-roboticos-moviles\actividad2\coppeliasim\phase2_slam_logs\phase2_slam_unknown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787" y="1645920"/>
            <a:ext cx="6579761" cy="400507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8156448" y="1481328"/>
            <a:ext cx="24231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Elementos de Fase 2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8211312" y="2048256"/>
            <a:ext cx="91440" cy="91440"/>
          </a:xfrm>
          <a:prstGeom prst="ellipse">
            <a:avLst/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449056" y="1975104"/>
            <a:ext cx="28346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mapa no se inicializa completo; se revela con sensores.</a:t>
            </a:r>
            <a:endParaRPr lang="en-US" sz="880" dirty="0"/>
          </a:p>
        </p:txBody>
      </p:sp>
      <p:sp>
        <p:nvSpPr>
          <p:cNvPr id="40" name="Shape 37"/>
          <p:cNvSpPr/>
          <p:nvPr/>
        </p:nvSpPr>
        <p:spPr>
          <a:xfrm>
            <a:off x="8211312" y="2578608"/>
            <a:ext cx="91440" cy="91440"/>
          </a:xfrm>
          <a:prstGeom prst="ellipse">
            <a:avLst/>
          </a:prstGeom>
          <a:solidFill>
            <a:srgbClr val="C97A5C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449056" y="2505456"/>
            <a:ext cx="28346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pallet y el bloque temporal modifican el paso local.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8211312" y="3108960"/>
            <a:ext cx="91440" cy="91440"/>
          </a:xfrm>
          <a:prstGeom prst="ellipse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449056" y="3035808"/>
            <a:ext cx="28346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planner alterna DIRECT, SLAM_WAYPOINT y recuperación.</a:t>
            </a:r>
            <a:endParaRPr lang="en-US" sz="880" dirty="0"/>
          </a:p>
        </p:txBody>
      </p:sp>
      <p:sp>
        <p:nvSpPr>
          <p:cNvPr id="44" name="Shape 41"/>
          <p:cNvSpPr/>
          <p:nvPr/>
        </p:nvSpPr>
        <p:spPr>
          <a:xfrm>
            <a:off x="8211312" y="3639312"/>
            <a:ext cx="91440" cy="91440"/>
          </a:xfrm>
          <a:prstGeom prst="ellipse">
            <a:avLst/>
          </a:prstGeom>
          <a:solidFill>
            <a:srgbClr val="1F7A8C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449056" y="3566160"/>
            <a:ext cx="28346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misión se conserva para todos los métodos.</a:t>
            </a:r>
            <a:endParaRPr lang="en-US" sz="880" dirty="0"/>
          </a:p>
        </p:txBody>
      </p:sp>
      <p:sp>
        <p:nvSpPr>
          <p:cNvPr id="46" name="Shape 43"/>
          <p:cNvSpPr/>
          <p:nvPr/>
        </p:nvSpPr>
        <p:spPr>
          <a:xfrm>
            <a:off x="8183880" y="4828032"/>
            <a:ext cx="1700784" cy="960120"/>
          </a:xfrm>
          <a:prstGeom prst="roundRect">
            <a:avLst>
              <a:gd name="adj" fmla="val 6667"/>
            </a:avLst>
          </a:prstGeom>
          <a:solidFill>
            <a:srgbClr val="E6F4F6"/>
          </a:solidFill>
          <a:ln w="5334">
            <a:solidFill>
              <a:srgbClr val="1F7A8C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8183880" y="4828032"/>
            <a:ext cx="50292" cy="96012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183880" y="4828032"/>
            <a:ext cx="73152" cy="960120"/>
          </a:xfrm>
          <a:prstGeom prst="rect">
            <a:avLst/>
          </a:prstGeom>
          <a:solidFill>
            <a:srgbClr val="1F7A8C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348472" y="4946904"/>
            <a:ext cx="13716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F7A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9-10</a:t>
            </a:r>
            <a:endParaRPr lang="en-US" sz="1850" dirty="0"/>
          </a:p>
        </p:txBody>
      </p:sp>
      <p:sp>
        <p:nvSpPr>
          <p:cNvPr id="50" name="Text 47"/>
          <p:cNvSpPr/>
          <p:nvPr/>
        </p:nvSpPr>
        <p:spPr>
          <a:xfrm>
            <a:off x="8348472" y="5276088"/>
            <a:ext cx="13716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cruces</a:t>
            </a:r>
            <a:endParaRPr lang="en-US" sz="870" dirty="0"/>
          </a:p>
        </p:txBody>
      </p:sp>
      <p:sp>
        <p:nvSpPr>
          <p:cNvPr id="51" name="Text 48"/>
          <p:cNvSpPr/>
          <p:nvPr/>
        </p:nvSpPr>
        <p:spPr>
          <a:xfrm>
            <a:off x="8348472" y="5477256"/>
            <a:ext cx="13716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obstáculo dinámico</a:t>
            </a:r>
            <a:endParaRPr lang="en-US" sz="77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Señales exportadas por el logger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AF7F4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series temporales reconstruyen navegación, riesgo, mapa y batería.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658368" y="1298448"/>
            <a:ext cx="7479792" cy="4443984"/>
          </a:xfrm>
          <a:prstGeom prst="roundRect">
            <a:avLst>
              <a:gd name="adj" fmla="val 1440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8368" y="1298448"/>
            <a:ext cx="50292" cy="4443984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1417320"/>
            <a:ext cx="715060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series temporales exportadas</a:t>
            </a:r>
            <a:endParaRPr lang="en-US" sz="800" dirty="0"/>
          </a:p>
        </p:txBody>
      </p:sp>
      <p:pic>
        <p:nvPicPr>
          <p:cNvPr id="36" name="Image 0" descr="C:\Users\walla\Documents\Master VIU\C9_SistRobMoviles\viu-mrob-sistemas-roboticos-moviles\actividad2\coppeliasim\phase2_slam_logs\phase2_slam_unknown_sign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892" y="1645920"/>
            <a:ext cx="6426743" cy="400507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8558784" y="1481328"/>
            <a:ext cx="2011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técnico</a:t>
            </a:r>
            <a:endParaRPr lang="en-US" sz="1520" dirty="0"/>
          </a:p>
        </p:txBody>
      </p:sp>
      <p:sp>
        <p:nvSpPr>
          <p:cNvPr id="38" name="Shape 35"/>
          <p:cNvSpPr/>
          <p:nvPr/>
        </p:nvSpPr>
        <p:spPr>
          <a:xfrm>
            <a:off x="8613648" y="2048256"/>
            <a:ext cx="91440" cy="91440"/>
          </a:xfrm>
          <a:prstGeom prst="ellipse">
            <a:avLst/>
          </a:prstGeom>
          <a:solidFill>
            <a:srgbClr val="C97A5C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851392" y="1975104"/>
            <a:ext cx="26700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 cuándo aparece cada replanificación.</a:t>
            </a:r>
            <a:endParaRPr lang="en-US" sz="880" dirty="0"/>
          </a:p>
        </p:txBody>
      </p:sp>
      <p:sp>
        <p:nvSpPr>
          <p:cNvPr id="40" name="Shape 37"/>
          <p:cNvSpPr/>
          <p:nvPr/>
        </p:nvSpPr>
        <p:spPr>
          <a:xfrm>
            <a:off x="8613648" y="2578608"/>
            <a:ext cx="91440" cy="91440"/>
          </a:xfrm>
          <a:prstGeom prst="ellipse">
            <a:avLst/>
          </a:prstGeom>
          <a:solidFill>
            <a:srgbClr val="B91C1C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851392" y="2505456"/>
            <a:ext cx="26700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riesgo máximo y distancia mínima.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8613648" y="3108960"/>
            <a:ext cx="91440" cy="91440"/>
          </a:xfrm>
          <a:prstGeom prst="ellipse">
            <a:avLst/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851392" y="3035808"/>
            <a:ext cx="26700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Cruzar mapa revelado con error de pose.</a:t>
            </a:r>
            <a:endParaRPr lang="en-US" sz="880" dirty="0"/>
          </a:p>
        </p:txBody>
      </p:sp>
      <p:sp>
        <p:nvSpPr>
          <p:cNvPr id="44" name="Shape 41"/>
          <p:cNvSpPr/>
          <p:nvPr/>
        </p:nvSpPr>
        <p:spPr>
          <a:xfrm>
            <a:off x="8613648" y="3639312"/>
            <a:ext cx="91440" cy="91440"/>
          </a:xfrm>
          <a:prstGeom prst="ellipse">
            <a:avLst/>
          </a:prstGeom>
          <a:solidFill>
            <a:srgbClr val="1F7A8C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851392" y="3566160"/>
            <a:ext cx="26700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consumo de batería entre métodos.</a:t>
            </a:r>
            <a:endParaRPr lang="en-US" sz="880" dirty="0"/>
          </a:p>
        </p:txBody>
      </p:sp>
      <p:sp>
        <p:nvSpPr>
          <p:cNvPr id="46" name="Shape 43"/>
          <p:cNvSpPr/>
          <p:nvPr/>
        </p:nvSpPr>
        <p:spPr>
          <a:xfrm>
            <a:off x="8577072" y="4828032"/>
            <a:ext cx="1700784" cy="960120"/>
          </a:xfrm>
          <a:prstGeom prst="roundRect">
            <a:avLst>
              <a:gd name="adj" fmla="val 6667"/>
            </a:avLst>
          </a:prstGeom>
          <a:solidFill>
            <a:srgbClr val="F0EEFB"/>
          </a:solidFill>
          <a:ln w="5334">
            <a:solidFill>
              <a:srgbClr val="6D5BD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8577072" y="4828032"/>
            <a:ext cx="50292" cy="96012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577072" y="4828032"/>
            <a:ext cx="73152" cy="960120"/>
          </a:xfrm>
          <a:prstGeom prst="rect">
            <a:avLst/>
          </a:prstGeom>
          <a:solidFill>
            <a:srgbClr val="6D5BD0"/>
          </a:solidFill>
          <a:ln w="8890">
            <a:solidFill>
              <a:srgbClr val="6D5BD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741664" y="4946904"/>
            <a:ext cx="13716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6D5B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CSV</a:t>
            </a:r>
            <a:endParaRPr lang="en-US" sz="1850" dirty="0"/>
          </a:p>
        </p:txBody>
      </p:sp>
      <p:sp>
        <p:nvSpPr>
          <p:cNvPr id="50" name="Text 47"/>
          <p:cNvSpPr/>
          <p:nvPr/>
        </p:nvSpPr>
        <p:spPr>
          <a:xfrm>
            <a:off x="8741664" y="5276088"/>
            <a:ext cx="13716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</a:t>
            </a:r>
            <a:endParaRPr lang="en-US" sz="870" dirty="0"/>
          </a:p>
        </p:txBody>
      </p:sp>
      <p:sp>
        <p:nvSpPr>
          <p:cNvPr id="51" name="Text 48"/>
          <p:cNvSpPr/>
          <p:nvPr/>
        </p:nvSpPr>
        <p:spPr>
          <a:xfrm>
            <a:off x="8741664" y="5477256"/>
            <a:ext cx="13716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plots y tablas</a:t>
            </a:r>
            <a:endParaRPr lang="en-US" sz="77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Comparación Fase 2: métricas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AF7F4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 por estimador: error, ruta, cobertura y replanificación.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658368" y="1444752"/>
            <a:ext cx="2487168" cy="9144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1627632"/>
            <a:ext cx="15727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Kalman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822960" y="1901952"/>
            <a:ext cx="16459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0,03185 m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22960" y="2176272"/>
            <a:ext cx="201168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 RMSE y duración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447288" y="1444752"/>
            <a:ext cx="2487168" cy="914400"/>
          </a:xfrm>
          <a:prstGeom prst="roundRect">
            <a:avLst>
              <a:gd name="adj" fmla="val 12000"/>
            </a:avLst>
          </a:prstGeom>
          <a:solidFill>
            <a:srgbClr val="E6F4F6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11880" y="1627632"/>
            <a:ext cx="15727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Scan-to-map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3611880" y="1901952"/>
            <a:ext cx="16459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15,735 m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611880" y="2176272"/>
            <a:ext cx="201168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final más corta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236208" y="1444752"/>
            <a:ext cx="2487168" cy="914400"/>
          </a:xfrm>
          <a:prstGeom prst="roundRect">
            <a:avLst>
              <a:gd name="adj" fmla="val 12000"/>
            </a:avLst>
          </a:prstGeom>
          <a:solidFill>
            <a:srgbClr val="F0EEFB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1627632"/>
            <a:ext cx="15727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Submapas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6400800" y="1901952"/>
            <a:ext cx="16459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95,327 %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400800" y="2176272"/>
            <a:ext cx="201168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mayor cobertura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9025128" y="1444752"/>
            <a:ext cx="2487168" cy="914400"/>
          </a:xfrm>
          <a:prstGeom prst="roundRect">
            <a:avLst>
              <a:gd name="adj" fmla="val 12000"/>
            </a:avLst>
          </a:prstGeom>
          <a:solidFill>
            <a:srgbClr val="FBE8DF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89720" y="1627632"/>
            <a:ext cx="15727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Log-odds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9189720" y="1901952"/>
            <a:ext cx="16459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 recovery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9189720" y="2176272"/>
            <a:ext cx="201168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 estable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58368" y="2761488"/>
            <a:ext cx="5349240" cy="2139696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58368" y="2761488"/>
            <a:ext cx="50292" cy="213969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7824" y="2962656"/>
            <a:ext cx="2011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 de pose [m]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77824" y="3383280"/>
            <a:ext cx="12801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Kalman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194560" y="3410712"/>
            <a:ext cx="2651760" cy="91440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94560" y="3410712"/>
            <a:ext cx="2526538" cy="9144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19472" y="3364992"/>
            <a:ext cx="676656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0,03185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877824" y="3712464"/>
            <a:ext cx="12801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Submapas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2194560" y="3739896"/>
            <a:ext cx="2651760" cy="91440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194560" y="3739896"/>
            <a:ext cx="1429004" cy="91440"/>
          </a:xfrm>
          <a:prstGeom prst="rect">
            <a:avLst/>
          </a:prstGeom>
          <a:solidFill>
            <a:srgbClr val="6D5BD0"/>
          </a:solidFill>
          <a:ln w="8890">
            <a:solidFill>
              <a:srgbClr val="6D5BD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19472" y="3694176"/>
            <a:ext cx="676656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0,03930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877824" y="4041648"/>
            <a:ext cx="12801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Log-odds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2194560" y="4069080"/>
            <a:ext cx="2651760" cy="91440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194560" y="4069080"/>
            <a:ext cx="1001776" cy="9144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19472" y="4023360"/>
            <a:ext cx="676656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0,04220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877824" y="4370832"/>
            <a:ext cx="12801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Scan-to-map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2194560" y="4398264"/>
            <a:ext cx="2651760" cy="91440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94560" y="4398264"/>
            <a:ext cx="461112" cy="91440"/>
          </a:xfrm>
          <a:prstGeom prst="rect">
            <a:avLst/>
          </a:prstGeom>
          <a:solidFill>
            <a:srgbClr val="1F7A8C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19472" y="4352544"/>
            <a:ext cx="676656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0,04587</a:t>
            </a:r>
            <a:endParaRPr lang="en-US" sz="680" dirty="0"/>
          </a:p>
        </p:txBody>
      </p:sp>
      <p:sp>
        <p:nvSpPr>
          <p:cNvPr id="68" name="Shape 66"/>
          <p:cNvSpPr/>
          <p:nvPr/>
        </p:nvSpPr>
        <p:spPr>
          <a:xfrm>
            <a:off x="6309360" y="2761488"/>
            <a:ext cx="5349240" cy="2139696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309360" y="2761488"/>
            <a:ext cx="50292" cy="2139696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28816" y="2962656"/>
            <a:ext cx="2011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de mapa [%]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528816" y="3383280"/>
            <a:ext cx="144475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Submapas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8119872" y="3410712"/>
            <a:ext cx="2468880" cy="91440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119872" y="3410712"/>
            <a:ext cx="2451572" cy="91440"/>
          </a:xfrm>
          <a:prstGeom prst="rect">
            <a:avLst/>
          </a:prstGeom>
          <a:solidFill>
            <a:srgbClr val="6D5BD0"/>
          </a:solidFill>
          <a:ln w="8890">
            <a:solidFill>
              <a:srgbClr val="6D5BD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680192" y="3364992"/>
            <a:ext cx="676656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95,327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6528816" y="3712464"/>
            <a:ext cx="144475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Scan-to-map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8119872" y="3739896"/>
            <a:ext cx="2468880" cy="91440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119872" y="3739896"/>
            <a:ext cx="2441362" cy="91440"/>
          </a:xfrm>
          <a:prstGeom prst="rect">
            <a:avLst/>
          </a:prstGeom>
          <a:solidFill>
            <a:srgbClr val="1F7A8C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680192" y="3694176"/>
            <a:ext cx="676656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94,930</a:t>
            </a:r>
            <a:endParaRPr lang="en-US" sz="680" dirty="0"/>
          </a:p>
        </p:txBody>
      </p:sp>
      <p:sp>
        <p:nvSpPr>
          <p:cNvPr id="79" name="Text 77"/>
          <p:cNvSpPr/>
          <p:nvPr/>
        </p:nvSpPr>
        <p:spPr>
          <a:xfrm>
            <a:off x="6528816" y="4041648"/>
            <a:ext cx="144475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Log-odds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8119872" y="4069080"/>
            <a:ext cx="2468880" cy="91440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119872" y="4069080"/>
            <a:ext cx="2439331" cy="9144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680192" y="4023360"/>
            <a:ext cx="676656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94,851</a:t>
            </a:r>
            <a:endParaRPr lang="en-US" sz="680" dirty="0"/>
          </a:p>
        </p:txBody>
      </p:sp>
      <p:sp>
        <p:nvSpPr>
          <p:cNvPr id="83" name="Text 81"/>
          <p:cNvSpPr/>
          <p:nvPr/>
        </p:nvSpPr>
        <p:spPr>
          <a:xfrm>
            <a:off x="6528816" y="4370832"/>
            <a:ext cx="1444752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Kalman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8119872" y="4398264"/>
            <a:ext cx="2468880" cy="91440"/>
          </a:xfrm>
          <a:prstGeom prst="rect">
            <a:avLst/>
          </a:prstGeom>
          <a:solidFill>
            <a:srgbClr val="E7EDF4"/>
          </a:solidFill>
          <a:ln w="8890">
            <a:solidFill>
              <a:srgbClr val="E7EDF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119872" y="4398264"/>
            <a:ext cx="2433210" cy="9144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680192" y="4352544"/>
            <a:ext cx="676656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94,613</a:t>
            </a:r>
            <a:endParaRPr lang="en-US" sz="680" dirty="0"/>
          </a:p>
        </p:txBody>
      </p:sp>
      <p:sp>
        <p:nvSpPr>
          <p:cNvPr id="87" name="Shape 85"/>
          <p:cNvSpPr/>
          <p:nvPr/>
        </p:nvSpPr>
        <p:spPr>
          <a:xfrm>
            <a:off x="841248" y="5285232"/>
            <a:ext cx="10607040" cy="603504"/>
          </a:xfrm>
          <a:prstGeom prst="roundRect">
            <a:avLst>
              <a:gd name="adj" fmla="val 18182"/>
            </a:avLst>
          </a:prstGeom>
          <a:solidFill>
            <a:srgbClr val="071826"/>
          </a:solidFill>
          <a:ln w="9525">
            <a:solidFill>
              <a:srgbClr val="07182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42416" y="5449824"/>
            <a:ext cx="1020470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720" dirty="0"/>
          </a:p>
        </p:txBody>
      </p:sp>
      <p:sp>
        <p:nvSpPr>
          <p:cNvPr id="89" name="Text 87"/>
          <p:cNvSpPr/>
          <p:nvPr/>
        </p:nvSpPr>
        <p:spPr>
          <a:xfrm>
            <a:off x="1042416" y="5724144"/>
            <a:ext cx="10204704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Kalman queda primero por error y tiempo; submapas gana cobertura; scan-to-map acorta ruta; log-odds queda como referencia de grid.</a:t>
            </a:r>
            <a:endParaRPr lang="en-US" sz="112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reconstrucción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común en t = 60 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AF7F4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cuatro modos se comparan en el mismo instante de Fase 2 usando los rayos de proximidad como fuente de mapa.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640080" y="1325880"/>
            <a:ext cx="1092708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" y="1325880"/>
            <a:ext cx="50292" cy="4526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1444752"/>
            <a:ext cx="1059789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reconstrucción LiDAR/SLAM con rayos de proximidad</a:t>
            </a:r>
            <a:endParaRPr lang="en-US" sz="800" dirty="0"/>
          </a:p>
        </p:txBody>
      </p:sp>
      <p:pic>
        <p:nvPicPr>
          <p:cNvPr id="36" name="Image 0" descr="C:\Users\walla\Documents\Master VIU\C9_SistRobMoviles\viu-mrob-sistemas-roboticos-moviles\actividad2\coppeliasim\phase2_slam_logs\phase2_slam_unknown_reconstruction_t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8752" y="1673352"/>
            <a:ext cx="6409736" cy="4087368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841248" y="5833872"/>
            <a:ext cx="2240280" cy="960120"/>
          </a:xfrm>
          <a:prstGeom prst="roundRect">
            <a:avLst>
              <a:gd name="adj" fmla="val 6667"/>
            </a:avLst>
          </a:prstGeom>
          <a:solidFill>
            <a:srgbClr val="F0EEFB"/>
          </a:solidFill>
          <a:ln w="5334">
            <a:solidFill>
              <a:srgbClr val="6D5BD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841248" y="5833872"/>
            <a:ext cx="50292" cy="96012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41248" y="5833872"/>
            <a:ext cx="73152" cy="960120"/>
          </a:xfrm>
          <a:prstGeom prst="rect">
            <a:avLst/>
          </a:prstGeom>
          <a:solidFill>
            <a:srgbClr val="6D5BD0"/>
          </a:solidFill>
          <a:ln w="8890">
            <a:solidFill>
              <a:srgbClr val="6D5BD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5840" y="5952744"/>
            <a:ext cx="191109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6D5B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modos</a:t>
            </a:r>
            <a:endParaRPr lang="en-US" sz="1850" dirty="0"/>
          </a:p>
        </p:txBody>
      </p:sp>
      <p:sp>
        <p:nvSpPr>
          <p:cNvPr id="41" name="Text 38"/>
          <p:cNvSpPr/>
          <p:nvPr/>
        </p:nvSpPr>
        <p:spPr>
          <a:xfrm>
            <a:off x="1005840" y="6281928"/>
            <a:ext cx="191109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</a:t>
            </a:r>
            <a:endParaRPr lang="en-US" sz="870" dirty="0"/>
          </a:p>
        </p:txBody>
      </p:sp>
      <p:sp>
        <p:nvSpPr>
          <p:cNvPr id="42" name="Text 39"/>
          <p:cNvSpPr/>
          <p:nvPr/>
        </p:nvSpPr>
        <p:spPr>
          <a:xfrm>
            <a:off x="1005840" y="6483096"/>
            <a:ext cx="191109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Kalman, log-odds, scan-to-map y submapas</a:t>
            </a:r>
            <a:endParaRPr lang="en-US" sz="770" dirty="0"/>
          </a:p>
        </p:txBody>
      </p:sp>
      <p:sp>
        <p:nvSpPr>
          <p:cNvPr id="43" name="Shape 40"/>
          <p:cNvSpPr/>
          <p:nvPr/>
        </p:nvSpPr>
        <p:spPr>
          <a:xfrm>
            <a:off x="3520440" y="5833872"/>
            <a:ext cx="2240280" cy="960120"/>
          </a:xfrm>
          <a:prstGeom prst="roundRect">
            <a:avLst>
              <a:gd name="adj" fmla="val 6667"/>
            </a:avLst>
          </a:prstGeom>
          <a:solidFill>
            <a:srgbClr val="EAF7F4"/>
          </a:solidFill>
          <a:ln w="5334">
            <a:solidFill>
              <a:srgbClr val="2A9D8F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3520440" y="5833872"/>
            <a:ext cx="50292" cy="9601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520440" y="5833872"/>
            <a:ext cx="73152" cy="960120"/>
          </a:xfrm>
          <a:prstGeom prst="rect">
            <a:avLst/>
          </a:prstGeom>
          <a:solidFill>
            <a:srgbClr val="2A9D8F"/>
          </a:solidFill>
          <a:ln w="8890">
            <a:solidFill>
              <a:srgbClr val="2A9D8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685032" y="5952744"/>
            <a:ext cx="191109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 = 60 s</a:t>
            </a:r>
            <a:endParaRPr lang="en-US" sz="1850" dirty="0"/>
          </a:p>
        </p:txBody>
      </p:sp>
      <p:sp>
        <p:nvSpPr>
          <p:cNvPr id="47" name="Text 44"/>
          <p:cNvSpPr/>
          <p:nvPr/>
        </p:nvSpPr>
        <p:spPr>
          <a:xfrm>
            <a:off x="3685032" y="6281928"/>
            <a:ext cx="191109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instante</a:t>
            </a:r>
            <a:endParaRPr lang="en-US" sz="870" dirty="0"/>
          </a:p>
        </p:txBody>
      </p:sp>
      <p:sp>
        <p:nvSpPr>
          <p:cNvPr id="48" name="Text 45"/>
          <p:cNvSpPr/>
          <p:nvPr/>
        </p:nvSpPr>
        <p:spPr>
          <a:xfrm>
            <a:off x="3685032" y="6483096"/>
            <a:ext cx="191109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mismo corte temporal para todos</a:t>
            </a:r>
            <a:endParaRPr lang="en-US" sz="770" dirty="0"/>
          </a:p>
        </p:txBody>
      </p:sp>
      <p:sp>
        <p:nvSpPr>
          <p:cNvPr id="49" name="Shape 46"/>
          <p:cNvSpPr/>
          <p:nvPr/>
        </p:nvSpPr>
        <p:spPr>
          <a:xfrm>
            <a:off x="6199632" y="5833872"/>
            <a:ext cx="2240280" cy="960120"/>
          </a:xfrm>
          <a:prstGeom prst="roundRect">
            <a:avLst>
              <a:gd name="adj" fmla="val 6667"/>
            </a:avLst>
          </a:prstGeom>
          <a:solidFill>
            <a:srgbClr val="E6F4F6"/>
          </a:solidFill>
          <a:ln w="5334">
            <a:solidFill>
              <a:srgbClr val="1F7A8C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6199632" y="5833872"/>
            <a:ext cx="50292" cy="96012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199632" y="5833872"/>
            <a:ext cx="73152" cy="960120"/>
          </a:xfrm>
          <a:prstGeom prst="rect">
            <a:avLst/>
          </a:prstGeom>
          <a:solidFill>
            <a:srgbClr val="1F7A8C"/>
          </a:solidFill>
          <a:ln w="8890">
            <a:solidFill>
              <a:srgbClr val="1F7A8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364224" y="5952744"/>
            <a:ext cx="191109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F7A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CSV</a:t>
            </a:r>
            <a:endParaRPr lang="en-US" sz="1850" dirty="0"/>
          </a:p>
        </p:txBody>
      </p:sp>
      <p:sp>
        <p:nvSpPr>
          <p:cNvPr id="53" name="Text 50"/>
          <p:cNvSpPr/>
          <p:nvPr/>
        </p:nvSpPr>
        <p:spPr>
          <a:xfrm>
            <a:off x="6364224" y="6281928"/>
            <a:ext cx="191109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</a:t>
            </a:r>
            <a:endParaRPr lang="en-US" sz="870" dirty="0"/>
          </a:p>
        </p:txBody>
      </p:sp>
      <p:sp>
        <p:nvSpPr>
          <p:cNvPr id="54" name="Text 51"/>
          <p:cNvSpPr/>
          <p:nvPr/>
        </p:nvSpPr>
        <p:spPr>
          <a:xfrm>
            <a:off x="6364224" y="6483096"/>
            <a:ext cx="191109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phase2_slam_unknown_export</a:t>
            </a:r>
            <a:endParaRPr lang="en-US" sz="77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conclusiones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técnico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FBE8DF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Text 23"/>
          <p:cNvSpPr/>
          <p:nvPr/>
        </p:nvSpPr>
        <p:spPr>
          <a:xfrm>
            <a:off x="566928" y="1097280"/>
            <a:ext cx="106070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misión queda cerrada y la comparación ordena métodos según la métrica priorizada.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38/39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841248" y="1554480"/>
            <a:ext cx="5047488" cy="1536192"/>
          </a:xfrm>
          <a:prstGeom prst="roundRect">
            <a:avLst>
              <a:gd name="adj" fmla="val 4167"/>
            </a:avLst>
          </a:prstGeom>
          <a:solidFill>
            <a:srgbClr val="EAF7F4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1248" y="1554480"/>
            <a:ext cx="50292" cy="15361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2416" y="1792224"/>
            <a:ext cx="45262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elegido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42416" y="2194560"/>
            <a:ext cx="452628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 queda primero en el puntaje de la celda: menor valor ponderado, tiempo corto y consumo estable. NMPC si se priorizan ruta y batería.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6272784" y="1554480"/>
            <a:ext cx="5047488" cy="1536192"/>
          </a:xfrm>
          <a:prstGeom prst="roundRect">
            <a:avLst>
              <a:gd name="adj" fmla="val 4167"/>
            </a:avLst>
          </a:prstGeom>
          <a:solidFill>
            <a:srgbClr val="F0EEFB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72784" y="1554480"/>
            <a:ext cx="50292" cy="1536192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73952" y="1792224"/>
            <a:ext cx="45262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 elegido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73952" y="2194560"/>
            <a:ext cx="452628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Kalman-landmark da el menor RMSE en espacio compacto. Grids sostienen navegación; submapas registran estructura con más coste.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841248" y="3675888"/>
            <a:ext cx="5047488" cy="1536192"/>
          </a:xfrm>
          <a:prstGeom prst="roundRect">
            <a:avLst>
              <a:gd name="adj" fmla="val 4167"/>
            </a:avLst>
          </a:prstGeom>
          <a:solidFill>
            <a:srgbClr val="FBE8DF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41248" y="3675888"/>
            <a:ext cx="50292" cy="1536192"/>
          </a:xfrm>
          <a:prstGeom prst="rect">
            <a:avLst/>
          </a:prstGeom>
          <a:solidFill>
            <a:srgbClr val="C97A5C"/>
          </a:solidFill>
          <a:ln w="12700">
            <a:solidFill>
              <a:srgbClr val="C97A5C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42416" y="3913632"/>
            <a:ext cx="45262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Limitaciones explícitas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42416" y="4315968"/>
            <a:ext cx="452628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 simplificado en Lua, rayos de proximidad en lugar de LiDAR real y una ejecución por método en las tablas principales.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6272784" y="3675888"/>
            <a:ext cx="5047488" cy="1536192"/>
          </a:xfrm>
          <a:prstGeom prst="roundRect">
            <a:avLst>
              <a:gd name="adj" fmla="val 4167"/>
            </a:avLst>
          </a:prstGeom>
          <a:solidFill>
            <a:srgbClr val="E6F4F6"/>
          </a:solidFill>
          <a:ln w="5334">
            <a:solidFill>
              <a:srgbClr val="E1E8F0"/>
            </a:solidFill>
            <a:prstDash val="solid"/>
          </a:ln>
          <a:effectLst>
            <a:outerShdw sx="100000" sy="100000" kx="0" ky="0" algn="bl" rotWithShape="0" blurRad="16510" dist="8890" dir="2700000">
              <a:srgbClr val="9BA8B4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72784" y="3675888"/>
            <a:ext cx="50292" cy="1536192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73952" y="3913632"/>
            <a:ext cx="45262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futuro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473952" y="4315968"/>
            <a:ext cx="452628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LiDAR 2D real, optimización de grafo completa para submapas, repetición estadística y más obstáculos dinámicos.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841248" y="5687568"/>
            <a:ext cx="10698480" cy="512064"/>
          </a:xfrm>
          <a:prstGeom prst="roundRect">
            <a:avLst>
              <a:gd name="adj" fmla="val 21429"/>
            </a:avLst>
          </a:prstGeom>
          <a:solidFill>
            <a:srgbClr val="071826"/>
          </a:solidFill>
          <a:ln w="9525">
            <a:solidFill>
              <a:srgbClr val="0718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42416" y="5852160"/>
            <a:ext cx="1029614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1042416" y="6126480"/>
            <a:ext cx="10296144" cy="-18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cierre enlaza especificación, implementación Lua, métricas exportadas y límites técnicos.</a:t>
            </a:r>
            <a:endParaRPr lang="en-US" sz="112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3"/>
          </a:solidFill>
          <a:ln w="8890">
            <a:solidFill>
              <a:srgbClr val="FA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3CBB9"/>
          </a:solidFill>
          <a:ln w="8890">
            <a:solidFill>
              <a:srgbClr val="F3CB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841248"/>
          </a:xfrm>
          <a:prstGeom prst="rect">
            <a:avLst/>
          </a:prstGeom>
          <a:solidFill>
            <a:srgbClr val="071826">
              <a:alpha val="10000"/>
            </a:srgbClr>
          </a:solidFill>
          <a:ln w="8890">
            <a:solidFill>
              <a:srgbClr val="071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804672"/>
            <a:ext cx="10607040" cy="9144"/>
          </a:xfrm>
          <a:prstGeom prst="line">
            <a:avLst/>
          </a:prstGeom>
          <a:noFill/>
          <a:ln w="12065">
            <a:solidFill>
              <a:srgbClr val="0F1A2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24364A">
              <a:alpha val="12000"/>
            </a:srgbClr>
          </a:solidFill>
          <a:ln w="9525">
            <a:solidFill>
              <a:srgbClr val="2436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05840"/>
            <a:ext cx="11484864" cy="5376672"/>
          </a:xfrm>
          <a:prstGeom prst="roundRect">
            <a:avLst>
              <a:gd name="adj" fmla="val 2041"/>
            </a:avLst>
          </a:prstGeom>
          <a:solidFill>
            <a:srgbClr val="FCFDFE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05840"/>
            <a:ext cx="73152" cy="5376672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201168" cy="5376672"/>
          </a:xfrm>
          <a:prstGeom prst="rect">
            <a:avLst/>
          </a:prstGeom>
          <a:solidFill>
            <a:srgbClr val="F7E1D6"/>
          </a:solidFill>
          <a:ln w="8890">
            <a:solidFill>
              <a:srgbClr val="F7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8016"/>
            <a:ext cx="39319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"/>
            <a:ext cx="90525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Referencias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26880" y="301752"/>
            <a:ext cx="1993392" cy="228600"/>
          </a:xfrm>
          <a:prstGeom prst="roundRect">
            <a:avLst>
              <a:gd name="adj" fmla="val 48000"/>
            </a:avLst>
          </a:prstGeom>
          <a:solidFill>
            <a:srgbClr val="FCFDFE">
              <a:alpha val="38000"/>
            </a:srgbClr>
          </a:solidFill>
          <a:ln w="9525">
            <a:solidFill>
              <a:srgbClr val="FCFD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356616"/>
            <a:ext cx="1883664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· SLAM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596188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846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</a:t>
            </a:r>
            <a:endParaRPr lang="en-US" sz="460" dirty="0"/>
          </a:p>
        </p:txBody>
      </p:sp>
      <p:sp>
        <p:nvSpPr>
          <p:cNvPr id="17" name="Shape 15"/>
          <p:cNvSpPr/>
          <p:nvPr/>
        </p:nvSpPr>
        <p:spPr>
          <a:xfrm>
            <a:off x="692200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460" dirty="0"/>
          </a:p>
        </p:txBody>
      </p:sp>
      <p:sp>
        <p:nvSpPr>
          <p:cNvPr id="19" name="Shape 17"/>
          <p:cNvSpPr/>
          <p:nvPr/>
        </p:nvSpPr>
        <p:spPr>
          <a:xfrm>
            <a:off x="788212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SLAM</a:t>
            </a:r>
            <a:endParaRPr lang="en-US" sz="460" dirty="0"/>
          </a:p>
        </p:txBody>
      </p:sp>
      <p:sp>
        <p:nvSpPr>
          <p:cNvPr id="21" name="Shape 19"/>
          <p:cNvSpPr/>
          <p:nvPr/>
        </p:nvSpPr>
        <p:spPr>
          <a:xfrm>
            <a:off x="884224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EEF2F5"/>
          </a:solidFill>
          <a:ln w="9525">
            <a:solidFill>
              <a:srgbClr val="C9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7882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460" dirty="0"/>
          </a:p>
        </p:txBody>
      </p:sp>
      <p:sp>
        <p:nvSpPr>
          <p:cNvPr id="23" name="Shape 21"/>
          <p:cNvSpPr/>
          <p:nvPr/>
        </p:nvSpPr>
        <p:spPr>
          <a:xfrm>
            <a:off x="9802368" y="850392"/>
            <a:ext cx="841248" cy="164592"/>
          </a:xfrm>
          <a:prstGeom prst="roundRect">
            <a:avLst>
              <a:gd name="adj" fmla="val 66667"/>
            </a:avLst>
          </a:prstGeom>
          <a:solidFill>
            <a:srgbClr val="FBE8DF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882396"/>
            <a:ext cx="768096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C9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460" dirty="0"/>
          </a:p>
        </p:txBody>
      </p:sp>
      <p:sp>
        <p:nvSpPr>
          <p:cNvPr id="25" name="Shape 23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CFDFE">
              <a:alpha val="96000"/>
            </a:srgbClr>
          </a:solidFill>
          <a:ln w="8890">
            <a:solidFill>
              <a:srgbClr val="FCFD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6446520"/>
            <a:ext cx="10625328" cy="9144"/>
          </a:xfrm>
          <a:prstGeom prst="line">
            <a:avLst/>
          </a:prstGeom>
          <a:noFill/>
          <a:ln w="6985">
            <a:solidFill>
              <a:srgbClr val="C9D5E0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530352" y="6592824"/>
            <a:ext cx="256032" cy="45720"/>
          </a:xfrm>
          <a:prstGeom prst="rect">
            <a:avLst/>
          </a:prstGeom>
          <a:solidFill>
            <a:srgbClr val="C97A5C"/>
          </a:solidFill>
          <a:ln w="8890">
            <a:solidFill>
              <a:srgbClr val="C97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2 - Sistemas Robóticos Móviles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754112" y="6528816"/>
            <a:ext cx="299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5E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P3DX · CoppeliaSim y Lua · seguimiento + SLAM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1201400" y="6455664"/>
            <a:ext cx="457200" cy="201168"/>
          </a:xfrm>
          <a:prstGeom prst="roundRect">
            <a:avLst>
              <a:gd name="adj" fmla="val 54545"/>
            </a:avLst>
          </a:prstGeom>
          <a:solidFill>
            <a:srgbClr val="F3CBB9"/>
          </a:solidFill>
          <a:ln w="9525">
            <a:solidFill>
              <a:srgbClr val="F3CBB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247120" y="6483096"/>
            <a:ext cx="365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39/39</a:t>
            </a:r>
            <a:endParaRPr lang="en-US" sz="690" dirty="0"/>
          </a:p>
        </p:txBody>
      </p:sp>
      <p:sp>
        <p:nvSpPr>
          <p:cNvPr id="32" name="Shape 30"/>
          <p:cNvSpPr/>
          <p:nvPr/>
        </p:nvSpPr>
        <p:spPr>
          <a:xfrm>
            <a:off x="868680" y="1335024"/>
            <a:ext cx="73152" cy="73152"/>
          </a:xfrm>
          <a:prstGeom prst="ellipse">
            <a:avLst/>
          </a:prstGeom>
          <a:solidFill>
            <a:srgbClr val="1F7A8C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0704" y="1261872"/>
            <a:ext cx="10287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Siegwart, R.; Nourbakhsh, I.; Scaramuzza, D. (2011). Introduction to Autonomous Mobile Robots. MIT Press.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868680" y="1764792"/>
            <a:ext cx="73152" cy="73152"/>
          </a:xfrm>
          <a:prstGeom prst="ellipse">
            <a:avLst/>
          </a:prstGeom>
          <a:solidFill>
            <a:srgbClr val="1F7A8C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0704" y="1691640"/>
            <a:ext cx="10287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Tzafestas, S. G. (2014). Introduction to Mobile Robot Control. Elsevier.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868680" y="2194560"/>
            <a:ext cx="73152" cy="73152"/>
          </a:xfrm>
          <a:prstGeom prst="ellipse">
            <a:avLst/>
          </a:prstGeom>
          <a:solidFill>
            <a:srgbClr val="1F7A8C"/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0704" y="2121408"/>
            <a:ext cx="10287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LaValle, S. M. (2006). Planning Algorithms. Cambridge University Press.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868680" y="2624328"/>
            <a:ext cx="73152" cy="73152"/>
          </a:xfrm>
          <a:prstGeom prst="ellipse">
            <a:avLst/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0704" y="2551176"/>
            <a:ext cx="10287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Kalman, R. E. (1960). A New Approach to Linear Filtering and Prediction Problems. Journal of Basic Engineering.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868680" y="3054096"/>
            <a:ext cx="73152" cy="73152"/>
          </a:xfrm>
          <a:prstGeom prst="ellipse">
            <a:avLst/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0704" y="2980944"/>
            <a:ext cx="10287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Thrun, S.; Burgard, W.; Fox, D. (2005). Probabilistic Robotics. MIT Press.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868680" y="3483864"/>
            <a:ext cx="73152" cy="73152"/>
          </a:xfrm>
          <a:prstGeom prst="ellipse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60704" y="3410712"/>
            <a:ext cx="10287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Grisetti, G.; Stachniss, C.; Burgard, W. (2007). Improved Techniques for Grid Mapping With Rao-Blackwellized Particle Filters.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868680" y="3913632"/>
            <a:ext cx="73152" cy="73152"/>
          </a:xfrm>
          <a:prstGeom prst="ellipse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0704" y="3840480"/>
            <a:ext cx="10287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Kohlbrecher, S.; von Stryk, O.; Meyer, J.; Klingauf, U. (2011). Hector SLAM. IEEE SSRR.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868680" y="4343400"/>
            <a:ext cx="73152" cy="73152"/>
          </a:xfrm>
          <a:prstGeom prst="ellipse">
            <a:avLst/>
          </a:prstGeom>
          <a:solidFill>
            <a:srgbClr val="6D5BD0"/>
          </a:solidFill>
          <a:ln w="9525">
            <a:solidFill>
              <a:srgbClr val="6D5B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0704" y="4270248"/>
            <a:ext cx="10287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Hess, W.; Kohler, D.; Rapp, H.; Andor, D. (2016). Real-Time Loop Closure in 2D LIDAR SLAM. IEEE ICRA.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868680" y="4773168"/>
            <a:ext cx="73152" cy="73152"/>
          </a:xfrm>
          <a:prstGeom prst="ellipse">
            <a:avLst/>
          </a:prstGeom>
          <a:solidFill>
            <a:srgbClr val="C97A5C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60704" y="4700016"/>
            <a:ext cx="10287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Khatib, O. (1986). Real-Time Obstacle Avoidance for Manipulators and Mobile Robots. IJRR.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868680" y="5202936"/>
            <a:ext cx="73152" cy="73152"/>
          </a:xfrm>
          <a:prstGeom prst="ellipse">
            <a:avLst/>
          </a:prstGeom>
          <a:solidFill>
            <a:srgbClr val="C97A5C"/>
          </a:solidFill>
          <a:ln w="9525">
            <a:solidFill>
              <a:srgbClr val="C97A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60704" y="5129784"/>
            <a:ext cx="10287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CoppeliaSim User Manual; Pioneer 3 Operations Manual; enunciado VIU de la Actividad 2.</a:t>
            </a:r>
            <a:endParaRPr lang="en-US" sz="760" dirty="0"/>
          </a:p>
        </p:txBody>
      </p:sp>
      <p:sp>
        <p:nvSpPr>
          <p:cNvPr id="52" name="Shape 50"/>
          <p:cNvSpPr/>
          <p:nvPr/>
        </p:nvSpPr>
        <p:spPr>
          <a:xfrm>
            <a:off x="868680" y="5632704"/>
            <a:ext cx="73152" cy="73152"/>
          </a:xfrm>
          <a:prstGeom prst="ellipse">
            <a:avLst/>
          </a:prstGeom>
          <a:solidFill>
            <a:srgbClr val="0F1A2A"/>
          </a:solidFill>
          <a:ln w="9525">
            <a:solidFill>
              <a:srgbClr val="0F1A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60704" y="5559552"/>
            <a:ext cx="10287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0F1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Repositorios consultados/adaptados: OpenSLAM GMapping, hector_slam, Cartographer y PythonRobotics; Gemini usado para consulta e ideación visual.</a:t>
            </a:r>
            <a:endParaRPr lang="en-US" sz="7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Universidad Internacional de Valencia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2 - Pioneer P3DX con control y SLAM</dc:title>
  <dc:subject>Actividad 2 - Pioneer seguimiento y SLAM en CoppeliaSim</dc:subject>
  <dc:creator>Jorge Luis Mayorga Taborda</dc:creator>
  <cp:lastModifiedBy>Jorge Luis Mayorga Taborda</cp:lastModifiedBy>
  <cp:revision>1</cp:revision>
  <dcterms:created xsi:type="dcterms:W3CDTF">2026-05-27T15:21:43Z</dcterms:created>
  <dcterms:modified xsi:type="dcterms:W3CDTF">2026-05-27T15:21:43Z</dcterms:modified>
</cp:coreProperties>
</file>